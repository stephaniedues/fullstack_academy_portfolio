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comments/modernComment_12E_E3960DA0.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40_D17AFEC1.xml" ContentType="application/vnd.ms-powerpoint.comments+xml"/>
  <Override PartName="/ppt/notesSlides/notesSlide17.xml" ContentType="application/vnd.openxmlformats-officedocument.presentationml.notesSlide+xml"/>
  <Override PartName="/ppt/comments/modernComment_13F_7E5B1CC4.xml" ContentType="application/vnd.ms-powerpoint.comment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8.xml" ContentType="application/vnd.openxmlformats-officedocument.presentationml.notesSlide+xml"/>
  <Override PartName="/ppt/comments/modernComment_13B_BFDE7E34.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7" r:id="rId1"/>
  </p:sldMasterIdLst>
  <p:notesMasterIdLst>
    <p:notesMasterId r:id="rId29"/>
  </p:notesMasterIdLst>
  <p:sldIdLst>
    <p:sldId id="256" r:id="rId2"/>
    <p:sldId id="291" r:id="rId3"/>
    <p:sldId id="316" r:id="rId4"/>
    <p:sldId id="285" r:id="rId5"/>
    <p:sldId id="294" r:id="rId6"/>
    <p:sldId id="318" r:id="rId7"/>
    <p:sldId id="287" r:id="rId8"/>
    <p:sldId id="257" r:id="rId9"/>
    <p:sldId id="283" r:id="rId10"/>
    <p:sldId id="302" r:id="rId11"/>
    <p:sldId id="303" r:id="rId12"/>
    <p:sldId id="305" r:id="rId13"/>
    <p:sldId id="304" r:id="rId14"/>
    <p:sldId id="307" r:id="rId15"/>
    <p:sldId id="260" r:id="rId16"/>
    <p:sldId id="311" r:id="rId17"/>
    <p:sldId id="320" r:id="rId18"/>
    <p:sldId id="319" r:id="rId19"/>
    <p:sldId id="315" r:id="rId20"/>
    <p:sldId id="262" r:id="rId21"/>
    <p:sldId id="323" r:id="rId22"/>
    <p:sldId id="324" r:id="rId23"/>
    <p:sldId id="326" r:id="rId24"/>
    <p:sldId id="325" r:id="rId25"/>
    <p:sldId id="268" r:id="rId26"/>
    <p:sldId id="312" r:id="rId27"/>
    <p:sldId id="288"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899EA4-066E-1790-9F93-F8769250A48C}" name="Stephanie Dues" initials="SD" userId="83a06a7353d8a7f7"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03F972-86DD-4312-ABC0-26378E2C7E43}" v="267" dt="2026-05-29T00:19:02.6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23" autoAdjust="0"/>
    <p:restoredTop sz="93447" autoAdjust="0"/>
  </p:normalViewPr>
  <p:slideViewPr>
    <p:cSldViewPr snapToGrid="0">
      <p:cViewPr>
        <p:scale>
          <a:sx n="50" d="100"/>
          <a:sy n="50" d="100"/>
        </p:scale>
        <p:origin x="2252" y="1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83a06a7353d8a7f7/Data%20Analytics%20Bootcamp/Capstone/Visualization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83a06a7353d8a7f7/Data%20Analytics%20Bootcamp/Capstone/Visualization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teph\OneDrive\Data%20Analytics%20Bootcamp\Capstone\DBeaver%20Documents\Officer_Scorecard.csv"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Sheet1!$A$1</c:f>
              <c:strCache>
                <c:ptCount val="1"/>
                <c:pt idx="0">
                  <c:v>Total Deposit Balances</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w="0">
              <a:solidFill>
                <a:schemeClr val="accent1"/>
              </a:solidFill>
            </a:ln>
            <a:effectLst/>
          </c:spPr>
          <c:invertIfNegative val="0"/>
          <c:dLbls>
            <c:dLbl>
              <c:idx val="0"/>
              <c:tx>
                <c:rich>
                  <a:bodyPr rot="0" spcFirstLastPara="1" vertOverflow="ellipsis" vert="horz" wrap="square" lIns="38100" tIns="19050" rIns="38100" bIns="19050" anchor="ctr" anchorCtr="0">
                    <a:spAutoFit/>
                  </a:bodyPr>
                  <a:lstStyle/>
                  <a:p>
                    <a:pPr algn="r">
                      <a:defRPr sz="1000" b="1" i="0" u="none" strike="noStrike" kern="1200" baseline="0">
                        <a:solidFill>
                          <a:schemeClr val="bg1"/>
                        </a:solidFill>
                        <a:latin typeface="+mn-lt"/>
                        <a:ea typeface="+mn-ea"/>
                        <a:cs typeface="+mn-cs"/>
                      </a:defRPr>
                    </a:pPr>
                    <a:fld id="{43ABCB8A-B2D3-433C-AB66-3E3FD313A0FD}" type="SERIESNAME">
                      <a:rPr lang="en-US" sz="1000"/>
                      <a:pPr algn="r">
                        <a:defRPr sz="1000" b="1">
                          <a:solidFill>
                            <a:schemeClr val="bg1"/>
                          </a:solidFill>
                        </a:defRPr>
                      </a:pPr>
                      <a:t>[SERIES NAME]</a:t>
                    </a:fld>
                    <a:r>
                      <a:rPr lang="en-US" sz="1000" baseline="0"/>
                      <a:t> </a:t>
                    </a:r>
                    <a:fld id="{D4D77345-5105-4D81-98C3-6F8E91B5230B}" type="VALUE">
                      <a:rPr lang="en-US" sz="1000" baseline="0"/>
                      <a:pPr algn="r">
                        <a:defRPr sz="1000" b="1">
                          <a:solidFill>
                            <a:schemeClr val="bg1"/>
                          </a:solidFill>
                        </a:defRPr>
                      </a:pPr>
                      <a:t>[VALUE]</a:t>
                    </a:fld>
                    <a:endParaRPr lang="en-US" sz="1000" baseline="0"/>
                  </a:p>
                </c:rich>
              </c:tx>
              <c:spPr>
                <a:noFill/>
                <a:ln>
                  <a:noFill/>
                </a:ln>
                <a:effectLst/>
              </c:spPr>
              <c:txPr>
                <a:bodyPr rot="0" spcFirstLastPara="1" vertOverflow="ellipsis" vert="horz" wrap="square" lIns="38100" tIns="19050" rIns="38100" bIns="19050" anchor="ctr" anchorCtr="0">
                  <a:spAutoFit/>
                </a:bodyPr>
                <a:lstStyle/>
                <a:p>
                  <a:pPr algn="r">
                    <a:defRPr sz="1000" b="1" i="0" u="none" strike="noStrike" kern="1200" baseline="0">
                      <a:solidFill>
                        <a:schemeClr val="bg1"/>
                      </a:solidFill>
                      <a:latin typeface="+mn-lt"/>
                      <a:ea typeface="+mn-ea"/>
                      <a:cs typeface="+mn-cs"/>
                    </a:defRPr>
                  </a:pPr>
                  <a:endParaRPr lang="en-US"/>
                </a:p>
              </c:txPr>
              <c:dLblPos val="inEnd"/>
              <c:showLegendKey val="0"/>
              <c:showVal val="1"/>
              <c:showCatName val="0"/>
              <c:showSerName val="1"/>
              <c:showPercent val="0"/>
              <c:showBubbleSize val="0"/>
              <c:extLst>
                <c:ext xmlns:c15="http://schemas.microsoft.com/office/drawing/2012/chart" uri="{CE6537A1-D6FC-4f65-9D91-7224C49458BB}">
                  <c15:layout>
                    <c:manualLayout>
                      <c:w val="0.25864057203396196"/>
                      <c:h val="0.16182682075358781"/>
                    </c:manualLayout>
                  </c15:layout>
                  <c15:dlblFieldTable/>
                  <c15:showDataLabelsRange val="0"/>
                </c:ext>
                <c:ext xmlns:c16="http://schemas.microsoft.com/office/drawing/2014/chart" uri="{C3380CC4-5D6E-409C-BE32-E72D297353CC}">
                  <c16:uniqueId val="{00000000-FD47-4540-9DE2-0966F382F7B9}"/>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inEnd"/>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val>
            <c:numRef>
              <c:f>Sheet1!$B$1</c:f>
              <c:numCache>
                <c:formatCode>_("$"* #,##0.00_);_("$"* \(#,##0.00\);_("$"* "-"??_);_(@_)</c:formatCode>
                <c:ptCount val="1"/>
                <c:pt idx="0">
                  <c:v>485687950.56</c:v>
                </c:pt>
              </c:numCache>
            </c:numRef>
          </c:val>
          <c:extLst>
            <c:ext xmlns:c16="http://schemas.microsoft.com/office/drawing/2014/chart" uri="{C3380CC4-5D6E-409C-BE32-E72D297353CC}">
              <c16:uniqueId val="{00000001-FD47-4540-9DE2-0966F382F7B9}"/>
            </c:ext>
          </c:extLst>
        </c:ser>
        <c:ser>
          <c:idx val="1"/>
          <c:order val="1"/>
          <c:tx>
            <c:strRef>
              <c:f>Sheet1!$A$2</c:f>
              <c:strCache>
                <c:ptCount val="1"/>
                <c:pt idx="0">
                  <c:v>Total Loan Exposure</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10800000" scaled="1"/>
              <a:tileRect/>
            </a:gradFill>
            <a:ln w="0">
              <a:solidFill>
                <a:schemeClr val="accent1"/>
              </a:solidFill>
            </a:ln>
            <a:effectLst/>
          </c:spPr>
          <c:invertIfNegative val="0"/>
          <c:dLbls>
            <c:dLbl>
              <c:idx val="0"/>
              <c:tx>
                <c:rich>
                  <a:bodyPr/>
                  <a:lstStyle/>
                  <a:p>
                    <a:fld id="{E67D9680-D2C5-4F40-9E25-BF83B1BD781A}" type="SERIESNAME">
                      <a:rPr lang="en-US"/>
                      <a:pPr/>
                      <a:t>[SERIES NAME]</a:t>
                    </a:fld>
                    <a:r>
                      <a:rPr lang="en-US" baseline="0"/>
                      <a:t> </a:t>
                    </a:r>
                    <a:fld id="{C9CCCCB1-1944-4AB1-AAEE-F2D6BE6A2AB3}" type="VALUE">
                      <a:rPr lang="en-US" baseline="0"/>
                      <a:pPr/>
                      <a:t>[VALUE]</a:t>
                    </a:fld>
                    <a:endParaRPr lang="en-US" baseline="0"/>
                  </a:p>
                </c:rich>
              </c:tx>
              <c:dLblPos val="inEnd"/>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FD47-4540-9DE2-0966F382F7B9}"/>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inEnd"/>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val>
            <c:numRef>
              <c:f>Sheet1!$B$2</c:f>
              <c:numCache>
                <c:formatCode>_("$"* #,##0.00_);_("$"* \(#,##0.00\);_("$"* "-"??_);_(@_)</c:formatCode>
                <c:ptCount val="1"/>
                <c:pt idx="0">
                  <c:v>676377394.11000001</c:v>
                </c:pt>
              </c:numCache>
            </c:numRef>
          </c:val>
          <c:extLst>
            <c:ext xmlns:c16="http://schemas.microsoft.com/office/drawing/2014/chart" uri="{C3380CC4-5D6E-409C-BE32-E72D297353CC}">
              <c16:uniqueId val="{00000003-FD47-4540-9DE2-0966F382F7B9}"/>
            </c:ext>
          </c:extLst>
        </c:ser>
        <c:dLbls>
          <c:dLblPos val="inEnd"/>
          <c:showLegendKey val="0"/>
          <c:showVal val="1"/>
          <c:showCatName val="0"/>
          <c:showSerName val="0"/>
          <c:showPercent val="0"/>
          <c:showBubbleSize val="0"/>
        </c:dLbls>
        <c:gapWidth val="100"/>
        <c:overlap val="-10"/>
        <c:axId val="2022658464"/>
        <c:axId val="1878360784"/>
      </c:barChart>
      <c:catAx>
        <c:axId val="2022658464"/>
        <c:scaling>
          <c:orientation val="minMax"/>
        </c:scaling>
        <c:delete val="1"/>
        <c:axPos val="l"/>
        <c:majorGridlines>
          <c:spPr>
            <a:ln w="9525" cap="flat" cmpd="sng" algn="ctr">
              <a:gradFill>
                <a:gsLst>
                  <a:gs pos="99000">
                    <a:schemeClr val="tx1">
                      <a:lumMod val="25000"/>
                      <a:lumOff val="75000"/>
                    </a:schemeClr>
                  </a:gs>
                  <a:gs pos="0">
                    <a:schemeClr val="tx1">
                      <a:lumMod val="15000"/>
                      <a:lumOff val="85000"/>
                    </a:schemeClr>
                  </a:gs>
                </a:gsLst>
                <a:lin ang="5400000" scaled="0"/>
              </a:gradFill>
              <a:round/>
            </a:ln>
            <a:effectLst/>
          </c:spPr>
        </c:majorGridlines>
        <c:numFmt formatCode="General" sourceLinked="1"/>
        <c:majorTickMark val="none"/>
        <c:minorTickMark val="none"/>
        <c:tickLblPos val="nextTo"/>
        <c:crossAx val="1878360784"/>
        <c:crosses val="autoZero"/>
        <c:auto val="1"/>
        <c:lblAlgn val="ctr"/>
        <c:lblOffset val="100"/>
        <c:noMultiLvlLbl val="0"/>
      </c:catAx>
      <c:valAx>
        <c:axId val="1878360784"/>
        <c:scaling>
          <c:orientation val="minMax"/>
        </c:scaling>
        <c:delete val="1"/>
        <c:axPos val="b"/>
        <c:numFmt formatCode="_(&quot;$&quot;* #,##0.00_);_(&quot;$&quot;* \(#,##0.00\);_(&quot;$&quot;* &quot;-&quot;??_);_(@_)" sourceLinked="1"/>
        <c:majorTickMark val="none"/>
        <c:minorTickMark val="none"/>
        <c:tickLblPos val="nextTo"/>
        <c:crossAx val="202265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Sheet2!$E$2</c:f>
              <c:strCache>
                <c:ptCount val="1"/>
                <c:pt idx="0">
                  <c:v>Late Charges Waived</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inEnd"/>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val>
            <c:numRef>
              <c:f>Sheet2!$F$2</c:f>
              <c:numCache>
                <c:formatCode>_("$"* #,##0.00_);_("$"* \(#,##0.00\);_("$"* "-"??_);_(@_)</c:formatCode>
                <c:ptCount val="1"/>
                <c:pt idx="0">
                  <c:v>4458</c:v>
                </c:pt>
              </c:numCache>
            </c:numRef>
          </c:val>
          <c:extLst>
            <c:ext xmlns:c16="http://schemas.microsoft.com/office/drawing/2014/chart" uri="{C3380CC4-5D6E-409C-BE32-E72D297353CC}">
              <c16:uniqueId val="{00000000-7FB8-4443-BF39-49536D071D44}"/>
            </c:ext>
          </c:extLst>
        </c:ser>
        <c:ser>
          <c:idx val="1"/>
          <c:order val="1"/>
          <c:tx>
            <c:strRef>
              <c:f>Sheet2!$E$3</c:f>
              <c:strCache>
                <c:ptCount val="1"/>
                <c:pt idx="0">
                  <c:v>Late Charges Paid</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10800000" scaled="1"/>
              <a:tileRect/>
            </a:gradFill>
            <a:ln>
              <a:noFill/>
            </a:ln>
            <a:effectLst/>
          </c:spPr>
          <c:invertIfNegative val="0"/>
          <c:dLbls>
            <c:dLbl>
              <c:idx val="0"/>
              <c:spPr>
                <a:noFill/>
                <a:ln>
                  <a:noFill/>
                </a:ln>
                <a:effectLst/>
              </c:spPr>
              <c:txPr>
                <a:bodyPr rot="0" spcFirstLastPara="1" vertOverflow="ellipsis" vert="horz" wrap="square" lIns="38100" tIns="19050" rIns="38100" bIns="19050" anchor="ctr" anchorCtr="1">
                  <a:noAutofit/>
                </a:bodyPr>
                <a:lstStyle/>
                <a:p>
                  <a:pPr>
                    <a:defRPr sz="1000" b="0" i="0" u="none" strike="noStrike" kern="1200" baseline="0">
                      <a:solidFill>
                        <a:schemeClr val="bg1"/>
                      </a:solidFill>
                      <a:latin typeface="+mn-lt"/>
                      <a:ea typeface="+mn-ea"/>
                      <a:cs typeface="+mn-cs"/>
                    </a:defRPr>
                  </a:pPr>
                  <a:endParaRPr lang="en-US"/>
                </a:p>
              </c:txPr>
              <c:dLblPos val="inEnd"/>
              <c:showLegendKey val="0"/>
              <c:showVal val="1"/>
              <c:showCatName val="0"/>
              <c:showSerName val="1"/>
              <c:showPercent val="0"/>
              <c:showBubbleSize val="0"/>
              <c:extLst>
                <c:ext xmlns:c15="http://schemas.microsoft.com/office/drawing/2012/chart" uri="{CE6537A1-D6FC-4f65-9D91-7224C49458BB}">
                  <c15:layout>
                    <c:manualLayout>
                      <c:w val="0.31250376902887139"/>
                      <c:h val="0.14818681318681318"/>
                    </c:manualLayout>
                  </c15:layout>
                </c:ext>
                <c:ext xmlns:c16="http://schemas.microsoft.com/office/drawing/2014/chart" uri="{C3380CC4-5D6E-409C-BE32-E72D297353CC}">
                  <c16:uniqueId val="{00000001-7FB8-4443-BF39-49536D071D44}"/>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inEnd"/>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val>
            <c:numRef>
              <c:f>Sheet2!$F$3</c:f>
              <c:numCache>
                <c:formatCode>_("$"* #,##0.00_);_("$"* \(#,##0.00\);_("$"* "-"??_);_(@_)</c:formatCode>
                <c:ptCount val="1"/>
                <c:pt idx="0">
                  <c:v>6932</c:v>
                </c:pt>
              </c:numCache>
            </c:numRef>
          </c:val>
          <c:extLst>
            <c:ext xmlns:c16="http://schemas.microsoft.com/office/drawing/2014/chart" uri="{C3380CC4-5D6E-409C-BE32-E72D297353CC}">
              <c16:uniqueId val="{00000002-7FB8-4443-BF39-49536D071D44}"/>
            </c:ext>
          </c:extLst>
        </c:ser>
        <c:dLbls>
          <c:dLblPos val="inEnd"/>
          <c:showLegendKey val="0"/>
          <c:showVal val="1"/>
          <c:showCatName val="0"/>
          <c:showSerName val="0"/>
          <c:showPercent val="0"/>
          <c:showBubbleSize val="0"/>
        </c:dLbls>
        <c:gapWidth val="100"/>
        <c:overlap val="-10"/>
        <c:axId val="1872187952"/>
        <c:axId val="344162256"/>
      </c:barChart>
      <c:catAx>
        <c:axId val="1872187952"/>
        <c:scaling>
          <c:orientation val="minMax"/>
        </c:scaling>
        <c:delete val="1"/>
        <c:axPos val="l"/>
        <c:numFmt formatCode="General" sourceLinked="1"/>
        <c:majorTickMark val="none"/>
        <c:minorTickMark val="none"/>
        <c:tickLblPos val="nextTo"/>
        <c:crossAx val="344162256"/>
        <c:crosses val="autoZero"/>
        <c:auto val="1"/>
        <c:lblAlgn val="ctr"/>
        <c:lblOffset val="100"/>
        <c:noMultiLvlLbl val="0"/>
      </c:catAx>
      <c:valAx>
        <c:axId val="344162256"/>
        <c:scaling>
          <c:orientation val="minMax"/>
        </c:scaling>
        <c:delete val="1"/>
        <c:axPos val="b"/>
        <c:numFmt formatCode="_(&quot;$&quot;* #,##0.00_);_(&quot;$&quot;* \(#,##0.00\);_(&quot;$&quot;* &quot;-&quot;??_);_(@_)" sourceLinked="1"/>
        <c:majorTickMark val="none"/>
        <c:minorTickMark val="none"/>
        <c:tickLblPos val="nextTo"/>
        <c:crossAx val="18721879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Officer_Scorecard!$F$1</c:f>
              <c:strCache>
                <c:ptCount val="1"/>
                <c:pt idx="0">
                  <c:v>final_score_100</c:v>
                </c:pt>
              </c:strCache>
            </c:strRef>
          </c:tx>
          <c:spPr>
            <a:solidFill>
              <a:schemeClr val="accent1"/>
            </a:solidFill>
            <a:ln>
              <a:solidFill>
                <a:schemeClr val="tx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(Officer_Scorecard!$A$3:$A$4,Officer_Scorecard!$A$8,Officer_Scorecard!$A$10,Officer_Scorecard!$A$14,Officer_Scorecard!$A$20,Officer_Scorecard!$A$31,Officer_Scorecard!$A$35,Officer_Scorecard!$A$40,Officer_Scorecard!$A$43:$A$44)</c:f>
              <c:strCache>
                <c:ptCount val="11"/>
                <c:pt idx="0">
                  <c:v>officer_id_002</c:v>
                </c:pt>
                <c:pt idx="1">
                  <c:v>officer_id_004</c:v>
                </c:pt>
                <c:pt idx="2">
                  <c:v>officer_id_011</c:v>
                </c:pt>
                <c:pt idx="3">
                  <c:v>officer_id_014</c:v>
                </c:pt>
                <c:pt idx="4">
                  <c:v>officer_id_023</c:v>
                </c:pt>
                <c:pt idx="5">
                  <c:v>officer_id_032</c:v>
                </c:pt>
                <c:pt idx="6">
                  <c:v>officer_id_054</c:v>
                </c:pt>
                <c:pt idx="7">
                  <c:v>officer_id_059</c:v>
                </c:pt>
                <c:pt idx="8">
                  <c:v>officer_id_064</c:v>
                </c:pt>
                <c:pt idx="9">
                  <c:v>officer_id_069</c:v>
                </c:pt>
                <c:pt idx="10">
                  <c:v>officer_id_070</c:v>
                </c:pt>
              </c:strCache>
              <c:extLst/>
            </c:strRef>
          </c:cat>
          <c:val>
            <c:numRef>
              <c:f>(Officer_Scorecard!$F$3:$F$4,Officer_Scorecard!$F$8,Officer_Scorecard!$F$10,Officer_Scorecard!$F$14,Officer_Scorecard!$F$20,Officer_Scorecard!$F$31,Officer_Scorecard!$F$35,Officer_Scorecard!$F$40,Officer_Scorecard!$F$43:$F$44)</c:f>
              <c:numCache>
                <c:formatCode>0.00</c:formatCode>
                <c:ptCount val="11"/>
                <c:pt idx="0">
                  <c:v>51.116252681609303</c:v>
                </c:pt>
                <c:pt idx="1">
                  <c:v>63.655124363253599</c:v>
                </c:pt>
                <c:pt idx="2">
                  <c:v>82.193558340067696</c:v>
                </c:pt>
                <c:pt idx="3">
                  <c:v>80.818745136154902</c:v>
                </c:pt>
                <c:pt idx="4">
                  <c:v>45.622086147208798</c:v>
                </c:pt>
                <c:pt idx="5">
                  <c:v>83.504608467785701</c:v>
                </c:pt>
                <c:pt idx="6">
                  <c:v>85.897418779265394</c:v>
                </c:pt>
                <c:pt idx="7">
                  <c:v>79.886928537839296</c:v>
                </c:pt>
                <c:pt idx="8">
                  <c:v>51.677925137624001</c:v>
                </c:pt>
                <c:pt idx="9">
                  <c:v>87.445801891060199</c:v>
                </c:pt>
                <c:pt idx="10">
                  <c:v>84.544805619450997</c:v>
                </c:pt>
              </c:numCache>
              <c:extLst/>
            </c:numRef>
          </c:val>
          <c:extLst>
            <c:ext xmlns:c16="http://schemas.microsoft.com/office/drawing/2014/chart" uri="{C3380CC4-5D6E-409C-BE32-E72D297353CC}">
              <c16:uniqueId val="{00000000-A6CB-4B1D-9FA4-021C44796C05}"/>
            </c:ext>
          </c:extLst>
        </c:ser>
        <c:ser>
          <c:idx val="1"/>
          <c:order val="1"/>
          <c:tx>
            <c:strRef>
              <c:f>Officer_Scorecard!$G$1</c:f>
              <c:strCache>
                <c:ptCount val="1"/>
                <c:pt idx="0">
                  <c:v>Minus -100</c:v>
                </c:pt>
              </c:strCache>
            </c:strRef>
          </c:tx>
          <c:spPr>
            <a:solidFill>
              <a:schemeClr val="bg1"/>
            </a:solidFill>
            <a:ln>
              <a:solidFill>
                <a:schemeClr val="tx1"/>
              </a:solidFill>
            </a:ln>
            <a:effectLst/>
          </c:spPr>
          <c:invertIfNegative val="0"/>
          <c:dLbls>
            <c:delete val="1"/>
          </c:dLbls>
          <c:cat>
            <c:strRef>
              <c:f>(Officer_Scorecard!$A$3:$A$4,Officer_Scorecard!$A$8,Officer_Scorecard!$A$10,Officer_Scorecard!$A$14,Officer_Scorecard!$A$20,Officer_Scorecard!$A$31,Officer_Scorecard!$A$35,Officer_Scorecard!$A$40,Officer_Scorecard!$A$43:$A$44)</c:f>
              <c:strCache>
                <c:ptCount val="11"/>
                <c:pt idx="0">
                  <c:v>officer_id_002</c:v>
                </c:pt>
                <c:pt idx="1">
                  <c:v>officer_id_004</c:v>
                </c:pt>
                <c:pt idx="2">
                  <c:v>officer_id_011</c:v>
                </c:pt>
                <c:pt idx="3">
                  <c:v>officer_id_014</c:v>
                </c:pt>
                <c:pt idx="4">
                  <c:v>officer_id_023</c:v>
                </c:pt>
                <c:pt idx="5">
                  <c:v>officer_id_032</c:v>
                </c:pt>
                <c:pt idx="6">
                  <c:v>officer_id_054</c:v>
                </c:pt>
                <c:pt idx="7">
                  <c:v>officer_id_059</c:v>
                </c:pt>
                <c:pt idx="8">
                  <c:v>officer_id_064</c:v>
                </c:pt>
                <c:pt idx="9">
                  <c:v>officer_id_069</c:v>
                </c:pt>
                <c:pt idx="10">
                  <c:v>officer_id_070</c:v>
                </c:pt>
              </c:strCache>
              <c:extLst/>
            </c:strRef>
          </c:cat>
          <c:val>
            <c:numRef>
              <c:f>(Officer_Scorecard!$G$3:$G$4,Officer_Scorecard!$G$8,Officer_Scorecard!$G$10,Officer_Scorecard!$G$14,Officer_Scorecard!$G$20,Officer_Scorecard!$G$31,Officer_Scorecard!$G$35,Officer_Scorecard!$G$40,Officer_Scorecard!$G$43:$G$44)</c:f>
              <c:numCache>
                <c:formatCode>0.00</c:formatCode>
                <c:ptCount val="11"/>
                <c:pt idx="0">
                  <c:v>48.883747318390697</c:v>
                </c:pt>
                <c:pt idx="1">
                  <c:v>36.344875636746401</c:v>
                </c:pt>
                <c:pt idx="2">
                  <c:v>17.806441659932304</c:v>
                </c:pt>
                <c:pt idx="3">
                  <c:v>19.181254863845098</c:v>
                </c:pt>
                <c:pt idx="4">
                  <c:v>54.377913852791202</c:v>
                </c:pt>
                <c:pt idx="5">
                  <c:v>16.495391532214299</c:v>
                </c:pt>
                <c:pt idx="6">
                  <c:v>14.102581220734606</c:v>
                </c:pt>
                <c:pt idx="7">
                  <c:v>20.113071462160704</c:v>
                </c:pt>
                <c:pt idx="8">
                  <c:v>48.322074862375999</c:v>
                </c:pt>
                <c:pt idx="9">
                  <c:v>12.554198108939801</c:v>
                </c:pt>
                <c:pt idx="10">
                  <c:v>15.455194380549003</c:v>
                </c:pt>
              </c:numCache>
              <c:extLst/>
            </c:numRef>
          </c:val>
          <c:extLst>
            <c:ext xmlns:c16="http://schemas.microsoft.com/office/drawing/2014/chart" uri="{C3380CC4-5D6E-409C-BE32-E72D297353CC}">
              <c16:uniqueId val="{00000001-A6CB-4B1D-9FA4-021C44796C05}"/>
            </c:ext>
          </c:extLst>
        </c:ser>
        <c:dLbls>
          <c:dLblPos val="inEnd"/>
          <c:showLegendKey val="0"/>
          <c:showVal val="1"/>
          <c:showCatName val="0"/>
          <c:showSerName val="0"/>
          <c:showPercent val="0"/>
          <c:showBubbleSize val="0"/>
        </c:dLbls>
        <c:gapWidth val="150"/>
        <c:overlap val="100"/>
        <c:axId val="2014246192"/>
        <c:axId val="344114736"/>
      </c:barChart>
      <c:catAx>
        <c:axId val="201424619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4114736"/>
        <c:crosses val="autoZero"/>
        <c:auto val="1"/>
        <c:lblAlgn val="ctr"/>
        <c:lblOffset val="100"/>
        <c:noMultiLvlLbl val="0"/>
      </c:catAx>
      <c:valAx>
        <c:axId val="344114736"/>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42461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2E_E3960DA0.xml><?xml version="1.0" encoding="utf-8"?>
<p188:cmLst xmlns:a="http://schemas.openxmlformats.org/drawingml/2006/main" xmlns:r="http://schemas.openxmlformats.org/officeDocument/2006/relationships" xmlns:p188="http://schemas.microsoft.com/office/powerpoint/2018/8/main">
  <p188:cm id="{B12197B6-0EBF-4A78-8777-5DED0E8ADD61}" authorId="{D2899EA4-066E-1790-9F93-F8769250A48C}" created="2026-05-25T16:47:14.400">
    <pc:sldMkLst xmlns:pc="http://schemas.microsoft.com/office/powerpoint/2013/main/command">
      <pc:docMk/>
      <pc:sldMk cId="3818261920" sldId="302"/>
    </pc:sldMkLst>
    <p188:txBody>
      <a:bodyPr/>
      <a:lstStyle/>
      <a:p>
        <a:r>
          <a:rPr lang="en-US"/>
          <a:t>Look at exposure on a Collateral and NAICS level</a:t>
        </a:r>
      </a:p>
    </p188:txBody>
  </p188:cm>
  <p188:cm id="{E5401D21-5653-48B0-A8FD-957CC24D0CBE}" authorId="{D2899EA4-066E-1790-9F93-F8769250A48C}" created="2026-05-25T16:47:52.912">
    <pc:sldMkLst xmlns:pc="http://schemas.microsoft.com/office/powerpoint/2013/main/command">
      <pc:docMk/>
      <pc:sldMk cId="3818261920" sldId="302"/>
    </pc:sldMkLst>
    <p188:txBody>
      <a:bodyPr/>
      <a:lstStyle/>
      <a:p>
        <a:r>
          <a:rPr lang="en-US"/>
          <a:t>Look at Risk at Exposure on a Fees Paid &amp; Waived basis. Doc Prep. Loan Origination. Late Fees. Prepayment Penalty\</a:t>
        </a:r>
      </a:p>
    </p188:txBody>
  </p188:cm>
</p188:cmLst>
</file>

<file path=ppt/comments/modernComment_13B_BFDE7E34.xml><?xml version="1.0" encoding="utf-8"?>
<p188:cmLst xmlns:a="http://schemas.openxmlformats.org/drawingml/2006/main" xmlns:r="http://schemas.openxmlformats.org/officeDocument/2006/relationships" xmlns:p188="http://schemas.microsoft.com/office/powerpoint/2018/8/main">
  <p188:cm id="{7E04AD94-4510-4882-95C1-8F7050AD5397}" authorId="{D2899EA4-066E-1790-9F93-F8769250A48C}" created="2026-05-25T17:28:40.325">
    <pc:sldMkLst xmlns:pc="http://schemas.microsoft.com/office/powerpoint/2013/main/command">
      <pc:docMk/>
      <pc:sldMk cId="3219029556" sldId="315"/>
    </pc:sldMkLst>
    <p188:txBody>
      <a:bodyPr/>
      <a:lstStyle/>
      <a:p>
        <a:r>
          <a:rPr lang="en-US"/>
          <a:t>Accrued Interest v Paid Interest</a:t>
        </a:r>
      </a:p>
    </p188:txBody>
  </p188:cm>
</p188:cmLst>
</file>

<file path=ppt/comments/modernComment_13F_7E5B1CC4.xml><?xml version="1.0" encoding="utf-8"?>
<p188:cmLst xmlns:a="http://schemas.openxmlformats.org/drawingml/2006/main" xmlns:r="http://schemas.openxmlformats.org/officeDocument/2006/relationships" xmlns:p188="http://schemas.microsoft.com/office/powerpoint/2018/8/main">
  <p188:cm id="{E4E29A2B-C25A-4FA3-9669-600A5D0DE907}" authorId="{D2899EA4-066E-1790-9F93-F8769250A48C}" created="2026-05-25T17:27:39.851">
    <pc:sldMkLst xmlns:pc="http://schemas.microsoft.com/office/powerpoint/2013/main/command">
      <pc:docMk/>
      <pc:sldMk cId="2119900356" sldId="319"/>
    </pc:sldMkLst>
    <p188:txBody>
      <a:bodyPr/>
      <a:lstStyle/>
      <a:p>
        <a:r>
          <a:rPr lang="en-US"/>
          <a:t>Transactions for late fee assessment v waived/collected. Timing &amp; Totals</a:t>
        </a:r>
      </a:p>
    </p188:txBody>
  </p188:cm>
  <p188:cm id="{742B8235-B860-43B2-B14A-B2184BBE2B1D}" authorId="{D2899EA4-066E-1790-9F93-F8769250A48C}" created="2026-05-25T17:27:52.459">
    <pc:sldMkLst xmlns:pc="http://schemas.microsoft.com/office/powerpoint/2013/main/command">
      <pc:docMk/>
      <pc:sldMk cId="2119900356" sldId="319"/>
    </pc:sldMkLst>
    <p188:txBody>
      <a:bodyPr/>
      <a:lstStyle/>
      <a:p>
        <a:r>
          <a:rPr lang="en-US"/>
          <a:t>Transactions for Doc Prep Fees Assessed/Collected/Waived</a:t>
        </a:r>
      </a:p>
    </p188:txBody>
  </p188:cm>
  <p188:cm id="{031E4034-C1C1-464B-AD90-42686C810420}" authorId="{D2899EA4-066E-1790-9F93-F8769250A48C}" created="2026-05-25T17:33:54.288">
    <pc:sldMkLst xmlns:pc="http://schemas.microsoft.com/office/powerpoint/2013/main/command">
      <pc:docMk/>
      <pc:sldMk cId="2119900356" sldId="319"/>
    </pc:sldMkLst>
    <p188:txBody>
      <a:bodyPr/>
      <a:lstStyle/>
      <a:p>
        <a:r>
          <a:rPr lang="en-US"/>
          <a:t>Transactions for historical data the system doesn’t track</a:t>
        </a:r>
      </a:p>
    </p188:txBody>
  </p188:cm>
</p188:cmLst>
</file>

<file path=ppt/comments/modernComment_140_D17AFEC1.xml><?xml version="1.0" encoding="utf-8"?>
<p188:cmLst xmlns:a="http://schemas.openxmlformats.org/drawingml/2006/main" xmlns:r="http://schemas.openxmlformats.org/officeDocument/2006/relationships" xmlns:p188="http://schemas.microsoft.com/office/powerpoint/2018/8/main">
  <p188:cm id="{DD832902-377D-415B-A8BC-9FC040D1AFE5}" authorId="{D2899EA4-066E-1790-9F93-F8769250A48C}" created="2026-05-25T19:35:06.467">
    <pc:sldMkLst xmlns:pc="http://schemas.microsoft.com/office/powerpoint/2013/main/command">
      <pc:docMk/>
      <pc:sldMk cId="3514498753" sldId="320"/>
    </pc:sldMkLst>
    <p188:txBody>
      <a:bodyPr/>
      <a:lstStyle/>
      <a:p>
        <a:r>
          <a:rPr lang="en-US"/>
          <a:t>Refunds w/ Assessments. DDA Transactions?</a:t>
        </a:r>
      </a:p>
    </p188:txBody>
  </p188:cm>
  <p188:cm id="{7B8491ED-A3B5-4389-9D11-900B72D8407D}" authorId="{D2899EA4-066E-1790-9F93-F8769250A48C}" created="2026-05-25T19:35:21.247">
    <pc:sldMkLst xmlns:pc="http://schemas.microsoft.com/office/powerpoint/2013/main/command">
      <pc:docMk/>
      <pc:sldMk cId="3514498753" sldId="320"/>
    </pc:sldMkLst>
    <p188:txBody>
      <a:bodyPr/>
      <a:lstStyle/>
      <a:p>
        <a:r>
          <a:rPr lang="en-US"/>
          <a:t>How does system track analysis and treasury management fees?</a:t>
        </a:r>
      </a:p>
    </p188:txBody>
  </p188:cm>
</p188:cmLst>
</file>

<file path=ppt/diagrams/_rels/data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BulletTimelineDefaultColorVariant">
  <dgm:title val="Bullet Timeline Default Color Variant"/>
  <dgm:desc val="Bullet Timeline Default Color Variant"/>
  <dgm:catLst>
    <dgm:cat type="Other" pri="2"/>
  </dgm:catLst>
  <dgm:styleLbl name="node0">
    <dgm:fillClrLst meth="repeat">
      <a:schemeClr val="dk1"/>
    </dgm:fillClrLst>
    <dgm:linClrLst meth="repeat">
      <a:schemeClr val="lt1"/>
    </dgm:linClrLst>
    <dgm:effectClrLst/>
    <dgm:txLinClrLst/>
    <dgm:txFillClrLst/>
    <dgm:txEffectClrLst/>
  </dgm:styleLbl>
  <dgm:styleLbl name="node1">
    <dgm:fillClrLst meth="repeat">
      <a:schemeClr val="dk1"/>
    </dgm:fillClrLst>
    <dgm:linClrLst meth="repeat">
      <a:schemeClr val="lt1"/>
    </dgm:linClrLst>
    <dgm:effectClrLst/>
    <dgm:txLinClrLst/>
    <dgm:txFillClrLst/>
    <dgm:txEffectClrLst/>
  </dgm:styleLbl>
  <dgm:styleLbl name="alignNode1">
    <dgm:fillClrLst meth="repeat">
      <a:schemeClr val="dk1"/>
    </dgm:fillClrLst>
    <dgm:linClrLst meth="repeat">
      <a:schemeClr val="dk1"/>
    </dgm:linClrLst>
    <dgm:effectClrLst/>
    <dgm:txLinClrLst/>
    <dgm:txFillClrLst/>
    <dgm:txEffectClrLst/>
  </dgm:styleLbl>
  <dgm:styleLbl name="lnNode1">
    <dgm:fillClrLst meth="repeat">
      <a:schemeClr val="dk1"/>
    </dgm:fillClrLst>
    <dgm:linClrLst meth="repeat">
      <a:schemeClr val="lt1"/>
    </dgm:linClrLst>
    <dgm:effectClrLst/>
    <dgm:txLinClrLst/>
    <dgm:txFillClrLst/>
    <dgm:txEffectClrLst/>
  </dgm:styleLbl>
  <dgm:styleLbl name="vennNode1">
    <dgm:fillClrLst meth="repeat">
      <a:schemeClr val="dk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accent1"/>
    </dgm:linClrLst>
    <dgm:effectClrLst/>
    <dgm:txLinClrLst/>
    <dgm:txFillClrLst/>
    <dgm:txEffectClrLst/>
  </dgm:styleLbl>
  <dgm:styleLbl name="node3">
    <dgm:fillClrLst meth="repeat">
      <a:schemeClr val="dk1"/>
    </dgm:fillClrLst>
    <dgm:linClrLst meth="repeat">
      <a:schemeClr val="lt1"/>
    </dgm:linClrLst>
    <dgm:effectClrLst/>
    <dgm:txLinClrLst/>
    <dgm:txFillClrLst/>
    <dgm:txEffectClrLst/>
  </dgm:styleLbl>
  <dgm:styleLbl name="node4">
    <dgm:fillClrLst meth="repeat">
      <a:schemeClr val="dk1"/>
    </dgm:fillClrLst>
    <dgm:linClrLst meth="repeat">
      <a:schemeClr val="lt1"/>
    </dgm:linClrLst>
    <dgm:effectClrLst/>
    <dgm:txLinClrLst/>
    <dgm:txFillClrLst/>
    <dgm:txEffectClrLst/>
  </dgm:styleLbl>
  <dgm:styleLbl name="fgImgPlace1">
    <dgm:fillClrLst meth="repeat">
      <a:schemeClr val="dk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dk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dk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a:tint val="50000"/>
      </a:schemeClr>
    </dgm:linClrLst>
    <dgm:effectClrLst/>
    <dgm:txLinClrLst/>
    <dgm:txFillClrLst meth="repeat">
      <a:schemeClr val="tx1"/>
    </dgm:txFillClrLst>
    <dgm:txEffectClrLst/>
  </dgm:styleLbl>
  <dgm:styleLbl name="asst0">
    <dgm:fillClrLst meth="repeat">
      <a:schemeClr val="dk1"/>
    </dgm:fillClrLst>
    <dgm:linClrLst meth="repeat">
      <a:schemeClr val="lt1"/>
    </dgm:linClrLst>
    <dgm:effectClrLst/>
    <dgm:txLinClrLst/>
    <dgm:txFillClrLst/>
    <dgm:txEffectClrLst/>
  </dgm:styleLbl>
  <dgm:styleLbl name="asst1">
    <dgm:fillClrLst meth="repeat">
      <a:schemeClr val="dk1"/>
    </dgm:fillClrLst>
    <dgm:linClrLst meth="repeat">
      <a:schemeClr val="lt1"/>
    </dgm:linClrLst>
    <dgm:effectClrLst/>
    <dgm:txLinClrLst/>
    <dgm:txFillClrLst/>
    <dgm:txEffectClrLst/>
  </dgm:styleLbl>
  <dgm:styleLbl name="asst2">
    <dgm:fillClrLst meth="repeat">
      <a:schemeClr val="dk1"/>
    </dgm:fillClrLst>
    <dgm:linClrLst meth="repeat">
      <a:schemeClr val="lt1"/>
    </dgm:linClrLst>
    <dgm:effectClrLst/>
    <dgm:txLinClrLst/>
    <dgm:txFillClrLst/>
    <dgm:txEffectClrLst/>
  </dgm:styleLbl>
  <dgm:styleLbl name="asst3">
    <dgm:fillClrLst meth="repeat">
      <a:schemeClr val="dk1"/>
    </dgm:fillClrLst>
    <dgm:linClrLst meth="repeat">
      <a:schemeClr val="lt1"/>
    </dgm:linClrLst>
    <dgm:effectClrLst/>
    <dgm:txLinClrLst/>
    <dgm:txFillClrLst/>
    <dgm:txEffectClrLst/>
  </dgm:styleLbl>
  <dgm:styleLbl name="asst4">
    <dgm:fillClrLst meth="repeat">
      <a:schemeClr val="dk1"/>
    </dgm:fillClrLst>
    <dgm:linClrLst meth="repeat">
      <a:schemeClr val="lt1"/>
    </dgm:linClrLst>
    <dgm:effectClrLst/>
    <dgm:txLinClrLst/>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meth="repeat">
      <a:schemeClr val="lt1"/>
    </dgm:txFillClrLst>
    <dgm:txEffectClrLst/>
  </dgm:styleLbl>
  <dgm:styleLbl name="parChTrans2D2">
    <dgm:fillClrLst meth="repeat">
      <a:schemeClr val="dk1"/>
    </dgm:fillClrLst>
    <dgm:linClrLst meth="repeat">
      <a:schemeClr val="dk1"/>
    </dgm:linClrLst>
    <dgm:effectClrLst/>
    <dgm:txLinClrLst/>
    <dgm:txFillClrLst meth="repeat">
      <a:schemeClr val="lt1"/>
    </dgm:txFillClrLst>
    <dgm:txEffectClrLst/>
  </dgm:styleLbl>
  <dgm:styleLbl name="parChTrans2D3">
    <dgm:fillClrLst meth="repeat">
      <a:schemeClr val="dk1"/>
    </dgm:fillClrLst>
    <dgm:linClrLst meth="repeat">
      <a:schemeClr val="dk1"/>
    </dgm:linClrLst>
    <dgm:effectClrLst/>
    <dgm:txLinClrLst/>
    <dgm:txFillClrLst meth="repeat">
      <a:schemeClr val="lt1"/>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dk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dk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dk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dk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dk1">
        <a:alpha val="90000"/>
        <a:tint val="40000"/>
      </a:schemeClr>
    </dgm:fillClrLst>
    <dgm:linClrLst meth="repeat">
      <a:schemeClr val="dk1">
        <a:alpha val="90000"/>
        <a:tint val="40000"/>
      </a:schemeClr>
    </dgm:linClrLst>
    <dgm:effectClrLst/>
    <dgm:txLinClrLst/>
    <dgm:txFillClrLst meth="repeat">
      <a:schemeClr val="dk1"/>
    </dgm:txFillClrLst>
    <dgm:txEffectClrLst/>
  </dgm:styleLbl>
  <dgm:styleLbl name="alignAccFollowNode1">
    <dgm:fillClrLst meth="repeat">
      <a:schemeClr val="dk1">
        <a:alpha val="90000"/>
        <a:tint val="40000"/>
      </a:schemeClr>
    </dgm:fillClrLst>
    <dgm:linClrLst meth="repeat">
      <a:schemeClr val="dk1">
        <a:alpha val="90000"/>
        <a:tint val="40000"/>
      </a:schemeClr>
    </dgm:linClrLst>
    <dgm:effectClrLst/>
    <dgm:txLinClrLst/>
    <dgm:txFillClrLst meth="repeat">
      <a:schemeClr val="dk1"/>
    </dgm:txFillClrLst>
    <dgm:txEffectClrLst/>
  </dgm:styleLbl>
  <dgm:styleLbl name="bgAccFollowNode1">
    <dgm:fillClrLst meth="repeat">
      <a:schemeClr val="dk1">
        <a:alpha val="90000"/>
        <a:tint val="40000"/>
      </a:schemeClr>
    </dgm:fillClrLst>
    <dgm:linClrLst meth="repeat">
      <a:schemeClr val="dk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dk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dk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dk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24AD37-374F-4D90-B728-E06AB64F616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2FA8F642-DC38-4AB6-91C0-8A08335DFC00}">
      <dgm:prSet phldrT="[Text]" phldr="0" custT="1"/>
      <dgm:spPr/>
      <dgm:t>
        <a:bodyPr/>
        <a:lstStyle/>
        <a:p>
          <a:r>
            <a:rPr lang="en-US" sz="1400" dirty="0"/>
            <a:t>Balanced Credit Exposure</a:t>
          </a:r>
        </a:p>
      </dgm:t>
    </dgm:pt>
    <dgm:pt modelId="{69DF1C0B-EB63-4634-BF76-3B3E6B536D19}" type="parTrans" cxnId="{7BB3FB5A-1050-4504-9CFC-DC4423CD3E66}">
      <dgm:prSet/>
      <dgm:spPr/>
      <dgm:t>
        <a:bodyPr/>
        <a:lstStyle/>
        <a:p>
          <a:endParaRPr lang="en-US"/>
        </a:p>
      </dgm:t>
    </dgm:pt>
    <dgm:pt modelId="{141AC7E2-A53F-498F-A06F-61DBD526203D}" type="sibTrans" cxnId="{7BB3FB5A-1050-4504-9CFC-DC4423CD3E66}">
      <dgm:prSet/>
      <dgm:spPr/>
      <dgm:t>
        <a:bodyPr/>
        <a:lstStyle/>
        <a:p>
          <a:endParaRPr lang="en-US"/>
        </a:p>
      </dgm:t>
    </dgm:pt>
    <dgm:pt modelId="{ED0A13EF-A47F-4F79-9D38-723B940143F5}">
      <dgm:prSet phldrT="[Text]"/>
      <dgm:spPr/>
      <dgm:t>
        <a:bodyPr/>
        <a:lstStyle/>
        <a:p>
          <a:r>
            <a:rPr lang="en-US" dirty="0"/>
            <a:t>Loan concentrations aligned with risk appetite and </a:t>
          </a:r>
          <a:r>
            <a:rPr lang="en-US"/>
            <a:t>regulatory expectations</a:t>
          </a:r>
          <a:endParaRPr lang="en-US" dirty="0"/>
        </a:p>
      </dgm:t>
    </dgm:pt>
    <dgm:pt modelId="{A367A47D-0515-43F9-BD87-DECD4A28EE21}" type="parTrans" cxnId="{F19A28E4-0F5A-4D45-B181-05399D79C0F3}">
      <dgm:prSet/>
      <dgm:spPr/>
      <dgm:t>
        <a:bodyPr/>
        <a:lstStyle/>
        <a:p>
          <a:endParaRPr lang="en-US"/>
        </a:p>
      </dgm:t>
    </dgm:pt>
    <dgm:pt modelId="{407F07EA-668A-4151-85CA-EE947E2C84E4}" type="sibTrans" cxnId="{F19A28E4-0F5A-4D45-B181-05399D79C0F3}">
      <dgm:prSet/>
      <dgm:spPr/>
      <dgm:t>
        <a:bodyPr/>
        <a:lstStyle/>
        <a:p>
          <a:endParaRPr lang="en-US"/>
        </a:p>
      </dgm:t>
    </dgm:pt>
    <dgm:pt modelId="{A35FD007-7758-4EBD-AFAB-7A369917BDDF}">
      <dgm:prSet phldrT="[Text]" custT="1"/>
      <dgm:spPr/>
      <dgm:t>
        <a:bodyPr/>
        <a:lstStyle/>
        <a:p>
          <a:r>
            <a:rPr lang="en-US" sz="1400" dirty="0"/>
            <a:t>Sustainable Relationship Profitability</a:t>
          </a:r>
        </a:p>
      </dgm:t>
    </dgm:pt>
    <dgm:pt modelId="{C88BBB67-7796-41ED-BCF0-8720536C3187}" type="parTrans" cxnId="{4FC32AA0-2317-4A51-B1A6-9A4FDF4A3D12}">
      <dgm:prSet/>
      <dgm:spPr/>
      <dgm:t>
        <a:bodyPr/>
        <a:lstStyle/>
        <a:p>
          <a:endParaRPr lang="en-US"/>
        </a:p>
      </dgm:t>
    </dgm:pt>
    <dgm:pt modelId="{3902048D-AE2B-41EF-8B12-51B2FEA3A2C8}" type="sibTrans" cxnId="{4FC32AA0-2317-4A51-B1A6-9A4FDF4A3D12}">
      <dgm:prSet/>
      <dgm:spPr/>
      <dgm:t>
        <a:bodyPr/>
        <a:lstStyle/>
        <a:p>
          <a:endParaRPr lang="en-US"/>
        </a:p>
      </dgm:t>
    </dgm:pt>
    <dgm:pt modelId="{B28F8587-B691-4F79-8818-1CD205DDE55C}">
      <dgm:prSet phldrT="[Text]"/>
      <dgm:spPr/>
      <dgm:t>
        <a:bodyPr/>
        <a:lstStyle/>
        <a:p>
          <a:r>
            <a:rPr lang="en-US" dirty="0"/>
            <a:t>Returns that justify capital, servicing, </a:t>
          </a:r>
          <a:r>
            <a:rPr lang="en-US"/>
            <a:t>and risk</a:t>
          </a:r>
          <a:endParaRPr lang="en-US" dirty="0"/>
        </a:p>
      </dgm:t>
    </dgm:pt>
    <dgm:pt modelId="{9BBDC638-B518-499E-BBF1-D528749A754F}" type="parTrans" cxnId="{69C73DF2-AA33-4B09-9A22-93CACF5B84CF}">
      <dgm:prSet/>
      <dgm:spPr/>
      <dgm:t>
        <a:bodyPr/>
        <a:lstStyle/>
        <a:p>
          <a:endParaRPr lang="en-US"/>
        </a:p>
      </dgm:t>
    </dgm:pt>
    <dgm:pt modelId="{CAAF6C8F-E08C-4E1B-B49F-B358A4D52CAA}" type="sibTrans" cxnId="{69C73DF2-AA33-4B09-9A22-93CACF5B84CF}">
      <dgm:prSet/>
      <dgm:spPr/>
      <dgm:t>
        <a:bodyPr/>
        <a:lstStyle/>
        <a:p>
          <a:endParaRPr lang="en-US"/>
        </a:p>
      </dgm:t>
    </dgm:pt>
    <dgm:pt modelId="{CD367AC6-9649-45C6-8F26-5B897BF7BB8F}">
      <dgm:prSet phldrT="[Text]" custT="1"/>
      <dgm:spPr/>
      <dgm:t>
        <a:bodyPr/>
        <a:lstStyle/>
        <a:p>
          <a:r>
            <a:rPr lang="en-US" sz="1400" dirty="0"/>
            <a:t>Predictable Cash Flow Performance</a:t>
          </a:r>
        </a:p>
      </dgm:t>
    </dgm:pt>
    <dgm:pt modelId="{E065AFEB-803B-47C1-B666-D19A4C0F3DC5}" type="parTrans" cxnId="{BC9DCE62-C045-4272-BD78-8026DC4D9A2E}">
      <dgm:prSet/>
      <dgm:spPr/>
      <dgm:t>
        <a:bodyPr/>
        <a:lstStyle/>
        <a:p>
          <a:endParaRPr lang="en-US"/>
        </a:p>
      </dgm:t>
    </dgm:pt>
    <dgm:pt modelId="{5E44AD3E-77DB-4EC8-97B4-9935824C7DDE}" type="sibTrans" cxnId="{BC9DCE62-C045-4272-BD78-8026DC4D9A2E}">
      <dgm:prSet/>
      <dgm:spPr/>
      <dgm:t>
        <a:bodyPr/>
        <a:lstStyle/>
        <a:p>
          <a:endParaRPr lang="en-US"/>
        </a:p>
      </dgm:t>
    </dgm:pt>
    <dgm:pt modelId="{3B5E129F-8C5E-47F2-825D-325C39D16E75}">
      <dgm:prSet phldrT="[Text]"/>
      <dgm:spPr/>
      <dgm:t>
        <a:bodyPr/>
        <a:lstStyle/>
        <a:p>
          <a:r>
            <a:rPr lang="en-US" dirty="0"/>
            <a:t>Repayment patterns that support long – </a:t>
          </a:r>
          <a:r>
            <a:rPr lang="en-US"/>
            <a:t>term stability</a:t>
          </a:r>
          <a:endParaRPr lang="en-US" dirty="0"/>
        </a:p>
      </dgm:t>
    </dgm:pt>
    <dgm:pt modelId="{699D62EA-379C-43B8-8599-43A68FAB1B4D}" type="parTrans" cxnId="{7E30B8C1-0B7D-490B-BE23-4D7DAB15ED96}">
      <dgm:prSet/>
      <dgm:spPr/>
      <dgm:t>
        <a:bodyPr/>
        <a:lstStyle/>
        <a:p>
          <a:endParaRPr lang="en-US"/>
        </a:p>
      </dgm:t>
    </dgm:pt>
    <dgm:pt modelId="{E446EB2A-269E-4139-82EF-B42BF95099C6}" type="sibTrans" cxnId="{7E30B8C1-0B7D-490B-BE23-4D7DAB15ED96}">
      <dgm:prSet/>
      <dgm:spPr/>
      <dgm:t>
        <a:bodyPr/>
        <a:lstStyle/>
        <a:p>
          <a:endParaRPr lang="en-US"/>
        </a:p>
      </dgm:t>
    </dgm:pt>
    <dgm:pt modelId="{16E85669-B0EF-4043-95D8-27331C909439}">
      <dgm:prSet phldrT="[Text]" custT="1"/>
      <dgm:spPr/>
      <dgm:t>
        <a:bodyPr/>
        <a:lstStyle/>
        <a:p>
          <a:r>
            <a:rPr lang="en-US" sz="1400" dirty="0"/>
            <a:t>Diversified Portfolio Mix </a:t>
          </a:r>
        </a:p>
      </dgm:t>
    </dgm:pt>
    <dgm:pt modelId="{4803EE75-6989-4C2D-AA6F-3F309E63126D}" type="parTrans" cxnId="{E50F13EE-EF25-4929-A84A-386077731C21}">
      <dgm:prSet/>
      <dgm:spPr/>
      <dgm:t>
        <a:bodyPr/>
        <a:lstStyle/>
        <a:p>
          <a:endParaRPr lang="en-US"/>
        </a:p>
      </dgm:t>
    </dgm:pt>
    <dgm:pt modelId="{B559E926-67F3-46DB-B414-B6B74BE06158}" type="sibTrans" cxnId="{E50F13EE-EF25-4929-A84A-386077731C21}">
      <dgm:prSet/>
      <dgm:spPr/>
      <dgm:t>
        <a:bodyPr/>
        <a:lstStyle/>
        <a:p>
          <a:endParaRPr lang="en-US"/>
        </a:p>
      </dgm:t>
    </dgm:pt>
    <dgm:pt modelId="{5B0AFFC6-9524-494B-8979-4A2BEB98590B}">
      <dgm:prSet phldrT="[Text]"/>
      <dgm:spPr/>
      <dgm:t>
        <a:bodyPr/>
        <a:lstStyle/>
        <a:p>
          <a:r>
            <a:rPr lang="en-US" dirty="0"/>
            <a:t>No outsized exposure to a single borrower, industry, or </a:t>
          </a:r>
          <a:r>
            <a:rPr lang="en-US"/>
            <a:t>collateral type</a:t>
          </a:r>
          <a:endParaRPr lang="en-US" dirty="0"/>
        </a:p>
      </dgm:t>
    </dgm:pt>
    <dgm:pt modelId="{E0B49E6A-FCEB-483F-9665-667BAD7DFCAD}" type="parTrans" cxnId="{E51D7753-319A-4211-B92A-F69F4FA305BB}">
      <dgm:prSet/>
      <dgm:spPr/>
      <dgm:t>
        <a:bodyPr/>
        <a:lstStyle/>
        <a:p>
          <a:endParaRPr lang="en-US"/>
        </a:p>
      </dgm:t>
    </dgm:pt>
    <dgm:pt modelId="{9EEE7825-86F6-4B35-B4B5-3CE95BC0E5CC}" type="sibTrans" cxnId="{E51D7753-319A-4211-B92A-F69F4FA305BB}">
      <dgm:prSet/>
      <dgm:spPr/>
      <dgm:t>
        <a:bodyPr/>
        <a:lstStyle/>
        <a:p>
          <a:endParaRPr lang="en-US"/>
        </a:p>
      </dgm:t>
    </dgm:pt>
    <dgm:pt modelId="{D452EFF3-237B-465D-B8D3-9B9D2A2026CF}">
      <dgm:prSet phldrT="[Text]" custT="1"/>
      <dgm:spPr/>
      <dgm:t>
        <a:bodyPr/>
        <a:lstStyle/>
        <a:p>
          <a:r>
            <a:rPr lang="en-US" sz="1400" dirty="0"/>
            <a:t>Consistent Credit Quality</a:t>
          </a:r>
        </a:p>
      </dgm:t>
    </dgm:pt>
    <dgm:pt modelId="{A8C13A56-A2B2-4DB3-9507-4563052FE1EE}" type="parTrans" cxnId="{CB470714-832C-4E0E-9AD4-AEA7A4B3530E}">
      <dgm:prSet/>
      <dgm:spPr/>
      <dgm:t>
        <a:bodyPr/>
        <a:lstStyle/>
        <a:p>
          <a:endParaRPr lang="en-US"/>
        </a:p>
      </dgm:t>
    </dgm:pt>
    <dgm:pt modelId="{F8F72A8E-6139-4B47-A9F9-7FB4328C1FFF}" type="sibTrans" cxnId="{CB470714-832C-4E0E-9AD4-AEA7A4B3530E}">
      <dgm:prSet/>
      <dgm:spPr/>
      <dgm:t>
        <a:bodyPr/>
        <a:lstStyle/>
        <a:p>
          <a:endParaRPr lang="en-US"/>
        </a:p>
      </dgm:t>
    </dgm:pt>
    <dgm:pt modelId="{6C39159F-5507-4A7B-B699-BC8632AF9E45}">
      <dgm:prSet phldrT="[Text]"/>
      <dgm:spPr/>
      <dgm:t>
        <a:bodyPr/>
        <a:lstStyle/>
        <a:p>
          <a:r>
            <a:rPr lang="en-US" dirty="0"/>
            <a:t>Stable risk grades, low delinquency, minimal expectations</a:t>
          </a:r>
        </a:p>
      </dgm:t>
    </dgm:pt>
    <dgm:pt modelId="{FB9AF5EB-37B0-463F-A4A6-24967AE865EA}" type="parTrans" cxnId="{4E3D058B-AB02-4921-B58E-AD8179790F1A}">
      <dgm:prSet/>
      <dgm:spPr/>
      <dgm:t>
        <a:bodyPr/>
        <a:lstStyle/>
        <a:p>
          <a:endParaRPr lang="en-US"/>
        </a:p>
      </dgm:t>
    </dgm:pt>
    <dgm:pt modelId="{007948FA-756A-4D4F-A888-6675E50C6504}" type="sibTrans" cxnId="{4E3D058B-AB02-4921-B58E-AD8179790F1A}">
      <dgm:prSet/>
      <dgm:spPr/>
      <dgm:t>
        <a:bodyPr/>
        <a:lstStyle/>
        <a:p>
          <a:endParaRPr lang="en-US"/>
        </a:p>
      </dgm:t>
    </dgm:pt>
    <dgm:pt modelId="{05869D87-92FB-49F2-8AAE-8E29FDBBCDED}">
      <dgm:prSet phldrT="[Text]" custT="1"/>
      <dgm:spPr/>
      <dgm:t>
        <a:bodyPr/>
        <a:lstStyle/>
        <a:p>
          <a:r>
            <a:rPr lang="en-US" sz="1400" dirty="0"/>
            <a:t>Strong Core Deposit Base</a:t>
          </a:r>
        </a:p>
      </dgm:t>
    </dgm:pt>
    <dgm:pt modelId="{0BE35292-0341-4D2A-B1A7-D84D885A9914}" type="parTrans" cxnId="{0E668425-E79E-4C4B-9977-D1BC686FDD20}">
      <dgm:prSet/>
      <dgm:spPr/>
      <dgm:t>
        <a:bodyPr/>
        <a:lstStyle/>
        <a:p>
          <a:endParaRPr lang="en-US"/>
        </a:p>
      </dgm:t>
    </dgm:pt>
    <dgm:pt modelId="{90AC72CE-07E2-48CD-9625-EC0BD2CBC60C}" type="sibTrans" cxnId="{0E668425-E79E-4C4B-9977-D1BC686FDD20}">
      <dgm:prSet/>
      <dgm:spPr/>
      <dgm:t>
        <a:bodyPr/>
        <a:lstStyle/>
        <a:p>
          <a:endParaRPr lang="en-US"/>
        </a:p>
      </dgm:t>
    </dgm:pt>
    <dgm:pt modelId="{62D68A31-710B-44C5-BE5C-BBE0B5E38BC3}">
      <dgm:prSet phldrT="[Text]"/>
      <dgm:spPr/>
      <dgm:t>
        <a:bodyPr/>
        <a:lstStyle/>
        <a:p>
          <a:r>
            <a:rPr lang="en-US" dirty="0"/>
            <a:t>Stable, low – volatility funding supporting </a:t>
          </a:r>
          <a:r>
            <a:rPr lang="en-US"/>
            <a:t>loan growth</a:t>
          </a:r>
          <a:endParaRPr lang="en-US" dirty="0"/>
        </a:p>
      </dgm:t>
    </dgm:pt>
    <dgm:pt modelId="{6CAA2540-222C-49D2-8E00-4C3B315938A7}" type="parTrans" cxnId="{FFB4DB6A-5EE4-48DB-AC2A-F6E58FB88721}">
      <dgm:prSet/>
      <dgm:spPr/>
      <dgm:t>
        <a:bodyPr/>
        <a:lstStyle/>
        <a:p>
          <a:endParaRPr lang="en-US"/>
        </a:p>
      </dgm:t>
    </dgm:pt>
    <dgm:pt modelId="{C7334EC8-4528-4262-91EC-21B6BC329062}" type="sibTrans" cxnId="{FFB4DB6A-5EE4-48DB-AC2A-F6E58FB88721}">
      <dgm:prSet/>
      <dgm:spPr/>
      <dgm:t>
        <a:bodyPr/>
        <a:lstStyle/>
        <a:p>
          <a:endParaRPr lang="en-US"/>
        </a:p>
      </dgm:t>
    </dgm:pt>
    <dgm:pt modelId="{C1AA9C81-1474-480A-A66E-C2ABCB2CA585}" type="pres">
      <dgm:prSet presAssocID="{DB24AD37-374F-4D90-B728-E06AB64F616C}" presName="linear" presStyleCnt="0">
        <dgm:presLayoutVars>
          <dgm:dir/>
          <dgm:animLvl val="lvl"/>
          <dgm:resizeHandles val="exact"/>
        </dgm:presLayoutVars>
      </dgm:prSet>
      <dgm:spPr/>
    </dgm:pt>
    <dgm:pt modelId="{8F315600-5E8A-4782-B956-19F18528596A}" type="pres">
      <dgm:prSet presAssocID="{2FA8F642-DC38-4AB6-91C0-8A08335DFC00}" presName="parentLin" presStyleCnt="0"/>
      <dgm:spPr/>
    </dgm:pt>
    <dgm:pt modelId="{B1FE242B-EABE-4E86-A6A0-603245B879F5}" type="pres">
      <dgm:prSet presAssocID="{2FA8F642-DC38-4AB6-91C0-8A08335DFC00}" presName="parentLeftMargin" presStyleLbl="node1" presStyleIdx="0" presStyleCnt="6"/>
      <dgm:spPr/>
    </dgm:pt>
    <dgm:pt modelId="{74265AF1-9E48-43EE-A09E-FD17C408D204}" type="pres">
      <dgm:prSet presAssocID="{2FA8F642-DC38-4AB6-91C0-8A08335DFC00}" presName="parentText" presStyleLbl="node1" presStyleIdx="0" presStyleCnt="6">
        <dgm:presLayoutVars>
          <dgm:chMax val="0"/>
          <dgm:bulletEnabled val="1"/>
        </dgm:presLayoutVars>
      </dgm:prSet>
      <dgm:spPr/>
    </dgm:pt>
    <dgm:pt modelId="{1634A636-61C6-42A4-80A1-31558672E68E}" type="pres">
      <dgm:prSet presAssocID="{2FA8F642-DC38-4AB6-91C0-8A08335DFC00}" presName="negativeSpace" presStyleCnt="0"/>
      <dgm:spPr/>
    </dgm:pt>
    <dgm:pt modelId="{5F95948E-74DB-4ED6-AD1C-08E7EA6B22A7}" type="pres">
      <dgm:prSet presAssocID="{2FA8F642-DC38-4AB6-91C0-8A08335DFC00}" presName="childText" presStyleLbl="conFgAcc1" presStyleIdx="0" presStyleCnt="6">
        <dgm:presLayoutVars>
          <dgm:bulletEnabled val="1"/>
        </dgm:presLayoutVars>
      </dgm:prSet>
      <dgm:spPr/>
    </dgm:pt>
    <dgm:pt modelId="{CB588A74-E3CD-4FF2-B239-24CE6B71FE05}" type="pres">
      <dgm:prSet presAssocID="{141AC7E2-A53F-498F-A06F-61DBD526203D}" presName="spaceBetweenRectangles" presStyleCnt="0"/>
      <dgm:spPr/>
    </dgm:pt>
    <dgm:pt modelId="{8AD3FC83-B1A8-4A81-8F98-3E115EA02DA6}" type="pres">
      <dgm:prSet presAssocID="{16E85669-B0EF-4043-95D8-27331C909439}" presName="parentLin" presStyleCnt="0"/>
      <dgm:spPr/>
    </dgm:pt>
    <dgm:pt modelId="{B7536D60-BEF8-4AA0-A4BE-A9109AAB723D}" type="pres">
      <dgm:prSet presAssocID="{16E85669-B0EF-4043-95D8-27331C909439}" presName="parentLeftMargin" presStyleLbl="node1" presStyleIdx="0" presStyleCnt="6"/>
      <dgm:spPr/>
    </dgm:pt>
    <dgm:pt modelId="{9CA20F5F-6BCB-471D-ABC8-0FA013279DA0}" type="pres">
      <dgm:prSet presAssocID="{16E85669-B0EF-4043-95D8-27331C909439}" presName="parentText" presStyleLbl="node1" presStyleIdx="1" presStyleCnt="6">
        <dgm:presLayoutVars>
          <dgm:chMax val="0"/>
          <dgm:bulletEnabled val="1"/>
        </dgm:presLayoutVars>
      </dgm:prSet>
      <dgm:spPr/>
    </dgm:pt>
    <dgm:pt modelId="{76D8BE35-E306-4069-8A62-F6B6147013B4}" type="pres">
      <dgm:prSet presAssocID="{16E85669-B0EF-4043-95D8-27331C909439}" presName="negativeSpace" presStyleCnt="0"/>
      <dgm:spPr/>
    </dgm:pt>
    <dgm:pt modelId="{596A5AAF-0C7F-47D0-8381-8E6D2B01F468}" type="pres">
      <dgm:prSet presAssocID="{16E85669-B0EF-4043-95D8-27331C909439}" presName="childText" presStyleLbl="conFgAcc1" presStyleIdx="1" presStyleCnt="6">
        <dgm:presLayoutVars>
          <dgm:bulletEnabled val="1"/>
        </dgm:presLayoutVars>
      </dgm:prSet>
      <dgm:spPr/>
    </dgm:pt>
    <dgm:pt modelId="{56CD8C89-0C19-4B57-B50C-58131D744D2D}" type="pres">
      <dgm:prSet presAssocID="{B559E926-67F3-46DB-B414-B6B74BE06158}" presName="spaceBetweenRectangles" presStyleCnt="0"/>
      <dgm:spPr/>
    </dgm:pt>
    <dgm:pt modelId="{1FE8E6B8-3290-4DE2-AA0D-A5C28A14AC0B}" type="pres">
      <dgm:prSet presAssocID="{D452EFF3-237B-465D-B8D3-9B9D2A2026CF}" presName="parentLin" presStyleCnt="0"/>
      <dgm:spPr/>
    </dgm:pt>
    <dgm:pt modelId="{A07BC61F-DB2D-4EE8-895B-450D599C70F2}" type="pres">
      <dgm:prSet presAssocID="{D452EFF3-237B-465D-B8D3-9B9D2A2026CF}" presName="parentLeftMargin" presStyleLbl="node1" presStyleIdx="1" presStyleCnt="6"/>
      <dgm:spPr/>
    </dgm:pt>
    <dgm:pt modelId="{A8A1D8CD-814F-4BEC-8728-009C47DE21AA}" type="pres">
      <dgm:prSet presAssocID="{D452EFF3-237B-465D-B8D3-9B9D2A2026CF}" presName="parentText" presStyleLbl="node1" presStyleIdx="2" presStyleCnt="6">
        <dgm:presLayoutVars>
          <dgm:chMax val="0"/>
          <dgm:bulletEnabled val="1"/>
        </dgm:presLayoutVars>
      </dgm:prSet>
      <dgm:spPr/>
    </dgm:pt>
    <dgm:pt modelId="{314BB519-47F1-4601-964F-A2D5D0335D9D}" type="pres">
      <dgm:prSet presAssocID="{D452EFF3-237B-465D-B8D3-9B9D2A2026CF}" presName="negativeSpace" presStyleCnt="0"/>
      <dgm:spPr/>
    </dgm:pt>
    <dgm:pt modelId="{64892DA6-2188-455C-84C9-2FAB3A62FAE7}" type="pres">
      <dgm:prSet presAssocID="{D452EFF3-237B-465D-B8D3-9B9D2A2026CF}" presName="childText" presStyleLbl="conFgAcc1" presStyleIdx="2" presStyleCnt="6">
        <dgm:presLayoutVars>
          <dgm:bulletEnabled val="1"/>
        </dgm:presLayoutVars>
      </dgm:prSet>
      <dgm:spPr/>
    </dgm:pt>
    <dgm:pt modelId="{A1C46E5A-74A7-46B0-8345-6748A3DF62C1}" type="pres">
      <dgm:prSet presAssocID="{F8F72A8E-6139-4B47-A9F9-7FB4328C1FFF}" presName="spaceBetweenRectangles" presStyleCnt="0"/>
      <dgm:spPr/>
    </dgm:pt>
    <dgm:pt modelId="{89F3CC96-C170-4842-834D-569461AA3A00}" type="pres">
      <dgm:prSet presAssocID="{05869D87-92FB-49F2-8AAE-8E29FDBBCDED}" presName="parentLin" presStyleCnt="0"/>
      <dgm:spPr/>
    </dgm:pt>
    <dgm:pt modelId="{F639B61B-DF05-42ED-ADF2-74BB7FDF6DBC}" type="pres">
      <dgm:prSet presAssocID="{05869D87-92FB-49F2-8AAE-8E29FDBBCDED}" presName="parentLeftMargin" presStyleLbl="node1" presStyleIdx="2" presStyleCnt="6"/>
      <dgm:spPr/>
    </dgm:pt>
    <dgm:pt modelId="{B9B02FE8-1890-49CF-84F5-CD45189FB319}" type="pres">
      <dgm:prSet presAssocID="{05869D87-92FB-49F2-8AAE-8E29FDBBCDED}" presName="parentText" presStyleLbl="node1" presStyleIdx="3" presStyleCnt="6">
        <dgm:presLayoutVars>
          <dgm:chMax val="0"/>
          <dgm:bulletEnabled val="1"/>
        </dgm:presLayoutVars>
      </dgm:prSet>
      <dgm:spPr/>
    </dgm:pt>
    <dgm:pt modelId="{D0EA6727-F1FB-4981-8430-A1F9250B61D9}" type="pres">
      <dgm:prSet presAssocID="{05869D87-92FB-49F2-8AAE-8E29FDBBCDED}" presName="negativeSpace" presStyleCnt="0"/>
      <dgm:spPr/>
    </dgm:pt>
    <dgm:pt modelId="{49E4D3CD-EE36-439A-927D-47FDD436767F}" type="pres">
      <dgm:prSet presAssocID="{05869D87-92FB-49F2-8AAE-8E29FDBBCDED}" presName="childText" presStyleLbl="conFgAcc1" presStyleIdx="3" presStyleCnt="6">
        <dgm:presLayoutVars>
          <dgm:bulletEnabled val="1"/>
        </dgm:presLayoutVars>
      </dgm:prSet>
      <dgm:spPr/>
    </dgm:pt>
    <dgm:pt modelId="{A0666632-6EE6-4AFB-AD71-5FDA76C11C28}" type="pres">
      <dgm:prSet presAssocID="{90AC72CE-07E2-48CD-9625-EC0BD2CBC60C}" presName="spaceBetweenRectangles" presStyleCnt="0"/>
      <dgm:spPr/>
    </dgm:pt>
    <dgm:pt modelId="{55C7CDDF-5ED5-49CF-A71C-A80F36F7DA90}" type="pres">
      <dgm:prSet presAssocID="{A35FD007-7758-4EBD-AFAB-7A369917BDDF}" presName="parentLin" presStyleCnt="0"/>
      <dgm:spPr/>
    </dgm:pt>
    <dgm:pt modelId="{7AA3E577-9CEB-4C81-B808-3062A8C9BFAC}" type="pres">
      <dgm:prSet presAssocID="{A35FD007-7758-4EBD-AFAB-7A369917BDDF}" presName="parentLeftMargin" presStyleLbl="node1" presStyleIdx="3" presStyleCnt="6"/>
      <dgm:spPr/>
    </dgm:pt>
    <dgm:pt modelId="{21D3D652-6707-4519-A9CB-3ACB70B22801}" type="pres">
      <dgm:prSet presAssocID="{A35FD007-7758-4EBD-AFAB-7A369917BDDF}" presName="parentText" presStyleLbl="node1" presStyleIdx="4" presStyleCnt="6">
        <dgm:presLayoutVars>
          <dgm:chMax val="0"/>
          <dgm:bulletEnabled val="1"/>
        </dgm:presLayoutVars>
      </dgm:prSet>
      <dgm:spPr/>
    </dgm:pt>
    <dgm:pt modelId="{2965E82D-8AF6-4EEF-957C-47C7DE39957F}" type="pres">
      <dgm:prSet presAssocID="{A35FD007-7758-4EBD-AFAB-7A369917BDDF}" presName="negativeSpace" presStyleCnt="0"/>
      <dgm:spPr/>
    </dgm:pt>
    <dgm:pt modelId="{113A4BA3-D4EF-4678-B911-ECA872D67FCC}" type="pres">
      <dgm:prSet presAssocID="{A35FD007-7758-4EBD-AFAB-7A369917BDDF}" presName="childText" presStyleLbl="conFgAcc1" presStyleIdx="4" presStyleCnt="6">
        <dgm:presLayoutVars>
          <dgm:bulletEnabled val="1"/>
        </dgm:presLayoutVars>
      </dgm:prSet>
      <dgm:spPr/>
    </dgm:pt>
    <dgm:pt modelId="{98ED6BD7-86E9-4AF9-9484-58CDEE069203}" type="pres">
      <dgm:prSet presAssocID="{3902048D-AE2B-41EF-8B12-51B2FEA3A2C8}" presName="spaceBetweenRectangles" presStyleCnt="0"/>
      <dgm:spPr/>
    </dgm:pt>
    <dgm:pt modelId="{E63E5449-0240-4140-8C81-9C25AC5C7756}" type="pres">
      <dgm:prSet presAssocID="{CD367AC6-9649-45C6-8F26-5B897BF7BB8F}" presName="parentLin" presStyleCnt="0"/>
      <dgm:spPr/>
    </dgm:pt>
    <dgm:pt modelId="{4F0FC1C4-C1C6-490A-B52A-D9B1D6A4BED9}" type="pres">
      <dgm:prSet presAssocID="{CD367AC6-9649-45C6-8F26-5B897BF7BB8F}" presName="parentLeftMargin" presStyleLbl="node1" presStyleIdx="4" presStyleCnt="6"/>
      <dgm:spPr/>
    </dgm:pt>
    <dgm:pt modelId="{27FE4332-6169-4038-8AC6-4B163C1412B3}" type="pres">
      <dgm:prSet presAssocID="{CD367AC6-9649-45C6-8F26-5B897BF7BB8F}" presName="parentText" presStyleLbl="node1" presStyleIdx="5" presStyleCnt="6">
        <dgm:presLayoutVars>
          <dgm:chMax val="0"/>
          <dgm:bulletEnabled val="1"/>
        </dgm:presLayoutVars>
      </dgm:prSet>
      <dgm:spPr/>
    </dgm:pt>
    <dgm:pt modelId="{F3A3EF54-A752-44F7-BB7A-540AF3832ABA}" type="pres">
      <dgm:prSet presAssocID="{CD367AC6-9649-45C6-8F26-5B897BF7BB8F}" presName="negativeSpace" presStyleCnt="0"/>
      <dgm:spPr/>
    </dgm:pt>
    <dgm:pt modelId="{F40B6CFE-EFB2-4320-A989-AEDAA15B6710}" type="pres">
      <dgm:prSet presAssocID="{CD367AC6-9649-45C6-8F26-5B897BF7BB8F}" presName="childText" presStyleLbl="conFgAcc1" presStyleIdx="5" presStyleCnt="6">
        <dgm:presLayoutVars>
          <dgm:bulletEnabled val="1"/>
        </dgm:presLayoutVars>
      </dgm:prSet>
      <dgm:spPr/>
    </dgm:pt>
  </dgm:ptLst>
  <dgm:cxnLst>
    <dgm:cxn modelId="{DC52FC01-F550-42D6-B5DD-F7D9E86F682D}" type="presOf" srcId="{05869D87-92FB-49F2-8AAE-8E29FDBBCDED}" destId="{B9B02FE8-1890-49CF-84F5-CD45189FB319}" srcOrd="1" destOrd="0" presId="urn:microsoft.com/office/officeart/2005/8/layout/list1"/>
    <dgm:cxn modelId="{1636D906-3815-42EB-8386-0E36C88A2B25}" type="presOf" srcId="{CD367AC6-9649-45C6-8F26-5B897BF7BB8F}" destId="{4F0FC1C4-C1C6-490A-B52A-D9B1D6A4BED9}" srcOrd="0" destOrd="0" presId="urn:microsoft.com/office/officeart/2005/8/layout/list1"/>
    <dgm:cxn modelId="{CB470714-832C-4E0E-9AD4-AEA7A4B3530E}" srcId="{DB24AD37-374F-4D90-B728-E06AB64F616C}" destId="{D452EFF3-237B-465D-B8D3-9B9D2A2026CF}" srcOrd="2" destOrd="0" parTransId="{A8C13A56-A2B2-4DB3-9507-4563052FE1EE}" sibTransId="{F8F72A8E-6139-4B47-A9F9-7FB4328C1FFF}"/>
    <dgm:cxn modelId="{6ED24F1A-44B2-40C2-A661-3C7B810DC5B9}" type="presOf" srcId="{62D68A31-710B-44C5-BE5C-BBE0B5E38BC3}" destId="{49E4D3CD-EE36-439A-927D-47FDD436767F}" srcOrd="0" destOrd="0" presId="urn:microsoft.com/office/officeart/2005/8/layout/list1"/>
    <dgm:cxn modelId="{37C0C21C-5314-4D3A-9E53-9A044458FF16}" type="presOf" srcId="{05869D87-92FB-49F2-8AAE-8E29FDBBCDED}" destId="{F639B61B-DF05-42ED-ADF2-74BB7FDF6DBC}" srcOrd="0" destOrd="0" presId="urn:microsoft.com/office/officeart/2005/8/layout/list1"/>
    <dgm:cxn modelId="{0E668425-E79E-4C4B-9977-D1BC686FDD20}" srcId="{DB24AD37-374F-4D90-B728-E06AB64F616C}" destId="{05869D87-92FB-49F2-8AAE-8E29FDBBCDED}" srcOrd="3" destOrd="0" parTransId="{0BE35292-0341-4D2A-B1A7-D84D885A9914}" sibTransId="{90AC72CE-07E2-48CD-9625-EC0BD2CBC60C}"/>
    <dgm:cxn modelId="{A2B7A425-134A-4603-BDE3-836EB90C2A2E}" type="presOf" srcId="{3B5E129F-8C5E-47F2-825D-325C39D16E75}" destId="{F40B6CFE-EFB2-4320-A989-AEDAA15B6710}" srcOrd="0" destOrd="0" presId="urn:microsoft.com/office/officeart/2005/8/layout/list1"/>
    <dgm:cxn modelId="{A756EA31-4793-4204-A33B-DC062127B35D}" type="presOf" srcId="{16E85669-B0EF-4043-95D8-27331C909439}" destId="{B7536D60-BEF8-4AA0-A4BE-A9109AAB723D}" srcOrd="0" destOrd="0" presId="urn:microsoft.com/office/officeart/2005/8/layout/list1"/>
    <dgm:cxn modelId="{1262A95F-26C0-4EEC-9D5E-A65EC8FCEB42}" type="presOf" srcId="{B28F8587-B691-4F79-8818-1CD205DDE55C}" destId="{113A4BA3-D4EF-4678-B911-ECA872D67FCC}" srcOrd="0" destOrd="0" presId="urn:microsoft.com/office/officeart/2005/8/layout/list1"/>
    <dgm:cxn modelId="{BC9DCE62-C045-4272-BD78-8026DC4D9A2E}" srcId="{DB24AD37-374F-4D90-B728-E06AB64F616C}" destId="{CD367AC6-9649-45C6-8F26-5B897BF7BB8F}" srcOrd="5" destOrd="0" parTransId="{E065AFEB-803B-47C1-B666-D19A4C0F3DC5}" sibTransId="{5E44AD3E-77DB-4EC8-97B4-9935824C7DDE}"/>
    <dgm:cxn modelId="{FFB4DB6A-5EE4-48DB-AC2A-F6E58FB88721}" srcId="{05869D87-92FB-49F2-8AAE-8E29FDBBCDED}" destId="{62D68A31-710B-44C5-BE5C-BBE0B5E38BC3}" srcOrd="0" destOrd="0" parTransId="{6CAA2540-222C-49D2-8E00-4C3B315938A7}" sibTransId="{C7334EC8-4528-4262-91EC-21B6BC329062}"/>
    <dgm:cxn modelId="{8FE0C16D-E67F-436D-A7C7-0EA488F2B437}" type="presOf" srcId="{2FA8F642-DC38-4AB6-91C0-8A08335DFC00}" destId="{B1FE242B-EABE-4E86-A6A0-603245B879F5}" srcOrd="0" destOrd="0" presId="urn:microsoft.com/office/officeart/2005/8/layout/list1"/>
    <dgm:cxn modelId="{E51D7753-319A-4211-B92A-F69F4FA305BB}" srcId="{16E85669-B0EF-4043-95D8-27331C909439}" destId="{5B0AFFC6-9524-494B-8979-4A2BEB98590B}" srcOrd="0" destOrd="0" parTransId="{E0B49E6A-FCEB-483F-9665-667BAD7DFCAD}" sibTransId="{9EEE7825-86F6-4B35-B4B5-3CE95BC0E5CC}"/>
    <dgm:cxn modelId="{149CD275-0935-42AE-AF67-4D1E5337C602}" type="presOf" srcId="{16E85669-B0EF-4043-95D8-27331C909439}" destId="{9CA20F5F-6BCB-471D-ABC8-0FA013279DA0}" srcOrd="1" destOrd="0" presId="urn:microsoft.com/office/officeart/2005/8/layout/list1"/>
    <dgm:cxn modelId="{C111ED77-5F13-4C06-A821-A7360C9FEBAA}" type="presOf" srcId="{5B0AFFC6-9524-494B-8979-4A2BEB98590B}" destId="{596A5AAF-0C7F-47D0-8381-8E6D2B01F468}" srcOrd="0" destOrd="0" presId="urn:microsoft.com/office/officeart/2005/8/layout/list1"/>
    <dgm:cxn modelId="{7BB3FB5A-1050-4504-9CFC-DC4423CD3E66}" srcId="{DB24AD37-374F-4D90-B728-E06AB64F616C}" destId="{2FA8F642-DC38-4AB6-91C0-8A08335DFC00}" srcOrd="0" destOrd="0" parTransId="{69DF1C0B-EB63-4634-BF76-3B3E6B536D19}" sibTransId="{141AC7E2-A53F-498F-A06F-61DBD526203D}"/>
    <dgm:cxn modelId="{6644097C-3D2D-4C47-B31C-D446D478C757}" type="presOf" srcId="{A35FD007-7758-4EBD-AFAB-7A369917BDDF}" destId="{21D3D652-6707-4519-A9CB-3ACB70B22801}" srcOrd="1" destOrd="0" presId="urn:microsoft.com/office/officeart/2005/8/layout/list1"/>
    <dgm:cxn modelId="{4E3D058B-AB02-4921-B58E-AD8179790F1A}" srcId="{D452EFF3-237B-465D-B8D3-9B9D2A2026CF}" destId="{6C39159F-5507-4A7B-B699-BC8632AF9E45}" srcOrd="0" destOrd="0" parTransId="{FB9AF5EB-37B0-463F-A4A6-24967AE865EA}" sibTransId="{007948FA-756A-4D4F-A888-6675E50C6504}"/>
    <dgm:cxn modelId="{3A36C693-CEAE-4B17-B583-0A7D7657AA4B}" type="presOf" srcId="{D452EFF3-237B-465D-B8D3-9B9D2A2026CF}" destId="{A8A1D8CD-814F-4BEC-8728-009C47DE21AA}" srcOrd="1" destOrd="0" presId="urn:microsoft.com/office/officeart/2005/8/layout/list1"/>
    <dgm:cxn modelId="{39736A9C-F14E-4DFA-AF3A-5A51171AA5AF}" type="presOf" srcId="{D452EFF3-237B-465D-B8D3-9B9D2A2026CF}" destId="{A07BC61F-DB2D-4EE8-895B-450D599C70F2}" srcOrd="0" destOrd="0" presId="urn:microsoft.com/office/officeart/2005/8/layout/list1"/>
    <dgm:cxn modelId="{4FC32AA0-2317-4A51-B1A6-9A4FDF4A3D12}" srcId="{DB24AD37-374F-4D90-B728-E06AB64F616C}" destId="{A35FD007-7758-4EBD-AFAB-7A369917BDDF}" srcOrd="4" destOrd="0" parTransId="{C88BBB67-7796-41ED-BCF0-8720536C3187}" sibTransId="{3902048D-AE2B-41EF-8B12-51B2FEA3A2C8}"/>
    <dgm:cxn modelId="{9440FCA0-9C7C-4D5B-ACA4-4A651169E921}" type="presOf" srcId="{DB24AD37-374F-4D90-B728-E06AB64F616C}" destId="{C1AA9C81-1474-480A-A66E-C2ABCB2CA585}" srcOrd="0" destOrd="0" presId="urn:microsoft.com/office/officeart/2005/8/layout/list1"/>
    <dgm:cxn modelId="{0BACABB3-2313-486A-BA85-FC3E081FBD0D}" type="presOf" srcId="{A35FD007-7758-4EBD-AFAB-7A369917BDDF}" destId="{7AA3E577-9CEB-4C81-B808-3062A8C9BFAC}" srcOrd="0" destOrd="0" presId="urn:microsoft.com/office/officeart/2005/8/layout/list1"/>
    <dgm:cxn modelId="{7E30B8C1-0B7D-490B-BE23-4D7DAB15ED96}" srcId="{CD367AC6-9649-45C6-8F26-5B897BF7BB8F}" destId="{3B5E129F-8C5E-47F2-825D-325C39D16E75}" srcOrd="0" destOrd="0" parTransId="{699D62EA-379C-43B8-8599-43A68FAB1B4D}" sibTransId="{E446EB2A-269E-4139-82EF-B42BF95099C6}"/>
    <dgm:cxn modelId="{3A3A01C2-8D93-49E9-A920-C46FC4F98E3D}" type="presOf" srcId="{2FA8F642-DC38-4AB6-91C0-8A08335DFC00}" destId="{74265AF1-9E48-43EE-A09E-FD17C408D204}" srcOrd="1" destOrd="0" presId="urn:microsoft.com/office/officeart/2005/8/layout/list1"/>
    <dgm:cxn modelId="{93FF82E3-6AD7-47FB-9F50-DAF7115D855E}" type="presOf" srcId="{CD367AC6-9649-45C6-8F26-5B897BF7BB8F}" destId="{27FE4332-6169-4038-8AC6-4B163C1412B3}" srcOrd="1" destOrd="0" presId="urn:microsoft.com/office/officeart/2005/8/layout/list1"/>
    <dgm:cxn modelId="{F19A28E4-0F5A-4D45-B181-05399D79C0F3}" srcId="{2FA8F642-DC38-4AB6-91C0-8A08335DFC00}" destId="{ED0A13EF-A47F-4F79-9D38-723B940143F5}" srcOrd="0" destOrd="0" parTransId="{A367A47D-0515-43F9-BD87-DECD4A28EE21}" sibTransId="{407F07EA-668A-4151-85CA-EE947E2C84E4}"/>
    <dgm:cxn modelId="{8EF5F9EC-6BC7-4678-977D-63BC6845D202}" type="presOf" srcId="{6C39159F-5507-4A7B-B699-BC8632AF9E45}" destId="{64892DA6-2188-455C-84C9-2FAB3A62FAE7}" srcOrd="0" destOrd="0" presId="urn:microsoft.com/office/officeart/2005/8/layout/list1"/>
    <dgm:cxn modelId="{E50F13EE-EF25-4929-A84A-386077731C21}" srcId="{DB24AD37-374F-4D90-B728-E06AB64F616C}" destId="{16E85669-B0EF-4043-95D8-27331C909439}" srcOrd="1" destOrd="0" parTransId="{4803EE75-6989-4C2D-AA6F-3F309E63126D}" sibTransId="{B559E926-67F3-46DB-B414-B6B74BE06158}"/>
    <dgm:cxn modelId="{5DCD1FF1-8A4E-48AB-9C06-B04E9043F185}" type="presOf" srcId="{ED0A13EF-A47F-4F79-9D38-723B940143F5}" destId="{5F95948E-74DB-4ED6-AD1C-08E7EA6B22A7}" srcOrd="0" destOrd="0" presId="urn:microsoft.com/office/officeart/2005/8/layout/list1"/>
    <dgm:cxn modelId="{69C73DF2-AA33-4B09-9A22-93CACF5B84CF}" srcId="{A35FD007-7758-4EBD-AFAB-7A369917BDDF}" destId="{B28F8587-B691-4F79-8818-1CD205DDE55C}" srcOrd="0" destOrd="0" parTransId="{9BBDC638-B518-499E-BBF1-D528749A754F}" sibTransId="{CAAF6C8F-E08C-4E1B-B49F-B358A4D52CAA}"/>
    <dgm:cxn modelId="{54949770-A7AC-45F0-B6F6-1DA8E7E8FD44}" type="presParOf" srcId="{C1AA9C81-1474-480A-A66E-C2ABCB2CA585}" destId="{8F315600-5E8A-4782-B956-19F18528596A}" srcOrd="0" destOrd="0" presId="urn:microsoft.com/office/officeart/2005/8/layout/list1"/>
    <dgm:cxn modelId="{4C37F9CE-7C78-4CB4-8FE3-91D3792112B6}" type="presParOf" srcId="{8F315600-5E8A-4782-B956-19F18528596A}" destId="{B1FE242B-EABE-4E86-A6A0-603245B879F5}" srcOrd="0" destOrd="0" presId="urn:microsoft.com/office/officeart/2005/8/layout/list1"/>
    <dgm:cxn modelId="{B091DFF1-2447-4EA4-84BC-190D97393488}" type="presParOf" srcId="{8F315600-5E8A-4782-B956-19F18528596A}" destId="{74265AF1-9E48-43EE-A09E-FD17C408D204}" srcOrd="1" destOrd="0" presId="urn:microsoft.com/office/officeart/2005/8/layout/list1"/>
    <dgm:cxn modelId="{989ABDEF-914D-4C8F-9D92-C956826F9F5B}" type="presParOf" srcId="{C1AA9C81-1474-480A-A66E-C2ABCB2CA585}" destId="{1634A636-61C6-42A4-80A1-31558672E68E}" srcOrd="1" destOrd="0" presId="urn:microsoft.com/office/officeart/2005/8/layout/list1"/>
    <dgm:cxn modelId="{65A05B81-B2C9-4426-9FA2-56772E72F865}" type="presParOf" srcId="{C1AA9C81-1474-480A-A66E-C2ABCB2CA585}" destId="{5F95948E-74DB-4ED6-AD1C-08E7EA6B22A7}" srcOrd="2" destOrd="0" presId="urn:microsoft.com/office/officeart/2005/8/layout/list1"/>
    <dgm:cxn modelId="{17AE22D0-9493-4902-8CCA-8820E3E1CEAC}" type="presParOf" srcId="{C1AA9C81-1474-480A-A66E-C2ABCB2CA585}" destId="{CB588A74-E3CD-4FF2-B239-24CE6B71FE05}" srcOrd="3" destOrd="0" presId="urn:microsoft.com/office/officeart/2005/8/layout/list1"/>
    <dgm:cxn modelId="{ED8C8924-AB52-455A-BCD6-D8FFAA497062}" type="presParOf" srcId="{C1AA9C81-1474-480A-A66E-C2ABCB2CA585}" destId="{8AD3FC83-B1A8-4A81-8F98-3E115EA02DA6}" srcOrd="4" destOrd="0" presId="urn:microsoft.com/office/officeart/2005/8/layout/list1"/>
    <dgm:cxn modelId="{C1EB5433-2761-49D1-89DD-C5F1777B45B3}" type="presParOf" srcId="{8AD3FC83-B1A8-4A81-8F98-3E115EA02DA6}" destId="{B7536D60-BEF8-4AA0-A4BE-A9109AAB723D}" srcOrd="0" destOrd="0" presId="urn:microsoft.com/office/officeart/2005/8/layout/list1"/>
    <dgm:cxn modelId="{5B25AE63-9FE3-496A-BDBF-B10165E541C8}" type="presParOf" srcId="{8AD3FC83-B1A8-4A81-8F98-3E115EA02DA6}" destId="{9CA20F5F-6BCB-471D-ABC8-0FA013279DA0}" srcOrd="1" destOrd="0" presId="urn:microsoft.com/office/officeart/2005/8/layout/list1"/>
    <dgm:cxn modelId="{F13DD81A-03AA-4790-A22C-0CD76530E3CB}" type="presParOf" srcId="{C1AA9C81-1474-480A-A66E-C2ABCB2CA585}" destId="{76D8BE35-E306-4069-8A62-F6B6147013B4}" srcOrd="5" destOrd="0" presId="urn:microsoft.com/office/officeart/2005/8/layout/list1"/>
    <dgm:cxn modelId="{F57494BD-17B9-41DA-A789-665E83B81606}" type="presParOf" srcId="{C1AA9C81-1474-480A-A66E-C2ABCB2CA585}" destId="{596A5AAF-0C7F-47D0-8381-8E6D2B01F468}" srcOrd="6" destOrd="0" presId="urn:microsoft.com/office/officeart/2005/8/layout/list1"/>
    <dgm:cxn modelId="{E29BBACE-F773-46FC-815E-9650C631BD68}" type="presParOf" srcId="{C1AA9C81-1474-480A-A66E-C2ABCB2CA585}" destId="{56CD8C89-0C19-4B57-B50C-58131D744D2D}" srcOrd="7" destOrd="0" presId="urn:microsoft.com/office/officeart/2005/8/layout/list1"/>
    <dgm:cxn modelId="{08C73666-2AD5-4AED-9CCE-9B0F7AAE8FA0}" type="presParOf" srcId="{C1AA9C81-1474-480A-A66E-C2ABCB2CA585}" destId="{1FE8E6B8-3290-4DE2-AA0D-A5C28A14AC0B}" srcOrd="8" destOrd="0" presId="urn:microsoft.com/office/officeart/2005/8/layout/list1"/>
    <dgm:cxn modelId="{F26B392B-F282-4493-B68E-729070FB6D57}" type="presParOf" srcId="{1FE8E6B8-3290-4DE2-AA0D-A5C28A14AC0B}" destId="{A07BC61F-DB2D-4EE8-895B-450D599C70F2}" srcOrd="0" destOrd="0" presId="urn:microsoft.com/office/officeart/2005/8/layout/list1"/>
    <dgm:cxn modelId="{AB70C6B1-17CD-4741-846E-045CB4F199C7}" type="presParOf" srcId="{1FE8E6B8-3290-4DE2-AA0D-A5C28A14AC0B}" destId="{A8A1D8CD-814F-4BEC-8728-009C47DE21AA}" srcOrd="1" destOrd="0" presId="urn:microsoft.com/office/officeart/2005/8/layout/list1"/>
    <dgm:cxn modelId="{7FF99FAF-AE7B-46E8-92BC-00E2F39E86F0}" type="presParOf" srcId="{C1AA9C81-1474-480A-A66E-C2ABCB2CA585}" destId="{314BB519-47F1-4601-964F-A2D5D0335D9D}" srcOrd="9" destOrd="0" presId="urn:microsoft.com/office/officeart/2005/8/layout/list1"/>
    <dgm:cxn modelId="{1B8E30B4-C577-447F-9B7E-4B74CB1A75C3}" type="presParOf" srcId="{C1AA9C81-1474-480A-A66E-C2ABCB2CA585}" destId="{64892DA6-2188-455C-84C9-2FAB3A62FAE7}" srcOrd="10" destOrd="0" presId="urn:microsoft.com/office/officeart/2005/8/layout/list1"/>
    <dgm:cxn modelId="{959032A9-9758-48E1-BE4B-A355740A39C2}" type="presParOf" srcId="{C1AA9C81-1474-480A-A66E-C2ABCB2CA585}" destId="{A1C46E5A-74A7-46B0-8345-6748A3DF62C1}" srcOrd="11" destOrd="0" presId="urn:microsoft.com/office/officeart/2005/8/layout/list1"/>
    <dgm:cxn modelId="{4B1940E6-9E1A-43D7-AB81-9171B7BA8274}" type="presParOf" srcId="{C1AA9C81-1474-480A-A66E-C2ABCB2CA585}" destId="{89F3CC96-C170-4842-834D-569461AA3A00}" srcOrd="12" destOrd="0" presId="urn:microsoft.com/office/officeart/2005/8/layout/list1"/>
    <dgm:cxn modelId="{8A90DC49-668F-4A09-8480-424CB10514D6}" type="presParOf" srcId="{89F3CC96-C170-4842-834D-569461AA3A00}" destId="{F639B61B-DF05-42ED-ADF2-74BB7FDF6DBC}" srcOrd="0" destOrd="0" presId="urn:microsoft.com/office/officeart/2005/8/layout/list1"/>
    <dgm:cxn modelId="{4640A5F1-E321-4FBC-AF0A-A1A62E061F99}" type="presParOf" srcId="{89F3CC96-C170-4842-834D-569461AA3A00}" destId="{B9B02FE8-1890-49CF-84F5-CD45189FB319}" srcOrd="1" destOrd="0" presId="urn:microsoft.com/office/officeart/2005/8/layout/list1"/>
    <dgm:cxn modelId="{3B944451-5B1A-4594-9715-C7CF5F24A061}" type="presParOf" srcId="{C1AA9C81-1474-480A-A66E-C2ABCB2CA585}" destId="{D0EA6727-F1FB-4981-8430-A1F9250B61D9}" srcOrd="13" destOrd="0" presId="urn:microsoft.com/office/officeart/2005/8/layout/list1"/>
    <dgm:cxn modelId="{F7EC5FDD-25AB-43FB-AA2D-9B114418C45A}" type="presParOf" srcId="{C1AA9C81-1474-480A-A66E-C2ABCB2CA585}" destId="{49E4D3CD-EE36-439A-927D-47FDD436767F}" srcOrd="14" destOrd="0" presId="urn:microsoft.com/office/officeart/2005/8/layout/list1"/>
    <dgm:cxn modelId="{A211B863-2C01-45F8-9C28-EE10D78F21C3}" type="presParOf" srcId="{C1AA9C81-1474-480A-A66E-C2ABCB2CA585}" destId="{A0666632-6EE6-4AFB-AD71-5FDA76C11C28}" srcOrd="15" destOrd="0" presId="urn:microsoft.com/office/officeart/2005/8/layout/list1"/>
    <dgm:cxn modelId="{BE7D5C75-7650-4A08-BA2B-B524A80EFECA}" type="presParOf" srcId="{C1AA9C81-1474-480A-A66E-C2ABCB2CA585}" destId="{55C7CDDF-5ED5-49CF-A71C-A80F36F7DA90}" srcOrd="16" destOrd="0" presId="urn:microsoft.com/office/officeart/2005/8/layout/list1"/>
    <dgm:cxn modelId="{472B75D3-B693-476B-A51A-68BD28696D1E}" type="presParOf" srcId="{55C7CDDF-5ED5-49CF-A71C-A80F36F7DA90}" destId="{7AA3E577-9CEB-4C81-B808-3062A8C9BFAC}" srcOrd="0" destOrd="0" presId="urn:microsoft.com/office/officeart/2005/8/layout/list1"/>
    <dgm:cxn modelId="{4B93685C-A9C6-4915-8A7A-6D7918A775BF}" type="presParOf" srcId="{55C7CDDF-5ED5-49CF-A71C-A80F36F7DA90}" destId="{21D3D652-6707-4519-A9CB-3ACB70B22801}" srcOrd="1" destOrd="0" presId="urn:microsoft.com/office/officeart/2005/8/layout/list1"/>
    <dgm:cxn modelId="{2EA916F1-4B58-43DE-8F29-744CECA4C111}" type="presParOf" srcId="{C1AA9C81-1474-480A-A66E-C2ABCB2CA585}" destId="{2965E82D-8AF6-4EEF-957C-47C7DE39957F}" srcOrd="17" destOrd="0" presId="urn:microsoft.com/office/officeart/2005/8/layout/list1"/>
    <dgm:cxn modelId="{AE39755C-BAE9-4D9F-B497-38F0CA5848F5}" type="presParOf" srcId="{C1AA9C81-1474-480A-A66E-C2ABCB2CA585}" destId="{113A4BA3-D4EF-4678-B911-ECA872D67FCC}" srcOrd="18" destOrd="0" presId="urn:microsoft.com/office/officeart/2005/8/layout/list1"/>
    <dgm:cxn modelId="{34BAE097-348F-439B-9FA5-C76ECD74E2A2}" type="presParOf" srcId="{C1AA9C81-1474-480A-A66E-C2ABCB2CA585}" destId="{98ED6BD7-86E9-4AF9-9484-58CDEE069203}" srcOrd="19" destOrd="0" presId="urn:microsoft.com/office/officeart/2005/8/layout/list1"/>
    <dgm:cxn modelId="{D9CC4A77-8916-4034-85F8-304ACA46A625}" type="presParOf" srcId="{C1AA9C81-1474-480A-A66E-C2ABCB2CA585}" destId="{E63E5449-0240-4140-8C81-9C25AC5C7756}" srcOrd="20" destOrd="0" presId="urn:microsoft.com/office/officeart/2005/8/layout/list1"/>
    <dgm:cxn modelId="{F3E33DE5-FFE8-460D-BF0B-49B01C117D53}" type="presParOf" srcId="{E63E5449-0240-4140-8C81-9C25AC5C7756}" destId="{4F0FC1C4-C1C6-490A-B52A-D9B1D6A4BED9}" srcOrd="0" destOrd="0" presId="urn:microsoft.com/office/officeart/2005/8/layout/list1"/>
    <dgm:cxn modelId="{6F96C3DF-DCE0-4AD3-8E31-007A050BCF7C}" type="presParOf" srcId="{E63E5449-0240-4140-8C81-9C25AC5C7756}" destId="{27FE4332-6169-4038-8AC6-4B163C1412B3}" srcOrd="1" destOrd="0" presId="urn:microsoft.com/office/officeart/2005/8/layout/list1"/>
    <dgm:cxn modelId="{74CD5FAC-4FFB-4695-A948-C9DB4343B294}" type="presParOf" srcId="{C1AA9C81-1474-480A-A66E-C2ABCB2CA585}" destId="{F3A3EF54-A752-44F7-BB7A-540AF3832ABA}" srcOrd="21" destOrd="0" presId="urn:microsoft.com/office/officeart/2005/8/layout/list1"/>
    <dgm:cxn modelId="{0BCFCBF9-5139-48B7-8414-C49CBBF0369E}" type="presParOf" srcId="{C1AA9C81-1474-480A-A66E-C2ABCB2CA585}" destId="{F40B6CFE-EFB2-4320-A989-AEDAA15B6710}"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9AE737-710E-4801-8328-2C02E45E3BD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CCCF55A-8210-4356-A4DC-933F71BCFDE7}">
      <dgm:prSet phldrT="[Text]" custT="1"/>
      <dgm:spPr/>
      <dgm:t>
        <a:bodyPr/>
        <a:lstStyle/>
        <a:p>
          <a:r>
            <a:rPr lang="en-US" sz="1400" b="0" dirty="0"/>
            <a:t>Deposit – Loan Balance Alignment</a:t>
          </a:r>
        </a:p>
      </dgm:t>
    </dgm:pt>
    <dgm:pt modelId="{55098BCB-8F8E-42BE-AE92-E9A0C3985BE0}" type="parTrans" cxnId="{C9EA9A5F-51E6-4685-A22C-CA5F321673BA}">
      <dgm:prSet/>
      <dgm:spPr/>
      <dgm:t>
        <a:bodyPr/>
        <a:lstStyle/>
        <a:p>
          <a:endParaRPr lang="en-US"/>
        </a:p>
      </dgm:t>
    </dgm:pt>
    <dgm:pt modelId="{869CC62C-C99F-4A86-864A-B2A1D82ED572}" type="sibTrans" cxnId="{C9EA9A5F-51E6-4685-A22C-CA5F321673BA}">
      <dgm:prSet/>
      <dgm:spPr/>
      <dgm:t>
        <a:bodyPr/>
        <a:lstStyle/>
        <a:p>
          <a:endParaRPr lang="en-US"/>
        </a:p>
      </dgm:t>
    </dgm:pt>
    <dgm:pt modelId="{21209BFA-DEDD-4A91-8A41-6DC55680329F}">
      <dgm:prSet phldrT="[Text]"/>
      <dgm:spPr/>
      <dgm:t>
        <a:bodyPr/>
        <a:lstStyle/>
        <a:p>
          <a:r>
            <a:rPr lang="en-US" dirty="0"/>
            <a:t>Deposits that meaningfully offset credit exposure</a:t>
          </a:r>
        </a:p>
      </dgm:t>
    </dgm:pt>
    <dgm:pt modelId="{A2F886C4-4232-4C28-A1BD-6B8663741090}" type="parTrans" cxnId="{0D1FFE1B-9CBC-4388-AB0F-544337E1700A}">
      <dgm:prSet/>
      <dgm:spPr/>
      <dgm:t>
        <a:bodyPr/>
        <a:lstStyle/>
        <a:p>
          <a:endParaRPr lang="en-US"/>
        </a:p>
      </dgm:t>
    </dgm:pt>
    <dgm:pt modelId="{176BB72B-0FD4-461B-B78E-B23746940679}" type="sibTrans" cxnId="{0D1FFE1B-9CBC-4388-AB0F-544337E1700A}">
      <dgm:prSet/>
      <dgm:spPr/>
      <dgm:t>
        <a:bodyPr/>
        <a:lstStyle/>
        <a:p>
          <a:endParaRPr lang="en-US"/>
        </a:p>
      </dgm:t>
    </dgm:pt>
    <dgm:pt modelId="{AD036724-9B23-4446-B91B-3D5A68D7A611}">
      <dgm:prSet phldrT="[Text]" custT="1"/>
      <dgm:spPr/>
      <dgm:t>
        <a:bodyPr/>
        <a:lstStyle/>
        <a:p>
          <a:r>
            <a:rPr lang="en-US" sz="1400" dirty="0"/>
            <a:t>Stable Risk Rating</a:t>
          </a:r>
        </a:p>
      </dgm:t>
    </dgm:pt>
    <dgm:pt modelId="{20E130C1-50FC-4927-9B01-2ABAA74F5508}" type="parTrans" cxnId="{CDC750B1-F057-4F10-97A8-5ACC620C45DA}">
      <dgm:prSet/>
      <dgm:spPr/>
      <dgm:t>
        <a:bodyPr/>
        <a:lstStyle/>
        <a:p>
          <a:endParaRPr lang="en-US"/>
        </a:p>
      </dgm:t>
    </dgm:pt>
    <dgm:pt modelId="{E2FD38FC-FD8D-4BF6-9548-2282B6F418BB}" type="sibTrans" cxnId="{CDC750B1-F057-4F10-97A8-5ACC620C45DA}">
      <dgm:prSet/>
      <dgm:spPr/>
      <dgm:t>
        <a:bodyPr/>
        <a:lstStyle/>
        <a:p>
          <a:endParaRPr lang="en-US"/>
        </a:p>
      </dgm:t>
    </dgm:pt>
    <dgm:pt modelId="{755593B7-3A4E-49CA-B97F-A10EBDED23CB}">
      <dgm:prSet phldrT="[Text]"/>
      <dgm:spPr/>
      <dgm:t>
        <a:bodyPr/>
        <a:lstStyle/>
        <a:p>
          <a:r>
            <a:rPr lang="en-US" dirty="0"/>
            <a:t>No recent downgrades or emerging credit concerns</a:t>
          </a:r>
        </a:p>
      </dgm:t>
    </dgm:pt>
    <dgm:pt modelId="{85C84528-D592-4FB6-B427-1764926542ED}" type="parTrans" cxnId="{7FF062FD-B38E-412D-80EC-48FE10782CB8}">
      <dgm:prSet/>
      <dgm:spPr/>
      <dgm:t>
        <a:bodyPr/>
        <a:lstStyle/>
        <a:p>
          <a:endParaRPr lang="en-US"/>
        </a:p>
      </dgm:t>
    </dgm:pt>
    <dgm:pt modelId="{D1483361-7720-4D7E-B0E1-CAC30617B69C}" type="sibTrans" cxnId="{7FF062FD-B38E-412D-80EC-48FE10782CB8}">
      <dgm:prSet/>
      <dgm:spPr/>
      <dgm:t>
        <a:bodyPr/>
        <a:lstStyle/>
        <a:p>
          <a:endParaRPr lang="en-US"/>
        </a:p>
      </dgm:t>
    </dgm:pt>
    <dgm:pt modelId="{21C60D2A-2798-460C-906D-0DFFFEE9DC53}">
      <dgm:prSet phldrT="[Text]" custT="1"/>
      <dgm:spPr/>
      <dgm:t>
        <a:bodyPr/>
        <a:lstStyle/>
        <a:p>
          <a:r>
            <a:rPr lang="en-US" sz="1400" dirty="0"/>
            <a:t>Relationship Profitability</a:t>
          </a:r>
        </a:p>
      </dgm:t>
    </dgm:pt>
    <dgm:pt modelId="{23A18144-2B46-45CE-9859-FBE7537955C4}" type="parTrans" cxnId="{9BC5AB8F-ABE8-4C30-B23F-983DAC3EA62C}">
      <dgm:prSet/>
      <dgm:spPr/>
      <dgm:t>
        <a:bodyPr/>
        <a:lstStyle/>
        <a:p>
          <a:endParaRPr lang="en-US"/>
        </a:p>
      </dgm:t>
    </dgm:pt>
    <dgm:pt modelId="{34E14730-9219-4E05-8DF6-19ED366A45BD}" type="sibTrans" cxnId="{9BC5AB8F-ABE8-4C30-B23F-983DAC3EA62C}">
      <dgm:prSet/>
      <dgm:spPr/>
      <dgm:t>
        <a:bodyPr/>
        <a:lstStyle/>
        <a:p>
          <a:endParaRPr lang="en-US"/>
        </a:p>
      </dgm:t>
    </dgm:pt>
    <dgm:pt modelId="{E2476CC6-A157-4465-9914-06D9E4425576}">
      <dgm:prSet phldrT="[Text]"/>
      <dgm:spPr/>
      <dgm:t>
        <a:bodyPr/>
        <a:lstStyle/>
        <a:p>
          <a:r>
            <a:rPr lang="en-US" dirty="0"/>
            <a:t>Spreads, fees, and services that meet profitability targets</a:t>
          </a:r>
        </a:p>
      </dgm:t>
    </dgm:pt>
    <dgm:pt modelId="{FECEBD4A-ACDA-4B3E-8016-98DA0EFBC423}" type="parTrans" cxnId="{A81DF51B-843B-4625-8287-96D7D8F995A9}">
      <dgm:prSet/>
      <dgm:spPr/>
      <dgm:t>
        <a:bodyPr/>
        <a:lstStyle/>
        <a:p>
          <a:endParaRPr lang="en-US"/>
        </a:p>
      </dgm:t>
    </dgm:pt>
    <dgm:pt modelId="{BF90B9C2-FD49-47EC-9718-6ABD065C2759}" type="sibTrans" cxnId="{A81DF51B-843B-4625-8287-96D7D8F995A9}">
      <dgm:prSet/>
      <dgm:spPr/>
      <dgm:t>
        <a:bodyPr/>
        <a:lstStyle/>
        <a:p>
          <a:endParaRPr lang="en-US"/>
        </a:p>
      </dgm:t>
    </dgm:pt>
    <dgm:pt modelId="{6C0FBC43-23AA-45E8-B393-36495798E286}">
      <dgm:prSet phldrT="[Text]" custT="1"/>
      <dgm:spPr/>
      <dgm:t>
        <a:bodyPr/>
        <a:lstStyle/>
        <a:p>
          <a:r>
            <a:rPr lang="en-US" sz="1400" dirty="0"/>
            <a:t>Clean payment Behavior </a:t>
          </a:r>
        </a:p>
      </dgm:t>
    </dgm:pt>
    <dgm:pt modelId="{A3E64F41-3AEF-45D0-B697-C47DCB2F9FE1}" type="parTrans" cxnId="{4F266740-E692-4B38-B2D7-D8E23CE50988}">
      <dgm:prSet/>
      <dgm:spPr/>
      <dgm:t>
        <a:bodyPr/>
        <a:lstStyle/>
        <a:p>
          <a:endParaRPr lang="en-US"/>
        </a:p>
      </dgm:t>
    </dgm:pt>
    <dgm:pt modelId="{0F06D734-95D3-4B1A-8057-433A0AF32AFC}" type="sibTrans" cxnId="{4F266740-E692-4B38-B2D7-D8E23CE50988}">
      <dgm:prSet/>
      <dgm:spPr/>
      <dgm:t>
        <a:bodyPr/>
        <a:lstStyle/>
        <a:p>
          <a:endParaRPr lang="en-US"/>
        </a:p>
      </dgm:t>
    </dgm:pt>
    <dgm:pt modelId="{AADF57F6-1595-497F-82A9-5E90F9EEB443}">
      <dgm:prSet phldrT="[Text]" custT="1"/>
      <dgm:spPr/>
      <dgm:t>
        <a:bodyPr/>
        <a:lstStyle/>
        <a:p>
          <a:r>
            <a:rPr lang="en-US" sz="1400" dirty="0"/>
            <a:t>Transparent Communication</a:t>
          </a:r>
        </a:p>
      </dgm:t>
    </dgm:pt>
    <dgm:pt modelId="{E89B47FC-F059-4F8A-B111-58357323CFCE}" type="parTrans" cxnId="{065C9A5C-370C-42ED-AC26-40C1240CA5B2}">
      <dgm:prSet/>
      <dgm:spPr/>
      <dgm:t>
        <a:bodyPr/>
        <a:lstStyle/>
        <a:p>
          <a:endParaRPr lang="en-US"/>
        </a:p>
      </dgm:t>
    </dgm:pt>
    <dgm:pt modelId="{349D8F00-A9F1-4A28-B829-EDE8AFB1BEB9}" type="sibTrans" cxnId="{065C9A5C-370C-42ED-AC26-40C1240CA5B2}">
      <dgm:prSet/>
      <dgm:spPr/>
      <dgm:t>
        <a:bodyPr/>
        <a:lstStyle/>
        <a:p>
          <a:endParaRPr lang="en-US"/>
        </a:p>
      </dgm:t>
    </dgm:pt>
    <dgm:pt modelId="{3753ED80-1B03-4F5D-AC43-82F9CFFB5AA9}">
      <dgm:prSet phldrT="[Text]"/>
      <dgm:spPr/>
      <dgm:t>
        <a:bodyPr/>
        <a:lstStyle/>
        <a:p>
          <a:r>
            <a:rPr lang="en-US" dirty="0"/>
            <a:t>Borrower responsiveness and proactive financial updates</a:t>
          </a:r>
        </a:p>
      </dgm:t>
    </dgm:pt>
    <dgm:pt modelId="{0158E617-7C72-4F06-ABFB-978C3EB5F900}" type="parTrans" cxnId="{D07C593B-4603-46BA-B1FE-F49D4DE21C71}">
      <dgm:prSet/>
      <dgm:spPr/>
      <dgm:t>
        <a:bodyPr/>
        <a:lstStyle/>
        <a:p>
          <a:endParaRPr lang="en-US"/>
        </a:p>
      </dgm:t>
    </dgm:pt>
    <dgm:pt modelId="{8B46CC9E-11A5-45B1-8D7E-7F3BD3DE7C08}" type="sibTrans" cxnId="{D07C593B-4603-46BA-B1FE-F49D4DE21C71}">
      <dgm:prSet/>
      <dgm:spPr/>
      <dgm:t>
        <a:bodyPr/>
        <a:lstStyle/>
        <a:p>
          <a:endParaRPr lang="en-US"/>
        </a:p>
      </dgm:t>
    </dgm:pt>
    <dgm:pt modelId="{91395222-8A82-4C3D-8985-9F615B85E4B2}">
      <dgm:prSet phldrT="[Text]"/>
      <dgm:spPr/>
      <dgm:t>
        <a:bodyPr/>
        <a:lstStyle/>
        <a:p>
          <a:r>
            <a:rPr lang="en-US" dirty="0"/>
            <a:t>On time payments, low volatility, no recurring exceptions</a:t>
          </a:r>
        </a:p>
      </dgm:t>
    </dgm:pt>
    <dgm:pt modelId="{EE38ACFD-977E-435A-B05D-12D663A84ECE}" type="parTrans" cxnId="{1B4A6323-1D2B-46DD-8D44-15C5D80E7792}">
      <dgm:prSet/>
      <dgm:spPr/>
      <dgm:t>
        <a:bodyPr/>
        <a:lstStyle/>
        <a:p>
          <a:endParaRPr lang="en-US"/>
        </a:p>
      </dgm:t>
    </dgm:pt>
    <dgm:pt modelId="{975A624B-A9D0-4B65-9034-70B2DD8275CC}" type="sibTrans" cxnId="{1B4A6323-1D2B-46DD-8D44-15C5D80E7792}">
      <dgm:prSet/>
      <dgm:spPr/>
      <dgm:t>
        <a:bodyPr/>
        <a:lstStyle/>
        <a:p>
          <a:endParaRPr lang="en-US"/>
        </a:p>
      </dgm:t>
    </dgm:pt>
    <dgm:pt modelId="{494E2FE8-E510-437F-82BA-5A59376CF451}">
      <dgm:prSet phldrT="[Text]" custT="1"/>
      <dgm:spPr/>
      <dgm:t>
        <a:bodyPr/>
        <a:lstStyle/>
        <a:p>
          <a:r>
            <a:rPr lang="en-US" sz="1400" dirty="0"/>
            <a:t>Engagement &amp; Activity </a:t>
          </a:r>
        </a:p>
      </dgm:t>
    </dgm:pt>
    <dgm:pt modelId="{5C132B63-D01E-4C6E-8044-59AD49780840}" type="parTrans" cxnId="{B749DB7F-D2A1-4E76-B61E-B80EA6F222E1}">
      <dgm:prSet/>
      <dgm:spPr/>
      <dgm:t>
        <a:bodyPr/>
        <a:lstStyle/>
        <a:p>
          <a:endParaRPr lang="en-US"/>
        </a:p>
      </dgm:t>
    </dgm:pt>
    <dgm:pt modelId="{D63DFDCA-5EBB-4079-A093-6830692B0218}" type="sibTrans" cxnId="{B749DB7F-D2A1-4E76-B61E-B80EA6F222E1}">
      <dgm:prSet/>
      <dgm:spPr/>
      <dgm:t>
        <a:bodyPr/>
        <a:lstStyle/>
        <a:p>
          <a:endParaRPr lang="en-US"/>
        </a:p>
      </dgm:t>
    </dgm:pt>
    <dgm:pt modelId="{91A3DA01-D6F3-4D07-B0D8-E13E915A38E3}">
      <dgm:prSet phldrT="[Text]"/>
      <dgm:spPr/>
      <dgm:t>
        <a:bodyPr/>
        <a:lstStyle/>
        <a:p>
          <a:r>
            <a:rPr lang="en-US" dirty="0"/>
            <a:t>Active accounts, treasury services, and consistent deposit flows</a:t>
          </a:r>
        </a:p>
      </dgm:t>
    </dgm:pt>
    <dgm:pt modelId="{0C744EE9-BC18-4E73-A4AB-CF4C22F070CE}" type="parTrans" cxnId="{30969D54-E97C-4B59-9B84-902D5EB03EE8}">
      <dgm:prSet/>
      <dgm:spPr/>
      <dgm:t>
        <a:bodyPr/>
        <a:lstStyle/>
        <a:p>
          <a:endParaRPr lang="en-US"/>
        </a:p>
      </dgm:t>
    </dgm:pt>
    <dgm:pt modelId="{5106F40F-AB2B-473C-9A92-FC9ECB85F361}" type="sibTrans" cxnId="{30969D54-E97C-4B59-9B84-902D5EB03EE8}">
      <dgm:prSet/>
      <dgm:spPr/>
      <dgm:t>
        <a:bodyPr/>
        <a:lstStyle/>
        <a:p>
          <a:endParaRPr lang="en-US"/>
        </a:p>
      </dgm:t>
    </dgm:pt>
    <dgm:pt modelId="{DD073ECA-0219-4BD4-87D5-85A1D9EC1D66}" type="pres">
      <dgm:prSet presAssocID="{C89AE737-710E-4801-8328-2C02E45E3BDC}" presName="linear" presStyleCnt="0">
        <dgm:presLayoutVars>
          <dgm:dir/>
          <dgm:animLvl val="lvl"/>
          <dgm:resizeHandles val="exact"/>
        </dgm:presLayoutVars>
      </dgm:prSet>
      <dgm:spPr/>
    </dgm:pt>
    <dgm:pt modelId="{96952CB7-AF39-45D6-8312-8D2E7243B2C3}" type="pres">
      <dgm:prSet presAssocID="{ACCCF55A-8210-4356-A4DC-933F71BCFDE7}" presName="parentLin" presStyleCnt="0"/>
      <dgm:spPr/>
    </dgm:pt>
    <dgm:pt modelId="{8F163FC9-3CF7-463E-A8AB-DF3E4734490C}" type="pres">
      <dgm:prSet presAssocID="{ACCCF55A-8210-4356-A4DC-933F71BCFDE7}" presName="parentLeftMargin" presStyleLbl="node1" presStyleIdx="0" presStyleCnt="6"/>
      <dgm:spPr/>
    </dgm:pt>
    <dgm:pt modelId="{B531083C-A9CB-408F-940A-282110C3E9CA}" type="pres">
      <dgm:prSet presAssocID="{ACCCF55A-8210-4356-A4DC-933F71BCFDE7}" presName="parentText" presStyleLbl="node1" presStyleIdx="0" presStyleCnt="6">
        <dgm:presLayoutVars>
          <dgm:chMax val="0"/>
          <dgm:bulletEnabled val="1"/>
        </dgm:presLayoutVars>
      </dgm:prSet>
      <dgm:spPr/>
    </dgm:pt>
    <dgm:pt modelId="{A88C637F-3255-4D32-8D82-4DE5CF66E713}" type="pres">
      <dgm:prSet presAssocID="{ACCCF55A-8210-4356-A4DC-933F71BCFDE7}" presName="negativeSpace" presStyleCnt="0"/>
      <dgm:spPr/>
    </dgm:pt>
    <dgm:pt modelId="{CD3A77AD-A213-4D0E-9C4A-FD363627C615}" type="pres">
      <dgm:prSet presAssocID="{ACCCF55A-8210-4356-A4DC-933F71BCFDE7}" presName="childText" presStyleLbl="conFgAcc1" presStyleIdx="0" presStyleCnt="6">
        <dgm:presLayoutVars>
          <dgm:bulletEnabled val="1"/>
        </dgm:presLayoutVars>
      </dgm:prSet>
      <dgm:spPr/>
    </dgm:pt>
    <dgm:pt modelId="{56C54875-449F-4286-8645-C356A64309F4}" type="pres">
      <dgm:prSet presAssocID="{869CC62C-C99F-4A86-864A-B2A1D82ED572}" presName="spaceBetweenRectangles" presStyleCnt="0"/>
      <dgm:spPr/>
    </dgm:pt>
    <dgm:pt modelId="{29246258-C529-45BF-A58D-D914B7CC5641}" type="pres">
      <dgm:prSet presAssocID="{AD036724-9B23-4446-B91B-3D5A68D7A611}" presName="parentLin" presStyleCnt="0"/>
      <dgm:spPr/>
    </dgm:pt>
    <dgm:pt modelId="{BD659E28-2C03-4B01-9A07-AFF5AD100410}" type="pres">
      <dgm:prSet presAssocID="{AD036724-9B23-4446-B91B-3D5A68D7A611}" presName="parentLeftMargin" presStyleLbl="node1" presStyleIdx="0" presStyleCnt="6"/>
      <dgm:spPr/>
    </dgm:pt>
    <dgm:pt modelId="{815AEABA-0335-410B-98EE-0DDD8D9E4E1D}" type="pres">
      <dgm:prSet presAssocID="{AD036724-9B23-4446-B91B-3D5A68D7A611}" presName="parentText" presStyleLbl="node1" presStyleIdx="1" presStyleCnt="6">
        <dgm:presLayoutVars>
          <dgm:chMax val="0"/>
          <dgm:bulletEnabled val="1"/>
        </dgm:presLayoutVars>
      </dgm:prSet>
      <dgm:spPr/>
    </dgm:pt>
    <dgm:pt modelId="{6865DCAD-4FF5-44D9-B4F8-E68D9B43770B}" type="pres">
      <dgm:prSet presAssocID="{AD036724-9B23-4446-B91B-3D5A68D7A611}" presName="negativeSpace" presStyleCnt="0"/>
      <dgm:spPr/>
    </dgm:pt>
    <dgm:pt modelId="{BB16E86C-B303-43EC-B377-CC1B93874616}" type="pres">
      <dgm:prSet presAssocID="{AD036724-9B23-4446-B91B-3D5A68D7A611}" presName="childText" presStyleLbl="conFgAcc1" presStyleIdx="1" presStyleCnt="6">
        <dgm:presLayoutVars>
          <dgm:bulletEnabled val="1"/>
        </dgm:presLayoutVars>
      </dgm:prSet>
      <dgm:spPr/>
    </dgm:pt>
    <dgm:pt modelId="{DBB74EA2-65B6-4899-B5E2-7BF7A6C3AE59}" type="pres">
      <dgm:prSet presAssocID="{E2FD38FC-FD8D-4BF6-9548-2282B6F418BB}" presName="spaceBetweenRectangles" presStyleCnt="0"/>
      <dgm:spPr/>
    </dgm:pt>
    <dgm:pt modelId="{A9FC9B2C-82F0-4426-84FD-D292E0A5CB1C}" type="pres">
      <dgm:prSet presAssocID="{21C60D2A-2798-460C-906D-0DFFFEE9DC53}" presName="parentLin" presStyleCnt="0"/>
      <dgm:spPr/>
    </dgm:pt>
    <dgm:pt modelId="{B3B5BCCA-C31F-4F85-9289-D41C345CCED1}" type="pres">
      <dgm:prSet presAssocID="{21C60D2A-2798-460C-906D-0DFFFEE9DC53}" presName="parentLeftMargin" presStyleLbl="node1" presStyleIdx="1" presStyleCnt="6"/>
      <dgm:spPr/>
    </dgm:pt>
    <dgm:pt modelId="{3BFA8DFD-235A-4252-A1DF-0D60A04B657A}" type="pres">
      <dgm:prSet presAssocID="{21C60D2A-2798-460C-906D-0DFFFEE9DC53}" presName="parentText" presStyleLbl="node1" presStyleIdx="2" presStyleCnt="6">
        <dgm:presLayoutVars>
          <dgm:chMax val="0"/>
          <dgm:bulletEnabled val="1"/>
        </dgm:presLayoutVars>
      </dgm:prSet>
      <dgm:spPr/>
    </dgm:pt>
    <dgm:pt modelId="{53A86A06-3AB5-47A7-B220-D41CBA50E1B5}" type="pres">
      <dgm:prSet presAssocID="{21C60D2A-2798-460C-906D-0DFFFEE9DC53}" presName="negativeSpace" presStyleCnt="0"/>
      <dgm:spPr/>
    </dgm:pt>
    <dgm:pt modelId="{69822406-C649-4CB8-8A3E-092BFAECF3A4}" type="pres">
      <dgm:prSet presAssocID="{21C60D2A-2798-460C-906D-0DFFFEE9DC53}" presName="childText" presStyleLbl="conFgAcc1" presStyleIdx="2" presStyleCnt="6">
        <dgm:presLayoutVars>
          <dgm:bulletEnabled val="1"/>
        </dgm:presLayoutVars>
      </dgm:prSet>
      <dgm:spPr/>
    </dgm:pt>
    <dgm:pt modelId="{05301605-4A4B-4059-813E-CC7D5B706433}" type="pres">
      <dgm:prSet presAssocID="{34E14730-9219-4E05-8DF6-19ED366A45BD}" presName="spaceBetweenRectangles" presStyleCnt="0"/>
      <dgm:spPr/>
    </dgm:pt>
    <dgm:pt modelId="{CD149B18-8760-4237-8B92-ED0C4F242754}" type="pres">
      <dgm:prSet presAssocID="{6C0FBC43-23AA-45E8-B393-36495798E286}" presName="parentLin" presStyleCnt="0"/>
      <dgm:spPr/>
    </dgm:pt>
    <dgm:pt modelId="{02026162-C68D-4139-82A5-C8FDCACF465D}" type="pres">
      <dgm:prSet presAssocID="{6C0FBC43-23AA-45E8-B393-36495798E286}" presName="parentLeftMargin" presStyleLbl="node1" presStyleIdx="2" presStyleCnt="6"/>
      <dgm:spPr/>
    </dgm:pt>
    <dgm:pt modelId="{3A2826E3-20F4-4814-B81F-D6C0976CED65}" type="pres">
      <dgm:prSet presAssocID="{6C0FBC43-23AA-45E8-B393-36495798E286}" presName="parentText" presStyleLbl="node1" presStyleIdx="3" presStyleCnt="6">
        <dgm:presLayoutVars>
          <dgm:chMax val="0"/>
          <dgm:bulletEnabled val="1"/>
        </dgm:presLayoutVars>
      </dgm:prSet>
      <dgm:spPr/>
    </dgm:pt>
    <dgm:pt modelId="{00F2329D-20C1-4285-ABB5-0A6FB370D014}" type="pres">
      <dgm:prSet presAssocID="{6C0FBC43-23AA-45E8-B393-36495798E286}" presName="negativeSpace" presStyleCnt="0"/>
      <dgm:spPr/>
    </dgm:pt>
    <dgm:pt modelId="{CF309E4E-F827-40EF-B4A7-14C8689A87D5}" type="pres">
      <dgm:prSet presAssocID="{6C0FBC43-23AA-45E8-B393-36495798E286}" presName="childText" presStyleLbl="conFgAcc1" presStyleIdx="3" presStyleCnt="6">
        <dgm:presLayoutVars>
          <dgm:bulletEnabled val="1"/>
        </dgm:presLayoutVars>
      </dgm:prSet>
      <dgm:spPr/>
    </dgm:pt>
    <dgm:pt modelId="{823B7439-6566-42E8-989C-180B2D62ACF5}" type="pres">
      <dgm:prSet presAssocID="{0F06D734-95D3-4B1A-8057-433A0AF32AFC}" presName="spaceBetweenRectangles" presStyleCnt="0"/>
      <dgm:spPr/>
    </dgm:pt>
    <dgm:pt modelId="{22C7DD0E-1800-4495-9CA3-D30A59067A34}" type="pres">
      <dgm:prSet presAssocID="{494E2FE8-E510-437F-82BA-5A59376CF451}" presName="parentLin" presStyleCnt="0"/>
      <dgm:spPr/>
    </dgm:pt>
    <dgm:pt modelId="{71CB0566-F0BE-465E-A900-627783E111E3}" type="pres">
      <dgm:prSet presAssocID="{494E2FE8-E510-437F-82BA-5A59376CF451}" presName="parentLeftMargin" presStyleLbl="node1" presStyleIdx="3" presStyleCnt="6"/>
      <dgm:spPr/>
    </dgm:pt>
    <dgm:pt modelId="{E8F1C10B-2F53-41EF-9149-D59C09CD7C57}" type="pres">
      <dgm:prSet presAssocID="{494E2FE8-E510-437F-82BA-5A59376CF451}" presName="parentText" presStyleLbl="node1" presStyleIdx="4" presStyleCnt="6">
        <dgm:presLayoutVars>
          <dgm:chMax val="0"/>
          <dgm:bulletEnabled val="1"/>
        </dgm:presLayoutVars>
      </dgm:prSet>
      <dgm:spPr/>
    </dgm:pt>
    <dgm:pt modelId="{A0EA0F8E-9B95-430A-B14D-B22D40EBF9C3}" type="pres">
      <dgm:prSet presAssocID="{494E2FE8-E510-437F-82BA-5A59376CF451}" presName="negativeSpace" presStyleCnt="0"/>
      <dgm:spPr/>
    </dgm:pt>
    <dgm:pt modelId="{BB14128D-B7AE-4B3F-9393-39A541B0BA6C}" type="pres">
      <dgm:prSet presAssocID="{494E2FE8-E510-437F-82BA-5A59376CF451}" presName="childText" presStyleLbl="conFgAcc1" presStyleIdx="4" presStyleCnt="6">
        <dgm:presLayoutVars>
          <dgm:bulletEnabled val="1"/>
        </dgm:presLayoutVars>
      </dgm:prSet>
      <dgm:spPr/>
    </dgm:pt>
    <dgm:pt modelId="{4EE3CA97-51BD-4C83-BC93-0ED3C1F9F767}" type="pres">
      <dgm:prSet presAssocID="{D63DFDCA-5EBB-4079-A093-6830692B0218}" presName="spaceBetweenRectangles" presStyleCnt="0"/>
      <dgm:spPr/>
    </dgm:pt>
    <dgm:pt modelId="{3D68F1CA-3F3A-4A90-9C04-6B6102326EC0}" type="pres">
      <dgm:prSet presAssocID="{AADF57F6-1595-497F-82A9-5E90F9EEB443}" presName="parentLin" presStyleCnt="0"/>
      <dgm:spPr/>
    </dgm:pt>
    <dgm:pt modelId="{4ECB1A37-70E5-4733-96CA-062B21111E6F}" type="pres">
      <dgm:prSet presAssocID="{AADF57F6-1595-497F-82A9-5E90F9EEB443}" presName="parentLeftMargin" presStyleLbl="node1" presStyleIdx="4" presStyleCnt="6"/>
      <dgm:spPr/>
    </dgm:pt>
    <dgm:pt modelId="{E0F26FFE-2D25-465F-932B-D536EA3D8066}" type="pres">
      <dgm:prSet presAssocID="{AADF57F6-1595-497F-82A9-5E90F9EEB443}" presName="parentText" presStyleLbl="node1" presStyleIdx="5" presStyleCnt="6">
        <dgm:presLayoutVars>
          <dgm:chMax val="0"/>
          <dgm:bulletEnabled val="1"/>
        </dgm:presLayoutVars>
      </dgm:prSet>
      <dgm:spPr/>
    </dgm:pt>
    <dgm:pt modelId="{E2BE08D8-5264-4702-AFF8-9000D37FC32D}" type="pres">
      <dgm:prSet presAssocID="{AADF57F6-1595-497F-82A9-5E90F9EEB443}" presName="negativeSpace" presStyleCnt="0"/>
      <dgm:spPr/>
    </dgm:pt>
    <dgm:pt modelId="{E75B8840-1AA0-4E6F-B20F-8F9C40508D1D}" type="pres">
      <dgm:prSet presAssocID="{AADF57F6-1595-497F-82A9-5E90F9EEB443}" presName="childText" presStyleLbl="conFgAcc1" presStyleIdx="5" presStyleCnt="6">
        <dgm:presLayoutVars>
          <dgm:bulletEnabled val="1"/>
        </dgm:presLayoutVars>
      </dgm:prSet>
      <dgm:spPr/>
    </dgm:pt>
  </dgm:ptLst>
  <dgm:cxnLst>
    <dgm:cxn modelId="{CE571407-E6C7-4D0D-91E9-577354726414}" type="presOf" srcId="{AADF57F6-1595-497F-82A9-5E90F9EEB443}" destId="{E0F26FFE-2D25-465F-932B-D536EA3D8066}" srcOrd="1" destOrd="0" presId="urn:microsoft.com/office/officeart/2005/8/layout/list1"/>
    <dgm:cxn modelId="{4B513C0A-72BF-4339-A2A2-99A844171278}" type="presOf" srcId="{6C0FBC43-23AA-45E8-B393-36495798E286}" destId="{3A2826E3-20F4-4814-B81F-D6C0976CED65}" srcOrd="1" destOrd="0" presId="urn:microsoft.com/office/officeart/2005/8/layout/list1"/>
    <dgm:cxn modelId="{59630E14-C7E2-4A93-BC3E-7ED57DA014D4}" type="presOf" srcId="{21209BFA-DEDD-4A91-8A41-6DC55680329F}" destId="{CD3A77AD-A213-4D0E-9C4A-FD363627C615}" srcOrd="0" destOrd="0" presId="urn:microsoft.com/office/officeart/2005/8/layout/list1"/>
    <dgm:cxn modelId="{A81DF51B-843B-4625-8287-96D7D8F995A9}" srcId="{21C60D2A-2798-460C-906D-0DFFFEE9DC53}" destId="{E2476CC6-A157-4465-9914-06D9E4425576}" srcOrd="0" destOrd="0" parTransId="{FECEBD4A-ACDA-4B3E-8016-98DA0EFBC423}" sibTransId="{BF90B9C2-FD49-47EC-9718-6ABD065C2759}"/>
    <dgm:cxn modelId="{0D1FFE1B-9CBC-4388-AB0F-544337E1700A}" srcId="{ACCCF55A-8210-4356-A4DC-933F71BCFDE7}" destId="{21209BFA-DEDD-4A91-8A41-6DC55680329F}" srcOrd="0" destOrd="0" parTransId="{A2F886C4-4232-4C28-A1BD-6B8663741090}" sibTransId="{176BB72B-0FD4-461B-B78E-B23746940679}"/>
    <dgm:cxn modelId="{1B4A6323-1D2B-46DD-8D44-15C5D80E7792}" srcId="{6C0FBC43-23AA-45E8-B393-36495798E286}" destId="{91395222-8A82-4C3D-8985-9F615B85E4B2}" srcOrd="0" destOrd="0" parTransId="{EE38ACFD-977E-435A-B05D-12D663A84ECE}" sibTransId="{975A624B-A9D0-4B65-9034-70B2DD8275CC}"/>
    <dgm:cxn modelId="{B9D37B28-81EF-41E0-8A60-9636BD1FF39F}" type="presOf" srcId="{91395222-8A82-4C3D-8985-9F615B85E4B2}" destId="{CF309E4E-F827-40EF-B4A7-14C8689A87D5}" srcOrd="0" destOrd="0" presId="urn:microsoft.com/office/officeart/2005/8/layout/list1"/>
    <dgm:cxn modelId="{F004612E-7497-4C49-A32D-4371118145CC}" type="presOf" srcId="{3753ED80-1B03-4F5D-AC43-82F9CFFB5AA9}" destId="{E75B8840-1AA0-4E6F-B20F-8F9C40508D1D}" srcOrd="0" destOrd="0" presId="urn:microsoft.com/office/officeart/2005/8/layout/list1"/>
    <dgm:cxn modelId="{956A4D35-D85A-4E28-9E99-EB1E23FF8668}" type="presOf" srcId="{755593B7-3A4E-49CA-B97F-A10EBDED23CB}" destId="{BB16E86C-B303-43EC-B377-CC1B93874616}" srcOrd="0" destOrd="0" presId="urn:microsoft.com/office/officeart/2005/8/layout/list1"/>
    <dgm:cxn modelId="{BE4D7135-399D-45E8-A1F2-64485D7F11B5}" type="presOf" srcId="{ACCCF55A-8210-4356-A4DC-933F71BCFDE7}" destId="{B531083C-A9CB-408F-940A-282110C3E9CA}" srcOrd="1" destOrd="0" presId="urn:microsoft.com/office/officeart/2005/8/layout/list1"/>
    <dgm:cxn modelId="{D82F8138-7F94-4A6F-B098-01306BFE5A20}" type="presOf" srcId="{21C60D2A-2798-460C-906D-0DFFFEE9DC53}" destId="{B3B5BCCA-C31F-4F85-9289-D41C345CCED1}" srcOrd="0" destOrd="0" presId="urn:microsoft.com/office/officeart/2005/8/layout/list1"/>
    <dgm:cxn modelId="{D07C593B-4603-46BA-B1FE-F49D4DE21C71}" srcId="{AADF57F6-1595-497F-82A9-5E90F9EEB443}" destId="{3753ED80-1B03-4F5D-AC43-82F9CFFB5AA9}" srcOrd="0" destOrd="0" parTransId="{0158E617-7C72-4F06-ABFB-978C3EB5F900}" sibTransId="{8B46CC9E-11A5-45B1-8D7E-7F3BD3DE7C08}"/>
    <dgm:cxn modelId="{4F266740-E692-4B38-B2D7-D8E23CE50988}" srcId="{C89AE737-710E-4801-8328-2C02E45E3BDC}" destId="{6C0FBC43-23AA-45E8-B393-36495798E286}" srcOrd="3" destOrd="0" parTransId="{A3E64F41-3AEF-45D0-B697-C47DCB2F9FE1}" sibTransId="{0F06D734-95D3-4B1A-8057-433A0AF32AFC}"/>
    <dgm:cxn modelId="{065C9A5C-370C-42ED-AC26-40C1240CA5B2}" srcId="{C89AE737-710E-4801-8328-2C02E45E3BDC}" destId="{AADF57F6-1595-497F-82A9-5E90F9EEB443}" srcOrd="5" destOrd="0" parTransId="{E89B47FC-F059-4F8A-B111-58357323CFCE}" sibTransId="{349D8F00-A9F1-4A28-B829-EDE8AFB1BEB9}"/>
    <dgm:cxn modelId="{C9EA9A5F-51E6-4685-A22C-CA5F321673BA}" srcId="{C89AE737-710E-4801-8328-2C02E45E3BDC}" destId="{ACCCF55A-8210-4356-A4DC-933F71BCFDE7}" srcOrd="0" destOrd="0" parTransId="{55098BCB-8F8E-42BE-AE92-E9A0C3985BE0}" sibTransId="{869CC62C-C99F-4A86-864A-B2A1D82ED572}"/>
    <dgm:cxn modelId="{8E4ADB66-6F55-408E-9AA0-7B3E37920603}" type="presOf" srcId="{AD036724-9B23-4446-B91B-3D5A68D7A611}" destId="{BD659E28-2C03-4B01-9A07-AFF5AD100410}" srcOrd="0" destOrd="0" presId="urn:microsoft.com/office/officeart/2005/8/layout/list1"/>
    <dgm:cxn modelId="{F5B0D350-F310-4FD8-AB13-C9FC19826C73}" type="presOf" srcId="{ACCCF55A-8210-4356-A4DC-933F71BCFDE7}" destId="{8F163FC9-3CF7-463E-A8AB-DF3E4734490C}" srcOrd="0" destOrd="0" presId="urn:microsoft.com/office/officeart/2005/8/layout/list1"/>
    <dgm:cxn modelId="{30969D54-E97C-4B59-9B84-902D5EB03EE8}" srcId="{494E2FE8-E510-437F-82BA-5A59376CF451}" destId="{91A3DA01-D6F3-4D07-B0D8-E13E915A38E3}" srcOrd="0" destOrd="0" parTransId="{0C744EE9-BC18-4E73-A4AB-CF4C22F070CE}" sibTransId="{5106F40F-AB2B-473C-9A92-FC9ECB85F361}"/>
    <dgm:cxn modelId="{B749DB7F-D2A1-4E76-B61E-B80EA6F222E1}" srcId="{C89AE737-710E-4801-8328-2C02E45E3BDC}" destId="{494E2FE8-E510-437F-82BA-5A59376CF451}" srcOrd="4" destOrd="0" parTransId="{5C132B63-D01E-4C6E-8044-59AD49780840}" sibTransId="{D63DFDCA-5EBB-4079-A093-6830692B0218}"/>
    <dgm:cxn modelId="{F427B384-FE79-441A-B6FF-947203324361}" type="presOf" srcId="{AD036724-9B23-4446-B91B-3D5A68D7A611}" destId="{815AEABA-0335-410B-98EE-0DDD8D9E4E1D}" srcOrd="1" destOrd="0" presId="urn:microsoft.com/office/officeart/2005/8/layout/list1"/>
    <dgm:cxn modelId="{8BC5B38D-E413-47FF-B9CA-F163C15F5381}" type="presOf" srcId="{C89AE737-710E-4801-8328-2C02E45E3BDC}" destId="{DD073ECA-0219-4BD4-87D5-85A1D9EC1D66}" srcOrd="0" destOrd="0" presId="urn:microsoft.com/office/officeart/2005/8/layout/list1"/>
    <dgm:cxn modelId="{9BC5AB8F-ABE8-4C30-B23F-983DAC3EA62C}" srcId="{C89AE737-710E-4801-8328-2C02E45E3BDC}" destId="{21C60D2A-2798-460C-906D-0DFFFEE9DC53}" srcOrd="2" destOrd="0" parTransId="{23A18144-2B46-45CE-9859-FBE7537955C4}" sibTransId="{34E14730-9219-4E05-8DF6-19ED366A45BD}"/>
    <dgm:cxn modelId="{C5205DA2-8DF3-409A-89E9-8520673ECFD4}" type="presOf" srcId="{21C60D2A-2798-460C-906D-0DFFFEE9DC53}" destId="{3BFA8DFD-235A-4252-A1DF-0D60A04B657A}" srcOrd="1" destOrd="0" presId="urn:microsoft.com/office/officeart/2005/8/layout/list1"/>
    <dgm:cxn modelId="{A0A5CCA5-195E-49F4-BCF2-50ECB989586D}" type="presOf" srcId="{494E2FE8-E510-437F-82BA-5A59376CF451}" destId="{71CB0566-F0BE-465E-A900-627783E111E3}" srcOrd="0" destOrd="0" presId="urn:microsoft.com/office/officeart/2005/8/layout/list1"/>
    <dgm:cxn modelId="{91D478B0-3B5D-40FF-B755-0046923B994A}" type="presOf" srcId="{494E2FE8-E510-437F-82BA-5A59376CF451}" destId="{E8F1C10B-2F53-41EF-9149-D59C09CD7C57}" srcOrd="1" destOrd="0" presId="urn:microsoft.com/office/officeart/2005/8/layout/list1"/>
    <dgm:cxn modelId="{CDC750B1-F057-4F10-97A8-5ACC620C45DA}" srcId="{C89AE737-710E-4801-8328-2C02E45E3BDC}" destId="{AD036724-9B23-4446-B91B-3D5A68D7A611}" srcOrd="1" destOrd="0" parTransId="{20E130C1-50FC-4927-9B01-2ABAA74F5508}" sibTransId="{E2FD38FC-FD8D-4BF6-9548-2282B6F418BB}"/>
    <dgm:cxn modelId="{2BDE70B9-4F30-4058-B716-7FDC856E7EC6}" type="presOf" srcId="{91A3DA01-D6F3-4D07-B0D8-E13E915A38E3}" destId="{BB14128D-B7AE-4B3F-9393-39A541B0BA6C}" srcOrd="0" destOrd="0" presId="urn:microsoft.com/office/officeart/2005/8/layout/list1"/>
    <dgm:cxn modelId="{DB46C3D3-071B-42A2-AC13-8C7318613A7F}" type="presOf" srcId="{E2476CC6-A157-4465-9914-06D9E4425576}" destId="{69822406-C649-4CB8-8A3E-092BFAECF3A4}" srcOrd="0" destOrd="0" presId="urn:microsoft.com/office/officeart/2005/8/layout/list1"/>
    <dgm:cxn modelId="{90D509DD-820A-46B5-A426-CF71A4EF45BA}" type="presOf" srcId="{AADF57F6-1595-497F-82A9-5E90F9EEB443}" destId="{4ECB1A37-70E5-4733-96CA-062B21111E6F}" srcOrd="0" destOrd="0" presId="urn:microsoft.com/office/officeart/2005/8/layout/list1"/>
    <dgm:cxn modelId="{9E5ACDEF-8447-4207-9B64-3AB543984EEA}" type="presOf" srcId="{6C0FBC43-23AA-45E8-B393-36495798E286}" destId="{02026162-C68D-4139-82A5-C8FDCACF465D}" srcOrd="0" destOrd="0" presId="urn:microsoft.com/office/officeart/2005/8/layout/list1"/>
    <dgm:cxn modelId="{7FF062FD-B38E-412D-80EC-48FE10782CB8}" srcId="{AD036724-9B23-4446-B91B-3D5A68D7A611}" destId="{755593B7-3A4E-49CA-B97F-A10EBDED23CB}" srcOrd="0" destOrd="0" parTransId="{85C84528-D592-4FB6-B427-1764926542ED}" sibTransId="{D1483361-7720-4D7E-B0E1-CAC30617B69C}"/>
    <dgm:cxn modelId="{88C2E53B-C034-4447-8827-4B1DEF0E459E}" type="presParOf" srcId="{DD073ECA-0219-4BD4-87D5-85A1D9EC1D66}" destId="{96952CB7-AF39-45D6-8312-8D2E7243B2C3}" srcOrd="0" destOrd="0" presId="urn:microsoft.com/office/officeart/2005/8/layout/list1"/>
    <dgm:cxn modelId="{A627636C-23F3-47A7-83FA-E84C2A16B0CE}" type="presParOf" srcId="{96952CB7-AF39-45D6-8312-8D2E7243B2C3}" destId="{8F163FC9-3CF7-463E-A8AB-DF3E4734490C}" srcOrd="0" destOrd="0" presId="urn:microsoft.com/office/officeart/2005/8/layout/list1"/>
    <dgm:cxn modelId="{135A18B3-4500-42E1-8F3F-84760323702C}" type="presParOf" srcId="{96952CB7-AF39-45D6-8312-8D2E7243B2C3}" destId="{B531083C-A9CB-408F-940A-282110C3E9CA}" srcOrd="1" destOrd="0" presId="urn:microsoft.com/office/officeart/2005/8/layout/list1"/>
    <dgm:cxn modelId="{7AEF6A81-1234-404E-9CF3-DC7374A77FC1}" type="presParOf" srcId="{DD073ECA-0219-4BD4-87D5-85A1D9EC1D66}" destId="{A88C637F-3255-4D32-8D82-4DE5CF66E713}" srcOrd="1" destOrd="0" presId="urn:microsoft.com/office/officeart/2005/8/layout/list1"/>
    <dgm:cxn modelId="{F6A3434E-73BB-46C1-8CD7-2115432B061F}" type="presParOf" srcId="{DD073ECA-0219-4BD4-87D5-85A1D9EC1D66}" destId="{CD3A77AD-A213-4D0E-9C4A-FD363627C615}" srcOrd="2" destOrd="0" presId="urn:microsoft.com/office/officeart/2005/8/layout/list1"/>
    <dgm:cxn modelId="{117E2554-575B-4216-A7FD-C321FD80738F}" type="presParOf" srcId="{DD073ECA-0219-4BD4-87D5-85A1D9EC1D66}" destId="{56C54875-449F-4286-8645-C356A64309F4}" srcOrd="3" destOrd="0" presId="urn:microsoft.com/office/officeart/2005/8/layout/list1"/>
    <dgm:cxn modelId="{49E4F13D-57C4-4194-A56E-4F3742E0246A}" type="presParOf" srcId="{DD073ECA-0219-4BD4-87D5-85A1D9EC1D66}" destId="{29246258-C529-45BF-A58D-D914B7CC5641}" srcOrd="4" destOrd="0" presId="urn:microsoft.com/office/officeart/2005/8/layout/list1"/>
    <dgm:cxn modelId="{71AA0A82-95CF-4D76-A2EB-397AC03D0C6E}" type="presParOf" srcId="{29246258-C529-45BF-A58D-D914B7CC5641}" destId="{BD659E28-2C03-4B01-9A07-AFF5AD100410}" srcOrd="0" destOrd="0" presId="urn:microsoft.com/office/officeart/2005/8/layout/list1"/>
    <dgm:cxn modelId="{EAFB622F-CCE9-4F6D-9667-BC382881B03F}" type="presParOf" srcId="{29246258-C529-45BF-A58D-D914B7CC5641}" destId="{815AEABA-0335-410B-98EE-0DDD8D9E4E1D}" srcOrd="1" destOrd="0" presId="urn:microsoft.com/office/officeart/2005/8/layout/list1"/>
    <dgm:cxn modelId="{5BC5953F-A672-4277-B301-A84DB1D96B28}" type="presParOf" srcId="{DD073ECA-0219-4BD4-87D5-85A1D9EC1D66}" destId="{6865DCAD-4FF5-44D9-B4F8-E68D9B43770B}" srcOrd="5" destOrd="0" presId="urn:microsoft.com/office/officeart/2005/8/layout/list1"/>
    <dgm:cxn modelId="{DB36254D-2651-4105-B1EE-71C6AD232E17}" type="presParOf" srcId="{DD073ECA-0219-4BD4-87D5-85A1D9EC1D66}" destId="{BB16E86C-B303-43EC-B377-CC1B93874616}" srcOrd="6" destOrd="0" presId="urn:microsoft.com/office/officeart/2005/8/layout/list1"/>
    <dgm:cxn modelId="{F2D032EA-EA0C-41F7-94DC-C7A6046DA7AE}" type="presParOf" srcId="{DD073ECA-0219-4BD4-87D5-85A1D9EC1D66}" destId="{DBB74EA2-65B6-4899-B5E2-7BF7A6C3AE59}" srcOrd="7" destOrd="0" presId="urn:microsoft.com/office/officeart/2005/8/layout/list1"/>
    <dgm:cxn modelId="{1B043BCB-9118-4544-A52F-A9C01CA2751D}" type="presParOf" srcId="{DD073ECA-0219-4BD4-87D5-85A1D9EC1D66}" destId="{A9FC9B2C-82F0-4426-84FD-D292E0A5CB1C}" srcOrd="8" destOrd="0" presId="urn:microsoft.com/office/officeart/2005/8/layout/list1"/>
    <dgm:cxn modelId="{3B0982E4-6BF9-42CD-B92B-3B57FB0018B5}" type="presParOf" srcId="{A9FC9B2C-82F0-4426-84FD-D292E0A5CB1C}" destId="{B3B5BCCA-C31F-4F85-9289-D41C345CCED1}" srcOrd="0" destOrd="0" presId="urn:microsoft.com/office/officeart/2005/8/layout/list1"/>
    <dgm:cxn modelId="{50C0A962-CDD1-483D-8B18-45C249323E13}" type="presParOf" srcId="{A9FC9B2C-82F0-4426-84FD-D292E0A5CB1C}" destId="{3BFA8DFD-235A-4252-A1DF-0D60A04B657A}" srcOrd="1" destOrd="0" presId="urn:microsoft.com/office/officeart/2005/8/layout/list1"/>
    <dgm:cxn modelId="{857FB5E0-3554-4543-8EDC-2100A8635165}" type="presParOf" srcId="{DD073ECA-0219-4BD4-87D5-85A1D9EC1D66}" destId="{53A86A06-3AB5-47A7-B220-D41CBA50E1B5}" srcOrd="9" destOrd="0" presId="urn:microsoft.com/office/officeart/2005/8/layout/list1"/>
    <dgm:cxn modelId="{F078F1B7-E959-44D2-8630-E8C26AF938E8}" type="presParOf" srcId="{DD073ECA-0219-4BD4-87D5-85A1D9EC1D66}" destId="{69822406-C649-4CB8-8A3E-092BFAECF3A4}" srcOrd="10" destOrd="0" presId="urn:microsoft.com/office/officeart/2005/8/layout/list1"/>
    <dgm:cxn modelId="{433D78C8-C7FF-4BBD-8A1C-9CBCE1086A69}" type="presParOf" srcId="{DD073ECA-0219-4BD4-87D5-85A1D9EC1D66}" destId="{05301605-4A4B-4059-813E-CC7D5B706433}" srcOrd="11" destOrd="0" presId="urn:microsoft.com/office/officeart/2005/8/layout/list1"/>
    <dgm:cxn modelId="{60C89722-9438-4B25-B26F-A83EDA19FC03}" type="presParOf" srcId="{DD073ECA-0219-4BD4-87D5-85A1D9EC1D66}" destId="{CD149B18-8760-4237-8B92-ED0C4F242754}" srcOrd="12" destOrd="0" presId="urn:microsoft.com/office/officeart/2005/8/layout/list1"/>
    <dgm:cxn modelId="{3A98CB2A-919D-4483-AFDD-D889397C058E}" type="presParOf" srcId="{CD149B18-8760-4237-8B92-ED0C4F242754}" destId="{02026162-C68D-4139-82A5-C8FDCACF465D}" srcOrd="0" destOrd="0" presId="urn:microsoft.com/office/officeart/2005/8/layout/list1"/>
    <dgm:cxn modelId="{533B5D70-F53A-4E15-83ED-A960A9FCBED5}" type="presParOf" srcId="{CD149B18-8760-4237-8B92-ED0C4F242754}" destId="{3A2826E3-20F4-4814-B81F-D6C0976CED65}" srcOrd="1" destOrd="0" presId="urn:microsoft.com/office/officeart/2005/8/layout/list1"/>
    <dgm:cxn modelId="{489DE320-C563-4158-B522-8E21BD6CBDA4}" type="presParOf" srcId="{DD073ECA-0219-4BD4-87D5-85A1D9EC1D66}" destId="{00F2329D-20C1-4285-ABB5-0A6FB370D014}" srcOrd="13" destOrd="0" presId="urn:microsoft.com/office/officeart/2005/8/layout/list1"/>
    <dgm:cxn modelId="{D8A054E0-A8A8-4FCE-8203-8DF9D4C929FF}" type="presParOf" srcId="{DD073ECA-0219-4BD4-87D5-85A1D9EC1D66}" destId="{CF309E4E-F827-40EF-B4A7-14C8689A87D5}" srcOrd="14" destOrd="0" presId="urn:microsoft.com/office/officeart/2005/8/layout/list1"/>
    <dgm:cxn modelId="{45141745-BECF-4FAD-8536-6A3DDA526C11}" type="presParOf" srcId="{DD073ECA-0219-4BD4-87D5-85A1D9EC1D66}" destId="{823B7439-6566-42E8-989C-180B2D62ACF5}" srcOrd="15" destOrd="0" presId="urn:microsoft.com/office/officeart/2005/8/layout/list1"/>
    <dgm:cxn modelId="{A9C48075-537F-4E3A-82E5-5AC08A2C2087}" type="presParOf" srcId="{DD073ECA-0219-4BD4-87D5-85A1D9EC1D66}" destId="{22C7DD0E-1800-4495-9CA3-D30A59067A34}" srcOrd="16" destOrd="0" presId="urn:microsoft.com/office/officeart/2005/8/layout/list1"/>
    <dgm:cxn modelId="{46361796-C84D-4D01-96E8-2B6D894A0629}" type="presParOf" srcId="{22C7DD0E-1800-4495-9CA3-D30A59067A34}" destId="{71CB0566-F0BE-465E-A900-627783E111E3}" srcOrd="0" destOrd="0" presId="urn:microsoft.com/office/officeart/2005/8/layout/list1"/>
    <dgm:cxn modelId="{D01ECDB3-00FA-44F6-9521-98232EA0E637}" type="presParOf" srcId="{22C7DD0E-1800-4495-9CA3-D30A59067A34}" destId="{E8F1C10B-2F53-41EF-9149-D59C09CD7C57}" srcOrd="1" destOrd="0" presId="urn:microsoft.com/office/officeart/2005/8/layout/list1"/>
    <dgm:cxn modelId="{389B4128-F31F-49DA-A8F9-F940E0B1BA25}" type="presParOf" srcId="{DD073ECA-0219-4BD4-87D5-85A1D9EC1D66}" destId="{A0EA0F8E-9B95-430A-B14D-B22D40EBF9C3}" srcOrd="17" destOrd="0" presId="urn:microsoft.com/office/officeart/2005/8/layout/list1"/>
    <dgm:cxn modelId="{081D95CE-4C4A-4C77-9EAD-84BEBC9F2D05}" type="presParOf" srcId="{DD073ECA-0219-4BD4-87D5-85A1D9EC1D66}" destId="{BB14128D-B7AE-4B3F-9393-39A541B0BA6C}" srcOrd="18" destOrd="0" presId="urn:microsoft.com/office/officeart/2005/8/layout/list1"/>
    <dgm:cxn modelId="{327F1342-7E7F-4971-907A-6EF18A4B7F3B}" type="presParOf" srcId="{DD073ECA-0219-4BD4-87D5-85A1D9EC1D66}" destId="{4EE3CA97-51BD-4C83-BC93-0ED3C1F9F767}" srcOrd="19" destOrd="0" presId="urn:microsoft.com/office/officeart/2005/8/layout/list1"/>
    <dgm:cxn modelId="{E56B1432-29B8-49C3-86EE-E71443FB860A}" type="presParOf" srcId="{DD073ECA-0219-4BD4-87D5-85A1D9EC1D66}" destId="{3D68F1CA-3F3A-4A90-9C04-6B6102326EC0}" srcOrd="20" destOrd="0" presId="urn:microsoft.com/office/officeart/2005/8/layout/list1"/>
    <dgm:cxn modelId="{B1F031F8-34E9-45B9-AD25-1772FBE93A80}" type="presParOf" srcId="{3D68F1CA-3F3A-4A90-9C04-6B6102326EC0}" destId="{4ECB1A37-70E5-4733-96CA-062B21111E6F}" srcOrd="0" destOrd="0" presId="urn:microsoft.com/office/officeart/2005/8/layout/list1"/>
    <dgm:cxn modelId="{F84FEEB7-6CEC-4D3F-A623-438E1682D33A}" type="presParOf" srcId="{3D68F1CA-3F3A-4A90-9C04-6B6102326EC0}" destId="{E0F26FFE-2D25-465F-932B-D536EA3D8066}" srcOrd="1" destOrd="0" presId="urn:microsoft.com/office/officeart/2005/8/layout/list1"/>
    <dgm:cxn modelId="{5DF3E1E8-87E3-4D26-A1F0-B74CF3D5A843}" type="presParOf" srcId="{DD073ECA-0219-4BD4-87D5-85A1D9EC1D66}" destId="{E2BE08D8-5264-4702-AFF8-9000D37FC32D}" srcOrd="21" destOrd="0" presId="urn:microsoft.com/office/officeart/2005/8/layout/list1"/>
    <dgm:cxn modelId="{35E6E920-C2C2-424E-8415-7267A7E85704}" type="presParOf" srcId="{DD073ECA-0219-4BD4-87D5-85A1D9EC1D66}" destId="{E75B8840-1AA0-4E6F-B20F-8F9C40508D1D}"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B1D5C8-27B8-4885-8CB0-8CC99E1333FD}" type="doc">
      <dgm:prSet loTypeId="urn:microsoft.com/office/officeart/2024/3/layout/BulletTimelineDefaultVariant" loCatId="Timeline" qsTypeId="urn:microsoft.com/office/officeart/2005/8/quickstyle/simple1" qsCatId="simple" csTypeId="urn:microsoft.com/office/officeart/2005/8/colors/BulletTimelineDefaultColorVariant" csCatId="other" phldr="1"/>
      <dgm:spPr/>
      <dgm:t>
        <a:bodyPr/>
        <a:lstStyle/>
        <a:p>
          <a:endParaRPr lang="en-US"/>
        </a:p>
      </dgm:t>
    </dgm:pt>
    <dgm:pt modelId="{E1B75213-F4B3-4A6C-AB83-255ABC09BC76}">
      <dgm:prSet/>
      <dgm:spPr/>
      <dgm:t>
        <a:bodyPr/>
        <a:lstStyle/>
        <a:p>
          <a:pPr>
            <a:defRPr b="1"/>
          </a:pPr>
          <a:r>
            <a:rPr lang="en-US" dirty="0"/>
            <a:t>Pulled Live System Data</a:t>
          </a:r>
        </a:p>
      </dgm:t>
    </dgm:pt>
    <dgm:pt modelId="{47D3A749-26B5-4F8B-A6BD-07F9B2A7DF9A}" type="parTrans" cxnId="{58878CB8-6868-4509-BAA1-24F802580CA2}">
      <dgm:prSet/>
      <dgm:spPr/>
      <dgm:t>
        <a:bodyPr/>
        <a:lstStyle/>
        <a:p>
          <a:endParaRPr lang="en-US"/>
        </a:p>
      </dgm:t>
    </dgm:pt>
    <dgm:pt modelId="{2C2842B8-757C-4A32-BB9A-F49134F387A7}" type="sibTrans" cxnId="{58878CB8-6868-4509-BAA1-24F802580CA2}">
      <dgm:prSet/>
      <dgm:spPr/>
      <dgm:t>
        <a:bodyPr/>
        <a:lstStyle/>
        <a:p>
          <a:endParaRPr lang="en-US"/>
        </a:p>
      </dgm:t>
    </dgm:pt>
    <dgm:pt modelId="{759E19E3-A542-4800-AA71-7ECFB21CDE63}">
      <dgm:prSet/>
      <dgm:spPr/>
      <dgm:t>
        <a:bodyPr/>
        <a:lstStyle/>
        <a:p>
          <a:r>
            <a:rPr lang="en-US" dirty="0"/>
            <a:t>Extracted directly from the core platform to ensure accuracy and completeness</a:t>
          </a:r>
        </a:p>
      </dgm:t>
    </dgm:pt>
    <dgm:pt modelId="{D679CB6B-F424-4908-AD18-EF442245382E}" type="parTrans" cxnId="{FABC0CB4-9C4B-45E2-93C7-9394A60FDD64}">
      <dgm:prSet/>
      <dgm:spPr/>
      <dgm:t>
        <a:bodyPr/>
        <a:lstStyle/>
        <a:p>
          <a:endParaRPr lang="en-US"/>
        </a:p>
      </dgm:t>
    </dgm:pt>
    <dgm:pt modelId="{BE263226-1E50-4BD7-AB33-F9A6FD5A809D}" type="sibTrans" cxnId="{FABC0CB4-9C4B-45E2-93C7-9394A60FDD64}">
      <dgm:prSet/>
      <dgm:spPr/>
      <dgm:t>
        <a:bodyPr/>
        <a:lstStyle/>
        <a:p>
          <a:endParaRPr lang="en-US"/>
        </a:p>
      </dgm:t>
    </dgm:pt>
    <dgm:pt modelId="{86857D54-4687-4147-86A0-C3403134F741}">
      <dgm:prSet phldrT="[Text]" phldr="0"/>
      <dgm:spPr/>
      <dgm:t>
        <a:bodyPr/>
        <a:lstStyle/>
        <a:p>
          <a:pPr>
            <a:defRPr b="1"/>
          </a:pPr>
          <a:r>
            <a:rPr lang="en-US" dirty="0"/>
            <a:t>Manual Reviewed Remaining Fields</a:t>
          </a:r>
        </a:p>
      </dgm:t>
    </dgm:pt>
    <dgm:pt modelId="{828806E0-51D3-4784-AE6A-17D172EC0406}" type="parTrans" cxnId="{3E17999A-7535-4020-8A1C-E4C48A040E9F}">
      <dgm:prSet/>
      <dgm:spPr/>
      <dgm:t>
        <a:bodyPr/>
        <a:lstStyle/>
        <a:p>
          <a:endParaRPr lang="en-US"/>
        </a:p>
      </dgm:t>
    </dgm:pt>
    <dgm:pt modelId="{9C16B8F7-19C7-44D8-9080-B3A4C009A70E}" type="sibTrans" cxnId="{3E17999A-7535-4020-8A1C-E4C48A040E9F}">
      <dgm:prSet/>
      <dgm:spPr/>
      <dgm:t>
        <a:bodyPr/>
        <a:lstStyle/>
        <a:p>
          <a:endParaRPr lang="en-US"/>
        </a:p>
      </dgm:t>
    </dgm:pt>
    <dgm:pt modelId="{042C7219-DEC4-4DB6-88FD-626CFF833EFD}">
      <dgm:prSet phldrT="[Text]" phldr="0"/>
      <dgm:spPr/>
      <dgm:t>
        <a:bodyPr/>
        <a:lstStyle/>
        <a:p>
          <a:r>
            <a:rPr lang="en-US" dirty="0"/>
            <a:t>Verified and anonymized any data that could not be safely transformed through automation methods</a:t>
          </a:r>
        </a:p>
      </dgm:t>
    </dgm:pt>
    <dgm:pt modelId="{B1812C07-D494-4191-ACB2-945D56A00BBD}" type="parTrans" cxnId="{1C89884B-43D6-4340-B91D-B1504DA86BF3}">
      <dgm:prSet/>
      <dgm:spPr/>
      <dgm:t>
        <a:bodyPr/>
        <a:lstStyle/>
        <a:p>
          <a:endParaRPr lang="en-US"/>
        </a:p>
      </dgm:t>
    </dgm:pt>
    <dgm:pt modelId="{525C71CD-9153-45F5-B61F-1EE0E9C7B031}" type="sibTrans" cxnId="{1C89884B-43D6-4340-B91D-B1504DA86BF3}">
      <dgm:prSet/>
      <dgm:spPr/>
      <dgm:t>
        <a:bodyPr/>
        <a:lstStyle/>
        <a:p>
          <a:endParaRPr lang="en-US"/>
        </a:p>
      </dgm:t>
    </dgm:pt>
    <dgm:pt modelId="{06B254E7-5A23-405E-8ACC-E216AC26A748}">
      <dgm:prSet/>
      <dgm:spPr/>
      <dgm:t>
        <a:bodyPr/>
        <a:lstStyle/>
        <a:p>
          <a:pPr>
            <a:defRPr b="1"/>
          </a:pPr>
          <a:r>
            <a:rPr lang="en-US" dirty="0"/>
            <a:t>Anonymized Sensitive Information</a:t>
          </a:r>
        </a:p>
      </dgm:t>
    </dgm:pt>
    <dgm:pt modelId="{40D2B939-3B4B-41AB-8769-F28F91737870}" type="sibTrans" cxnId="{0A1078AA-8220-430E-873B-8DE48748ABE8}">
      <dgm:prSet/>
      <dgm:spPr/>
      <dgm:t>
        <a:bodyPr/>
        <a:lstStyle/>
        <a:p>
          <a:endParaRPr lang="en-US"/>
        </a:p>
      </dgm:t>
    </dgm:pt>
    <dgm:pt modelId="{12C47B51-992B-4D0C-AD7E-9C619A190F75}" type="parTrans" cxnId="{0A1078AA-8220-430E-873B-8DE48748ABE8}">
      <dgm:prSet/>
      <dgm:spPr/>
      <dgm:t>
        <a:bodyPr/>
        <a:lstStyle/>
        <a:p>
          <a:endParaRPr lang="en-US"/>
        </a:p>
      </dgm:t>
    </dgm:pt>
    <dgm:pt modelId="{BCDEF222-0120-441A-BCA3-778B19B6DBCD}">
      <dgm:prSet/>
      <dgm:spPr/>
      <dgm:t>
        <a:bodyPr/>
        <a:lstStyle/>
        <a:p>
          <a:r>
            <a:rPr lang="en-US" dirty="0"/>
            <a:t>Applied formula based de-identification for Borrowers, Officers, Branches, and Account Information</a:t>
          </a:r>
        </a:p>
      </dgm:t>
    </dgm:pt>
    <dgm:pt modelId="{6031CDE5-9577-420B-8B46-28B839F8B558}" type="sibTrans" cxnId="{A81A8D7C-588A-4DC6-BC66-2DE65E2C544E}">
      <dgm:prSet/>
      <dgm:spPr/>
      <dgm:t>
        <a:bodyPr/>
        <a:lstStyle/>
        <a:p>
          <a:endParaRPr lang="en-US"/>
        </a:p>
      </dgm:t>
    </dgm:pt>
    <dgm:pt modelId="{F3B78180-580E-4B60-BA8C-703BF8349C62}" type="parTrans" cxnId="{A81A8D7C-588A-4DC6-BC66-2DE65E2C544E}">
      <dgm:prSet/>
      <dgm:spPr/>
      <dgm:t>
        <a:bodyPr/>
        <a:lstStyle/>
        <a:p>
          <a:endParaRPr lang="en-US"/>
        </a:p>
      </dgm:t>
    </dgm:pt>
    <dgm:pt modelId="{3FCE815E-B898-43A6-9105-C44831F310EF}">
      <dgm:prSet/>
      <dgm:spPr/>
      <dgm:t>
        <a:bodyPr/>
        <a:lstStyle/>
        <a:p>
          <a:pPr>
            <a:defRPr b="1"/>
          </a:pPr>
          <a:r>
            <a:rPr lang="en-US" dirty="0"/>
            <a:t>Removed Trailing &amp; Leading Spaces</a:t>
          </a:r>
        </a:p>
      </dgm:t>
    </dgm:pt>
    <dgm:pt modelId="{05503851-A2C0-48E2-B4AF-90830D6D8942}" type="sibTrans" cxnId="{1443A80F-66E3-4DAA-AF95-9686FE8E961E}">
      <dgm:prSet/>
      <dgm:spPr/>
      <dgm:t>
        <a:bodyPr/>
        <a:lstStyle/>
        <a:p>
          <a:endParaRPr lang="en-US"/>
        </a:p>
      </dgm:t>
    </dgm:pt>
    <dgm:pt modelId="{F886A4AA-651A-44F8-A2DE-871BEEC0D6C8}" type="parTrans" cxnId="{1443A80F-66E3-4DAA-AF95-9686FE8E961E}">
      <dgm:prSet/>
      <dgm:spPr/>
      <dgm:t>
        <a:bodyPr/>
        <a:lstStyle/>
        <a:p>
          <a:endParaRPr lang="en-US"/>
        </a:p>
      </dgm:t>
    </dgm:pt>
    <dgm:pt modelId="{A34E385F-232D-40E5-B618-465BB9733BDD}">
      <dgm:prSet/>
      <dgm:spPr/>
      <dgm:t>
        <a:bodyPr/>
        <a:lstStyle/>
        <a:p>
          <a:r>
            <a:rPr lang="en-US"/>
            <a:t>Eliminated whitespace issues that impact validation, joins, filters, and grouping logic</a:t>
          </a:r>
          <a:endParaRPr lang="en-US" dirty="0"/>
        </a:p>
      </dgm:t>
    </dgm:pt>
    <dgm:pt modelId="{6FD469B4-F66C-4A8E-945A-C72BA5018704}" type="sibTrans" cxnId="{9E649658-FE69-43BC-A314-556D78A88563}">
      <dgm:prSet/>
      <dgm:spPr/>
      <dgm:t>
        <a:bodyPr/>
        <a:lstStyle/>
        <a:p>
          <a:endParaRPr lang="en-US"/>
        </a:p>
      </dgm:t>
    </dgm:pt>
    <dgm:pt modelId="{A6B1644C-9816-42EE-8ED6-DDA37B53335F}" type="parTrans" cxnId="{9E649658-FE69-43BC-A314-556D78A88563}">
      <dgm:prSet/>
      <dgm:spPr/>
      <dgm:t>
        <a:bodyPr/>
        <a:lstStyle/>
        <a:p>
          <a:endParaRPr lang="en-US"/>
        </a:p>
      </dgm:t>
    </dgm:pt>
    <dgm:pt modelId="{82A057CE-B9BD-40CC-891B-FA38528A6A54}">
      <dgm:prSet/>
      <dgm:spPr/>
      <dgm:t>
        <a:bodyPr/>
        <a:lstStyle/>
        <a:p>
          <a:pPr>
            <a:defRPr b="1"/>
          </a:pPr>
          <a:r>
            <a:rPr lang="en-US" dirty="0"/>
            <a:t>Corrected Data Types</a:t>
          </a:r>
        </a:p>
      </dgm:t>
    </dgm:pt>
    <dgm:pt modelId="{28F7C0E4-0E67-48AD-8790-61304A3872FF}" type="sibTrans" cxnId="{39495580-50F7-41BF-A7CA-A5D3D18249BD}">
      <dgm:prSet/>
      <dgm:spPr/>
      <dgm:t>
        <a:bodyPr/>
        <a:lstStyle/>
        <a:p>
          <a:endParaRPr lang="en-US"/>
        </a:p>
      </dgm:t>
    </dgm:pt>
    <dgm:pt modelId="{2AB93A72-DF25-4F49-9B39-500DF4F44E0C}" type="parTrans" cxnId="{39495580-50F7-41BF-A7CA-A5D3D18249BD}">
      <dgm:prSet/>
      <dgm:spPr/>
      <dgm:t>
        <a:bodyPr/>
        <a:lstStyle/>
        <a:p>
          <a:endParaRPr lang="en-US"/>
        </a:p>
      </dgm:t>
    </dgm:pt>
    <dgm:pt modelId="{E371FAEA-A610-43BD-BA5E-1FA426983744}">
      <dgm:prSet/>
      <dgm:spPr/>
      <dgm:t>
        <a:bodyPr/>
        <a:lstStyle/>
        <a:p>
          <a:r>
            <a:rPr lang="en-US" dirty="0"/>
            <a:t>Standardized formats across reports and support clean analysis</a:t>
          </a:r>
        </a:p>
      </dgm:t>
    </dgm:pt>
    <dgm:pt modelId="{35208D40-8152-4260-8E21-D4EA6C6DDE07}" type="sibTrans" cxnId="{F7EF630A-9556-46B8-BE57-6F5E38CC8B5A}">
      <dgm:prSet/>
      <dgm:spPr/>
      <dgm:t>
        <a:bodyPr/>
        <a:lstStyle/>
        <a:p>
          <a:endParaRPr lang="en-US"/>
        </a:p>
      </dgm:t>
    </dgm:pt>
    <dgm:pt modelId="{C38F2058-F9A3-4525-9737-579E4F0D6286}" type="parTrans" cxnId="{F7EF630A-9556-46B8-BE57-6F5E38CC8B5A}">
      <dgm:prSet/>
      <dgm:spPr/>
      <dgm:t>
        <a:bodyPr/>
        <a:lstStyle/>
        <a:p>
          <a:endParaRPr lang="en-US"/>
        </a:p>
      </dgm:t>
    </dgm:pt>
    <dgm:pt modelId="{ECFA5CCB-0ECA-4912-9CC3-A7A09055354C}">
      <dgm:prSet/>
      <dgm:spPr/>
      <dgm:t>
        <a:bodyPr/>
        <a:lstStyle/>
        <a:p>
          <a:pPr>
            <a:defRPr b="1"/>
          </a:pPr>
          <a:r>
            <a:rPr lang="en-US" dirty="0"/>
            <a:t>Validated all Fields</a:t>
          </a:r>
        </a:p>
      </dgm:t>
    </dgm:pt>
    <dgm:pt modelId="{B96FB0D1-D11E-432C-A5FD-F3FECE965B52}" type="sibTrans" cxnId="{FE6413B0-24C3-4672-90C6-C782AA4DC8E3}">
      <dgm:prSet/>
      <dgm:spPr/>
      <dgm:t>
        <a:bodyPr/>
        <a:lstStyle/>
        <a:p>
          <a:endParaRPr lang="en-US"/>
        </a:p>
      </dgm:t>
    </dgm:pt>
    <dgm:pt modelId="{8A412BD5-D7A1-4731-ACE0-9B798D30B3E3}" type="parTrans" cxnId="{FE6413B0-24C3-4672-90C6-C782AA4DC8E3}">
      <dgm:prSet/>
      <dgm:spPr/>
      <dgm:t>
        <a:bodyPr/>
        <a:lstStyle/>
        <a:p>
          <a:endParaRPr lang="en-US"/>
        </a:p>
      </dgm:t>
    </dgm:pt>
    <dgm:pt modelId="{3FB27218-AEAB-4640-AF55-4FC69309DE04}">
      <dgm:prSet/>
      <dgm:spPr/>
      <dgm:t>
        <a:bodyPr/>
        <a:lstStyle/>
        <a:p>
          <a:r>
            <a:rPr lang="en-US" dirty="0"/>
            <a:t>Checked for correctness, consistency, and alignment with expected business rules</a:t>
          </a:r>
        </a:p>
      </dgm:t>
    </dgm:pt>
    <dgm:pt modelId="{1AE3B222-2B34-459B-9BEE-FB3EC3A79F3F}" type="sibTrans" cxnId="{DF73617C-E098-4CE3-A4BC-F2668AE5B2A5}">
      <dgm:prSet/>
      <dgm:spPr/>
      <dgm:t>
        <a:bodyPr/>
        <a:lstStyle/>
        <a:p>
          <a:endParaRPr lang="en-US"/>
        </a:p>
      </dgm:t>
    </dgm:pt>
    <dgm:pt modelId="{35BA7439-B023-41D4-9E37-37A53D33BFF1}" type="parTrans" cxnId="{DF73617C-E098-4CE3-A4BC-F2668AE5B2A5}">
      <dgm:prSet/>
      <dgm:spPr/>
      <dgm:t>
        <a:bodyPr/>
        <a:lstStyle/>
        <a:p>
          <a:endParaRPr lang="en-US"/>
        </a:p>
      </dgm:t>
    </dgm:pt>
    <dgm:pt modelId="{57D6DD0A-163D-4848-A605-779939BE7C07}">
      <dgm:prSet phldrT="[Text]" phldr="0"/>
      <dgm:spPr/>
      <dgm:t>
        <a:bodyPr/>
        <a:lstStyle/>
        <a:p>
          <a:pPr>
            <a:defRPr b="1"/>
          </a:pPr>
          <a:r>
            <a:rPr lang="en-US" dirty="0"/>
            <a:t>Database Creation</a:t>
          </a:r>
        </a:p>
      </dgm:t>
    </dgm:pt>
    <dgm:pt modelId="{7C374D81-8CE0-4EE2-A7C3-3FE3658171FB}" type="parTrans" cxnId="{315F720C-2EEB-4459-A849-79CB637518B1}">
      <dgm:prSet/>
      <dgm:spPr/>
      <dgm:t>
        <a:bodyPr/>
        <a:lstStyle/>
        <a:p>
          <a:endParaRPr lang="en-US"/>
        </a:p>
      </dgm:t>
    </dgm:pt>
    <dgm:pt modelId="{454D863A-C360-4588-BC18-574C241DE4B8}" type="sibTrans" cxnId="{315F720C-2EEB-4459-A849-79CB637518B1}">
      <dgm:prSet/>
      <dgm:spPr/>
      <dgm:t>
        <a:bodyPr/>
        <a:lstStyle/>
        <a:p>
          <a:endParaRPr lang="en-US"/>
        </a:p>
      </dgm:t>
    </dgm:pt>
    <dgm:pt modelId="{1192A97B-50CB-465C-B2EB-6D5528540A4C}">
      <dgm:prSet phldrT="[Text]" phldr="0"/>
      <dgm:spPr/>
      <dgm:t>
        <a:bodyPr/>
        <a:lstStyle/>
        <a:p>
          <a:r>
            <a:rPr lang="en-US" dirty="0"/>
            <a:t>Using completed files, SQLite database was created for analysis within SQL and </a:t>
          </a:r>
          <a:r>
            <a:rPr lang="en-US" dirty="0" err="1"/>
            <a:t>Jupyter</a:t>
          </a:r>
          <a:r>
            <a:rPr lang="en-US" dirty="0"/>
            <a:t> Notebook</a:t>
          </a:r>
        </a:p>
      </dgm:t>
    </dgm:pt>
    <dgm:pt modelId="{57240E89-1B93-47A2-A289-572BF9D1948E}" type="parTrans" cxnId="{54FCBE85-9FF5-4071-9086-CA74EBCB12AE}">
      <dgm:prSet/>
      <dgm:spPr/>
      <dgm:t>
        <a:bodyPr/>
        <a:lstStyle/>
        <a:p>
          <a:endParaRPr lang="en-US"/>
        </a:p>
      </dgm:t>
    </dgm:pt>
    <dgm:pt modelId="{B2926176-0C32-4E48-A023-A5EDFBA50B31}" type="sibTrans" cxnId="{54FCBE85-9FF5-4071-9086-CA74EBCB12AE}">
      <dgm:prSet/>
      <dgm:spPr/>
      <dgm:t>
        <a:bodyPr/>
        <a:lstStyle/>
        <a:p>
          <a:endParaRPr lang="en-US"/>
        </a:p>
      </dgm:t>
    </dgm:pt>
    <dgm:pt modelId="{968D1F57-51A7-49B9-AFAE-4275A3DE504C}" type="pres">
      <dgm:prSet presAssocID="{F3B1D5C8-27B8-4885-8CB0-8CC99E1333FD}" presName="root" presStyleCnt="0">
        <dgm:presLayoutVars>
          <dgm:chMax/>
          <dgm:chPref/>
          <dgm:animLvl val="lvl"/>
        </dgm:presLayoutVars>
      </dgm:prSet>
      <dgm:spPr/>
    </dgm:pt>
    <dgm:pt modelId="{7C4E0656-4ABB-41E4-B343-0F14797DDDED}" type="pres">
      <dgm:prSet presAssocID="{F3B1D5C8-27B8-4885-8CB0-8CC99E1333FD}" presName="divider" presStyleLbl="fgAcc1" presStyleIdx="0" presStyleCnt="1"/>
      <dgm:spPr>
        <a:solidFill>
          <a:schemeClr val="lt1">
            <a:alpha val="90000"/>
            <a:hueOff val="0"/>
            <a:satOff val="0"/>
            <a:lumOff val="0"/>
            <a:alphaOff val="0"/>
          </a:schemeClr>
        </a:solidFill>
        <a:ln w="12700" cap="flat" cmpd="sng" algn="ctr">
          <a:solidFill>
            <a:schemeClr val="dk1">
              <a:hueOff val="0"/>
              <a:satOff val="0"/>
              <a:lumOff val="0"/>
              <a:alphaOff val="0"/>
            </a:schemeClr>
          </a:solidFill>
          <a:prstDash val="solid"/>
          <a:tailEnd type="triangle" w="lg" len="lg"/>
        </a:ln>
        <a:effectLst/>
      </dgm:spPr>
    </dgm:pt>
    <dgm:pt modelId="{673C5802-1681-4EA6-B96E-905DF73EB53A}" type="pres">
      <dgm:prSet presAssocID="{F3B1D5C8-27B8-4885-8CB0-8CC99E1333FD}" presName="nodes" presStyleCnt="0">
        <dgm:presLayoutVars>
          <dgm:chMax/>
          <dgm:chPref/>
          <dgm:animLvl val="lvl"/>
        </dgm:presLayoutVars>
      </dgm:prSet>
      <dgm:spPr/>
    </dgm:pt>
    <dgm:pt modelId="{2E301C4C-92F6-4B6B-917C-F8F42EBC4613}" type="pres">
      <dgm:prSet presAssocID="{E1B75213-F4B3-4A6C-AB83-255ABC09BC76}" presName="composite" presStyleCnt="0"/>
      <dgm:spPr/>
    </dgm:pt>
    <dgm:pt modelId="{F1A949A9-DAD4-467C-96B7-78CB699DFE37}" type="pres">
      <dgm:prSet presAssocID="{E1B75213-F4B3-4A6C-AB83-255ABC09BC76}" presName="ConnectorPoint" presStyleLbl="lnNode1" presStyleIdx="0" presStyleCnt="7"/>
      <dgm:spPr>
        <a:solidFill>
          <a:schemeClr val="dk1">
            <a:hueOff val="0"/>
            <a:satOff val="0"/>
            <a:lumOff val="0"/>
            <a:alphaOff val="0"/>
          </a:schemeClr>
        </a:solidFill>
        <a:ln w="6350" cap="flat" cmpd="sng" algn="ctr">
          <a:solidFill>
            <a:schemeClr val="lt1">
              <a:hueOff val="0"/>
              <a:satOff val="0"/>
              <a:lumOff val="0"/>
              <a:alphaOff val="0"/>
            </a:schemeClr>
          </a:solidFill>
          <a:prstDash val="solid"/>
        </a:ln>
        <a:effectLst/>
      </dgm:spPr>
    </dgm:pt>
    <dgm:pt modelId="{7C206B35-83C1-4C50-9EEE-0AB1A869F2C5}" type="pres">
      <dgm:prSet presAssocID="{E1B75213-F4B3-4A6C-AB83-255ABC09BC76}" presName="DropPinPlaceHolder" presStyleCnt="0"/>
      <dgm:spPr/>
    </dgm:pt>
    <dgm:pt modelId="{AC35D586-EC95-4589-8E1A-5E9DE9D7E613}" type="pres">
      <dgm:prSet presAssocID="{E1B75213-F4B3-4A6C-AB83-255ABC09BC76}" presName="DropPin" presStyleLbl="revTx" presStyleIdx="0" presStyleCnt="21"/>
      <dgm:spPr/>
    </dgm:pt>
    <dgm:pt modelId="{DD238AC6-608D-41BC-8D85-A7F889CF755B}" type="pres">
      <dgm:prSet presAssocID="{E1B75213-F4B3-4A6C-AB83-255ABC09BC76}" presName="Ellipse" presStyleLbl="node2" presStyleIdx="0" presStyleCnt="7"/>
      <dgm:spPr>
        <a:solidFill>
          <a:schemeClr val="accent1">
            <a:hueOff val="0"/>
            <a:satOff val="0"/>
            <a:lumOff val="0"/>
            <a:alphaOff val="0"/>
          </a:schemeClr>
        </a:solidFill>
        <a:ln w="15875" cap="flat" cmpd="sng" algn="ctr">
          <a:noFill/>
          <a:prstDash val="solid"/>
        </a:ln>
        <a:effectLst/>
      </dgm:spPr>
    </dgm:pt>
    <dgm:pt modelId="{8FA7BCC3-067B-4FBA-9F93-FC3D8659969B}" type="pres">
      <dgm:prSet presAssocID="{E1B75213-F4B3-4A6C-AB83-255ABC09BC76}" presName="L2TextContainer" presStyleLbl="revTx" presStyleIdx="1" presStyleCnt="21">
        <dgm:presLayoutVars>
          <dgm:bulletEnabled val="1"/>
        </dgm:presLayoutVars>
      </dgm:prSet>
      <dgm:spPr/>
    </dgm:pt>
    <dgm:pt modelId="{7627B48B-441A-4C0A-898F-98084A44E980}" type="pres">
      <dgm:prSet presAssocID="{E1B75213-F4B3-4A6C-AB83-255ABC09BC76}" presName="L1TextContainer" presStyleLbl="revTx" presStyleIdx="2" presStyleCnt="21">
        <dgm:presLayoutVars>
          <dgm:chMax val="1"/>
          <dgm:chPref val="1"/>
          <dgm:bulletEnabled val="1"/>
        </dgm:presLayoutVars>
      </dgm:prSet>
      <dgm:spPr/>
    </dgm:pt>
    <dgm:pt modelId="{A7C35CF9-4488-4EC8-AD93-E29BC058E69E}" type="pres">
      <dgm:prSet presAssocID="{E1B75213-F4B3-4A6C-AB83-255ABC09BC76}" presName="ConnectLine" presStyleLbl="sibTrans1D1" presStyleIdx="0" presStyleCnt="7"/>
      <dgm:spPr/>
    </dgm:pt>
    <dgm:pt modelId="{D286F1C2-D9C5-442D-A819-3CDBB21980FC}" type="pres">
      <dgm:prSet presAssocID="{E1B75213-F4B3-4A6C-AB83-255ABC09BC76}" presName="EmptyPlaceHolder" presStyleCnt="0"/>
      <dgm:spPr/>
    </dgm:pt>
    <dgm:pt modelId="{CD7362D0-F624-40FA-8AFC-1E5A328180D3}" type="pres">
      <dgm:prSet presAssocID="{2C2842B8-757C-4A32-BB9A-F49134F387A7}" presName="spaceBetweenRectangles" presStyleCnt="0"/>
      <dgm:spPr/>
    </dgm:pt>
    <dgm:pt modelId="{7E0ABABD-B35F-4FCB-8304-50164042B77B}" type="pres">
      <dgm:prSet presAssocID="{ECFA5CCB-0ECA-4912-9CC3-A7A09055354C}" presName="composite" presStyleCnt="0"/>
      <dgm:spPr/>
    </dgm:pt>
    <dgm:pt modelId="{9021AA33-67FA-438F-B2B4-C2112E589BB8}" type="pres">
      <dgm:prSet presAssocID="{ECFA5CCB-0ECA-4912-9CC3-A7A09055354C}" presName="ConnectorPoint" presStyleLbl="lnNode1" presStyleIdx="1" presStyleCnt="7"/>
      <dgm:spPr>
        <a:solidFill>
          <a:schemeClr val="dk1">
            <a:hueOff val="0"/>
            <a:satOff val="0"/>
            <a:lumOff val="0"/>
            <a:alphaOff val="0"/>
          </a:schemeClr>
        </a:solidFill>
        <a:ln w="6350" cap="flat" cmpd="sng" algn="ctr">
          <a:solidFill>
            <a:schemeClr val="lt1">
              <a:hueOff val="0"/>
              <a:satOff val="0"/>
              <a:lumOff val="0"/>
              <a:alphaOff val="0"/>
            </a:schemeClr>
          </a:solidFill>
          <a:prstDash val="solid"/>
        </a:ln>
        <a:effectLst/>
      </dgm:spPr>
    </dgm:pt>
    <dgm:pt modelId="{60317DE7-3C77-4AB9-AC0E-EA974BAFDB97}" type="pres">
      <dgm:prSet presAssocID="{ECFA5CCB-0ECA-4912-9CC3-A7A09055354C}" presName="DropPinPlaceHolder" presStyleCnt="0"/>
      <dgm:spPr/>
    </dgm:pt>
    <dgm:pt modelId="{3528ECE3-BF53-4883-8D30-E9D0B0E01DCC}" type="pres">
      <dgm:prSet presAssocID="{ECFA5CCB-0ECA-4912-9CC3-A7A09055354C}" presName="DropPin" presStyleLbl="revTx" presStyleIdx="3" presStyleCnt="21"/>
      <dgm:spPr/>
    </dgm:pt>
    <dgm:pt modelId="{26F05367-601C-4A06-AC7A-0A89B609F78A}" type="pres">
      <dgm:prSet presAssocID="{ECFA5CCB-0ECA-4912-9CC3-A7A09055354C}" presName="Ellipse" presStyleLbl="node2" presStyleIdx="1" presStyleCnt="7"/>
      <dgm:spPr>
        <a:solidFill>
          <a:schemeClr val="accent1">
            <a:hueOff val="0"/>
            <a:satOff val="0"/>
            <a:lumOff val="0"/>
            <a:alphaOff val="0"/>
          </a:schemeClr>
        </a:solidFill>
        <a:ln w="15875" cap="flat" cmpd="sng" algn="ctr">
          <a:noFill/>
          <a:prstDash val="solid"/>
        </a:ln>
        <a:effectLst/>
      </dgm:spPr>
    </dgm:pt>
    <dgm:pt modelId="{01224C07-90F7-4460-9986-0B0E207219BD}" type="pres">
      <dgm:prSet presAssocID="{ECFA5CCB-0ECA-4912-9CC3-A7A09055354C}" presName="L2TextContainer" presStyleLbl="revTx" presStyleIdx="4" presStyleCnt="21">
        <dgm:presLayoutVars>
          <dgm:bulletEnabled val="1"/>
        </dgm:presLayoutVars>
      </dgm:prSet>
      <dgm:spPr/>
    </dgm:pt>
    <dgm:pt modelId="{8E054BE1-390C-4083-AD0C-7969FA391F43}" type="pres">
      <dgm:prSet presAssocID="{ECFA5CCB-0ECA-4912-9CC3-A7A09055354C}" presName="L1TextContainer" presStyleLbl="revTx" presStyleIdx="5" presStyleCnt="21">
        <dgm:presLayoutVars>
          <dgm:chMax val="1"/>
          <dgm:chPref val="1"/>
          <dgm:bulletEnabled val="1"/>
        </dgm:presLayoutVars>
      </dgm:prSet>
      <dgm:spPr/>
    </dgm:pt>
    <dgm:pt modelId="{C5115633-C49F-4669-BA0D-2CC4DE697265}" type="pres">
      <dgm:prSet presAssocID="{ECFA5CCB-0ECA-4912-9CC3-A7A09055354C}" presName="ConnectLine" presStyleLbl="sibTrans1D1" presStyleIdx="1" presStyleCnt="7"/>
      <dgm:spPr/>
    </dgm:pt>
    <dgm:pt modelId="{897026AD-ABF6-4EFB-965E-3FB80BA9F772}" type="pres">
      <dgm:prSet presAssocID="{ECFA5CCB-0ECA-4912-9CC3-A7A09055354C}" presName="EmptyPlaceHolder" presStyleCnt="0"/>
      <dgm:spPr/>
    </dgm:pt>
    <dgm:pt modelId="{FE0CC5A7-F9BF-42C1-9021-574102BDBDDF}" type="pres">
      <dgm:prSet presAssocID="{B96FB0D1-D11E-432C-A5FD-F3FECE965B52}" presName="spaceBetweenRectangles" presStyleCnt="0"/>
      <dgm:spPr/>
    </dgm:pt>
    <dgm:pt modelId="{40424F58-BE7D-42DB-9E3C-B599F47ECCC0}" type="pres">
      <dgm:prSet presAssocID="{82A057CE-B9BD-40CC-891B-FA38528A6A54}" presName="composite" presStyleCnt="0"/>
      <dgm:spPr/>
    </dgm:pt>
    <dgm:pt modelId="{2DCAA90F-5043-488E-8172-846BAACF242E}" type="pres">
      <dgm:prSet presAssocID="{82A057CE-B9BD-40CC-891B-FA38528A6A54}" presName="ConnectorPoint" presStyleLbl="lnNode1" presStyleIdx="2" presStyleCnt="7"/>
      <dgm:spPr>
        <a:solidFill>
          <a:schemeClr val="dk1">
            <a:hueOff val="0"/>
            <a:satOff val="0"/>
            <a:lumOff val="0"/>
            <a:alphaOff val="0"/>
          </a:schemeClr>
        </a:solidFill>
        <a:ln w="6350" cap="flat" cmpd="sng" algn="ctr">
          <a:solidFill>
            <a:schemeClr val="lt1">
              <a:hueOff val="0"/>
              <a:satOff val="0"/>
              <a:lumOff val="0"/>
              <a:alphaOff val="0"/>
            </a:schemeClr>
          </a:solidFill>
          <a:prstDash val="solid"/>
        </a:ln>
        <a:effectLst/>
      </dgm:spPr>
    </dgm:pt>
    <dgm:pt modelId="{894C373C-DAAA-4573-9045-DFACEA8076F0}" type="pres">
      <dgm:prSet presAssocID="{82A057CE-B9BD-40CC-891B-FA38528A6A54}" presName="DropPinPlaceHolder" presStyleCnt="0"/>
      <dgm:spPr/>
    </dgm:pt>
    <dgm:pt modelId="{A857E835-2DBD-4F23-95D9-5763D1059152}" type="pres">
      <dgm:prSet presAssocID="{82A057CE-B9BD-40CC-891B-FA38528A6A54}" presName="DropPin" presStyleLbl="revTx" presStyleIdx="6" presStyleCnt="21"/>
      <dgm:spPr/>
    </dgm:pt>
    <dgm:pt modelId="{B75983BB-94FA-4DC8-B12C-67D94C8385D7}" type="pres">
      <dgm:prSet presAssocID="{82A057CE-B9BD-40CC-891B-FA38528A6A54}" presName="Ellipse" presStyleLbl="node2" presStyleIdx="2" presStyleCnt="7"/>
      <dgm:spPr>
        <a:solidFill>
          <a:schemeClr val="accent1">
            <a:hueOff val="0"/>
            <a:satOff val="0"/>
            <a:lumOff val="0"/>
            <a:alphaOff val="0"/>
          </a:schemeClr>
        </a:solidFill>
        <a:ln w="15875" cap="flat" cmpd="sng" algn="ctr">
          <a:noFill/>
          <a:prstDash val="solid"/>
        </a:ln>
        <a:effectLst/>
      </dgm:spPr>
    </dgm:pt>
    <dgm:pt modelId="{82788E05-9D96-4C19-8052-D9616BF87F1A}" type="pres">
      <dgm:prSet presAssocID="{82A057CE-B9BD-40CC-891B-FA38528A6A54}" presName="L2TextContainer" presStyleLbl="revTx" presStyleIdx="7" presStyleCnt="21">
        <dgm:presLayoutVars>
          <dgm:bulletEnabled val="1"/>
        </dgm:presLayoutVars>
      </dgm:prSet>
      <dgm:spPr/>
    </dgm:pt>
    <dgm:pt modelId="{A87B4622-09C2-4AC5-8D99-BA4EB9016D1E}" type="pres">
      <dgm:prSet presAssocID="{82A057CE-B9BD-40CC-891B-FA38528A6A54}" presName="L1TextContainer" presStyleLbl="revTx" presStyleIdx="8" presStyleCnt="21">
        <dgm:presLayoutVars>
          <dgm:chMax val="1"/>
          <dgm:chPref val="1"/>
          <dgm:bulletEnabled val="1"/>
        </dgm:presLayoutVars>
      </dgm:prSet>
      <dgm:spPr/>
    </dgm:pt>
    <dgm:pt modelId="{49E3425B-84C9-4386-B318-6275F82226D8}" type="pres">
      <dgm:prSet presAssocID="{82A057CE-B9BD-40CC-891B-FA38528A6A54}" presName="ConnectLine" presStyleLbl="sibTrans1D1" presStyleIdx="2" presStyleCnt="7"/>
      <dgm:spPr/>
    </dgm:pt>
    <dgm:pt modelId="{A66B999E-1138-4596-A58B-84C0FDFA0B2C}" type="pres">
      <dgm:prSet presAssocID="{82A057CE-B9BD-40CC-891B-FA38528A6A54}" presName="EmptyPlaceHolder" presStyleCnt="0"/>
      <dgm:spPr/>
    </dgm:pt>
    <dgm:pt modelId="{726B964B-822D-445E-8F6A-32A5BADBD8DF}" type="pres">
      <dgm:prSet presAssocID="{28F7C0E4-0E67-48AD-8790-61304A3872FF}" presName="spaceBetweenRectangles" presStyleCnt="0"/>
      <dgm:spPr/>
    </dgm:pt>
    <dgm:pt modelId="{70CD324A-F366-414C-A599-9462F429ABF4}" type="pres">
      <dgm:prSet presAssocID="{3FCE815E-B898-43A6-9105-C44831F310EF}" presName="composite" presStyleCnt="0"/>
      <dgm:spPr/>
    </dgm:pt>
    <dgm:pt modelId="{9E08EE77-2F99-4729-A509-0B7DFA1E86A6}" type="pres">
      <dgm:prSet presAssocID="{3FCE815E-B898-43A6-9105-C44831F310EF}" presName="ConnectorPoint" presStyleLbl="lnNode1" presStyleIdx="3" presStyleCnt="7"/>
      <dgm:spPr>
        <a:solidFill>
          <a:schemeClr val="dk1">
            <a:hueOff val="0"/>
            <a:satOff val="0"/>
            <a:lumOff val="0"/>
            <a:alphaOff val="0"/>
          </a:schemeClr>
        </a:solidFill>
        <a:ln w="6350" cap="flat" cmpd="sng" algn="ctr">
          <a:solidFill>
            <a:schemeClr val="lt1">
              <a:hueOff val="0"/>
              <a:satOff val="0"/>
              <a:lumOff val="0"/>
              <a:alphaOff val="0"/>
            </a:schemeClr>
          </a:solidFill>
          <a:prstDash val="solid"/>
        </a:ln>
        <a:effectLst/>
      </dgm:spPr>
    </dgm:pt>
    <dgm:pt modelId="{00FDF843-9A19-41D2-A231-83AA1C320153}" type="pres">
      <dgm:prSet presAssocID="{3FCE815E-B898-43A6-9105-C44831F310EF}" presName="DropPinPlaceHolder" presStyleCnt="0"/>
      <dgm:spPr/>
    </dgm:pt>
    <dgm:pt modelId="{507E1D26-CD3B-4C26-A679-75B109F835DD}" type="pres">
      <dgm:prSet presAssocID="{3FCE815E-B898-43A6-9105-C44831F310EF}" presName="DropPin" presStyleLbl="revTx" presStyleIdx="9" presStyleCnt="21"/>
      <dgm:spPr/>
    </dgm:pt>
    <dgm:pt modelId="{75BBD415-93DB-4B2B-8613-D901BB954296}" type="pres">
      <dgm:prSet presAssocID="{3FCE815E-B898-43A6-9105-C44831F310EF}" presName="Ellipse" presStyleLbl="node2" presStyleIdx="3" presStyleCnt="7"/>
      <dgm:spPr>
        <a:solidFill>
          <a:schemeClr val="accent1">
            <a:hueOff val="0"/>
            <a:satOff val="0"/>
            <a:lumOff val="0"/>
            <a:alphaOff val="0"/>
          </a:schemeClr>
        </a:solidFill>
        <a:ln w="15875" cap="flat" cmpd="sng" algn="ctr">
          <a:noFill/>
          <a:prstDash val="solid"/>
        </a:ln>
        <a:effectLst/>
      </dgm:spPr>
    </dgm:pt>
    <dgm:pt modelId="{BB667006-D143-4D73-AE06-590C35069935}" type="pres">
      <dgm:prSet presAssocID="{3FCE815E-B898-43A6-9105-C44831F310EF}" presName="L2TextContainer" presStyleLbl="revTx" presStyleIdx="10" presStyleCnt="21">
        <dgm:presLayoutVars>
          <dgm:bulletEnabled val="1"/>
        </dgm:presLayoutVars>
      </dgm:prSet>
      <dgm:spPr/>
    </dgm:pt>
    <dgm:pt modelId="{5BB66E30-2210-4EE0-956D-FE01E5F89BEE}" type="pres">
      <dgm:prSet presAssocID="{3FCE815E-B898-43A6-9105-C44831F310EF}" presName="L1TextContainer" presStyleLbl="revTx" presStyleIdx="11" presStyleCnt="21">
        <dgm:presLayoutVars>
          <dgm:chMax val="1"/>
          <dgm:chPref val="1"/>
          <dgm:bulletEnabled val="1"/>
        </dgm:presLayoutVars>
      </dgm:prSet>
      <dgm:spPr/>
    </dgm:pt>
    <dgm:pt modelId="{93037C82-6213-424F-AD17-A9E9EF998C1B}" type="pres">
      <dgm:prSet presAssocID="{3FCE815E-B898-43A6-9105-C44831F310EF}" presName="ConnectLine" presStyleLbl="sibTrans1D1" presStyleIdx="3" presStyleCnt="7"/>
      <dgm:spPr/>
    </dgm:pt>
    <dgm:pt modelId="{14302B88-8702-45D2-901E-4531D8346CE1}" type="pres">
      <dgm:prSet presAssocID="{3FCE815E-B898-43A6-9105-C44831F310EF}" presName="EmptyPlaceHolder" presStyleCnt="0"/>
      <dgm:spPr/>
    </dgm:pt>
    <dgm:pt modelId="{5220D86E-B9FC-4D89-A23B-D1B361E71E5B}" type="pres">
      <dgm:prSet presAssocID="{05503851-A2C0-48E2-B4AF-90830D6D8942}" presName="spaceBetweenRectangles" presStyleCnt="0"/>
      <dgm:spPr/>
    </dgm:pt>
    <dgm:pt modelId="{55DC84CF-0C91-4690-B560-7737EA927166}" type="pres">
      <dgm:prSet presAssocID="{06B254E7-5A23-405E-8ACC-E216AC26A748}" presName="composite" presStyleCnt="0"/>
      <dgm:spPr/>
    </dgm:pt>
    <dgm:pt modelId="{33DF0671-2D18-49F4-A0EE-F5A4C82B0F57}" type="pres">
      <dgm:prSet presAssocID="{06B254E7-5A23-405E-8ACC-E216AC26A748}" presName="ConnectorPoint" presStyleLbl="lnNode1" presStyleIdx="4" presStyleCnt="7"/>
      <dgm:spPr>
        <a:solidFill>
          <a:schemeClr val="dk1">
            <a:hueOff val="0"/>
            <a:satOff val="0"/>
            <a:lumOff val="0"/>
            <a:alphaOff val="0"/>
          </a:schemeClr>
        </a:solidFill>
        <a:ln w="6350" cap="flat" cmpd="sng" algn="ctr">
          <a:solidFill>
            <a:schemeClr val="lt1">
              <a:hueOff val="0"/>
              <a:satOff val="0"/>
              <a:lumOff val="0"/>
              <a:alphaOff val="0"/>
            </a:schemeClr>
          </a:solidFill>
          <a:prstDash val="solid"/>
        </a:ln>
        <a:effectLst/>
      </dgm:spPr>
    </dgm:pt>
    <dgm:pt modelId="{3DE48826-2731-457F-931F-044B8D241A81}" type="pres">
      <dgm:prSet presAssocID="{06B254E7-5A23-405E-8ACC-E216AC26A748}" presName="DropPinPlaceHolder" presStyleCnt="0"/>
      <dgm:spPr/>
    </dgm:pt>
    <dgm:pt modelId="{8BBE4325-42E6-4682-93B7-74B439A878B4}" type="pres">
      <dgm:prSet presAssocID="{06B254E7-5A23-405E-8ACC-E216AC26A748}" presName="DropPin" presStyleLbl="revTx" presStyleIdx="12" presStyleCnt="21"/>
      <dgm:spPr/>
    </dgm:pt>
    <dgm:pt modelId="{4A5658B8-C812-44A6-A012-0BD3AD88FDF8}" type="pres">
      <dgm:prSet presAssocID="{06B254E7-5A23-405E-8ACC-E216AC26A748}" presName="Ellipse" presStyleLbl="node2" presStyleIdx="4" presStyleCnt="7"/>
      <dgm:spPr>
        <a:solidFill>
          <a:schemeClr val="accent1">
            <a:hueOff val="0"/>
            <a:satOff val="0"/>
            <a:lumOff val="0"/>
            <a:alphaOff val="0"/>
          </a:schemeClr>
        </a:solidFill>
        <a:ln w="15875" cap="flat" cmpd="sng" algn="ctr">
          <a:noFill/>
          <a:prstDash val="solid"/>
        </a:ln>
        <a:effectLst/>
      </dgm:spPr>
    </dgm:pt>
    <dgm:pt modelId="{E37F985D-0715-441E-97C8-F43AC8446995}" type="pres">
      <dgm:prSet presAssocID="{06B254E7-5A23-405E-8ACC-E216AC26A748}" presName="L2TextContainer" presStyleLbl="revTx" presStyleIdx="13" presStyleCnt="21">
        <dgm:presLayoutVars>
          <dgm:bulletEnabled val="1"/>
        </dgm:presLayoutVars>
      </dgm:prSet>
      <dgm:spPr/>
    </dgm:pt>
    <dgm:pt modelId="{62520346-2754-453D-AB0B-982216DF8BC4}" type="pres">
      <dgm:prSet presAssocID="{06B254E7-5A23-405E-8ACC-E216AC26A748}" presName="L1TextContainer" presStyleLbl="revTx" presStyleIdx="14" presStyleCnt="21">
        <dgm:presLayoutVars>
          <dgm:chMax val="1"/>
          <dgm:chPref val="1"/>
          <dgm:bulletEnabled val="1"/>
        </dgm:presLayoutVars>
      </dgm:prSet>
      <dgm:spPr/>
    </dgm:pt>
    <dgm:pt modelId="{5DDB6DB4-5DF5-41E1-B621-5CA6F9D32762}" type="pres">
      <dgm:prSet presAssocID="{06B254E7-5A23-405E-8ACC-E216AC26A748}" presName="ConnectLine" presStyleLbl="sibTrans1D1" presStyleIdx="4" presStyleCnt="7"/>
      <dgm:spPr/>
    </dgm:pt>
    <dgm:pt modelId="{9A93163D-5E12-48BD-963F-B29371E12F5B}" type="pres">
      <dgm:prSet presAssocID="{06B254E7-5A23-405E-8ACC-E216AC26A748}" presName="EmptyPlaceHolder" presStyleCnt="0"/>
      <dgm:spPr/>
    </dgm:pt>
    <dgm:pt modelId="{738165E1-888C-4E97-9829-80ACC67A6A10}" type="pres">
      <dgm:prSet presAssocID="{40D2B939-3B4B-41AB-8769-F28F91737870}" presName="spaceBetweenRectangles" presStyleCnt="0"/>
      <dgm:spPr/>
    </dgm:pt>
    <dgm:pt modelId="{1F37DDB1-98E6-49F0-A0F2-3330A2794BE4}" type="pres">
      <dgm:prSet presAssocID="{86857D54-4687-4147-86A0-C3403134F741}" presName="composite" presStyleCnt="0"/>
      <dgm:spPr/>
    </dgm:pt>
    <dgm:pt modelId="{D5F8EDE6-4AB7-4C89-9742-916026655A13}" type="pres">
      <dgm:prSet presAssocID="{86857D54-4687-4147-86A0-C3403134F741}" presName="ConnectorPoint" presStyleLbl="lnNode1" presStyleIdx="5" presStyleCnt="7"/>
      <dgm:spPr>
        <a:solidFill>
          <a:schemeClr val="dk1">
            <a:hueOff val="0"/>
            <a:satOff val="0"/>
            <a:lumOff val="0"/>
            <a:alphaOff val="0"/>
          </a:schemeClr>
        </a:solidFill>
        <a:ln w="6350" cap="flat" cmpd="sng" algn="ctr">
          <a:solidFill>
            <a:schemeClr val="lt1">
              <a:hueOff val="0"/>
              <a:satOff val="0"/>
              <a:lumOff val="0"/>
              <a:alphaOff val="0"/>
            </a:schemeClr>
          </a:solidFill>
          <a:prstDash val="solid"/>
        </a:ln>
        <a:effectLst/>
      </dgm:spPr>
    </dgm:pt>
    <dgm:pt modelId="{64D64A30-C31F-47EA-B325-6E157ACF6FBC}" type="pres">
      <dgm:prSet presAssocID="{86857D54-4687-4147-86A0-C3403134F741}" presName="DropPinPlaceHolder" presStyleCnt="0"/>
      <dgm:spPr/>
    </dgm:pt>
    <dgm:pt modelId="{A938667E-55F1-45E0-B0CC-8C1A13F7E235}" type="pres">
      <dgm:prSet presAssocID="{86857D54-4687-4147-86A0-C3403134F741}" presName="DropPin" presStyleLbl="revTx" presStyleIdx="15" presStyleCnt="21"/>
      <dgm:spPr/>
    </dgm:pt>
    <dgm:pt modelId="{A2BDCA71-43AB-4F81-AC84-8DB3B334557B}" type="pres">
      <dgm:prSet presAssocID="{86857D54-4687-4147-86A0-C3403134F741}" presName="Ellipse" presStyleLbl="node2" presStyleIdx="5" presStyleCnt="7"/>
      <dgm:spPr>
        <a:solidFill>
          <a:schemeClr val="accent1">
            <a:hueOff val="0"/>
            <a:satOff val="0"/>
            <a:lumOff val="0"/>
            <a:alphaOff val="0"/>
          </a:schemeClr>
        </a:solidFill>
        <a:ln w="15875" cap="flat" cmpd="sng" algn="ctr">
          <a:noFill/>
          <a:prstDash val="solid"/>
        </a:ln>
        <a:effectLst/>
      </dgm:spPr>
    </dgm:pt>
    <dgm:pt modelId="{68FD845C-61FC-4B0F-ADC2-24EF1781C016}" type="pres">
      <dgm:prSet presAssocID="{86857D54-4687-4147-86A0-C3403134F741}" presName="L2TextContainer" presStyleLbl="revTx" presStyleIdx="16" presStyleCnt="21">
        <dgm:presLayoutVars>
          <dgm:bulletEnabled val="1"/>
        </dgm:presLayoutVars>
      </dgm:prSet>
      <dgm:spPr/>
    </dgm:pt>
    <dgm:pt modelId="{40AB1371-A0C5-4199-B6B6-EACF138C7EC6}" type="pres">
      <dgm:prSet presAssocID="{86857D54-4687-4147-86A0-C3403134F741}" presName="L1TextContainer" presStyleLbl="revTx" presStyleIdx="17" presStyleCnt="21">
        <dgm:presLayoutVars>
          <dgm:chMax val="1"/>
          <dgm:chPref val="1"/>
          <dgm:bulletEnabled val="1"/>
        </dgm:presLayoutVars>
      </dgm:prSet>
      <dgm:spPr/>
    </dgm:pt>
    <dgm:pt modelId="{E957F676-8304-46FB-8A08-83D50DBFCD6E}" type="pres">
      <dgm:prSet presAssocID="{86857D54-4687-4147-86A0-C3403134F741}" presName="ConnectLine" presStyleLbl="sibTrans1D1" presStyleIdx="5" presStyleCnt="7"/>
      <dgm:spPr/>
    </dgm:pt>
    <dgm:pt modelId="{E4D69B75-DFB7-4078-8826-1DC284D9F2B9}" type="pres">
      <dgm:prSet presAssocID="{86857D54-4687-4147-86A0-C3403134F741}" presName="EmptyPlaceHolder" presStyleCnt="0"/>
      <dgm:spPr/>
    </dgm:pt>
    <dgm:pt modelId="{2EFB0A30-2447-407F-B5C4-C234E4EB42B4}" type="pres">
      <dgm:prSet presAssocID="{9C16B8F7-19C7-44D8-9080-B3A4C009A70E}" presName="spaceBetweenRectangles" presStyleCnt="0"/>
      <dgm:spPr/>
    </dgm:pt>
    <dgm:pt modelId="{24CEDC59-A22F-4521-B028-CD658419441F}" type="pres">
      <dgm:prSet presAssocID="{57D6DD0A-163D-4848-A605-779939BE7C07}" presName="composite" presStyleCnt="0"/>
      <dgm:spPr/>
    </dgm:pt>
    <dgm:pt modelId="{0B82835F-D33B-4B67-A4E8-A1F0C9162B93}" type="pres">
      <dgm:prSet presAssocID="{57D6DD0A-163D-4848-A605-779939BE7C07}" presName="ConnectorPoint" presStyleLbl="lnNode1" presStyleIdx="6" presStyleCnt="7"/>
      <dgm:spPr>
        <a:solidFill>
          <a:schemeClr val="dk1">
            <a:hueOff val="0"/>
            <a:satOff val="0"/>
            <a:lumOff val="0"/>
            <a:alphaOff val="0"/>
          </a:schemeClr>
        </a:solidFill>
        <a:ln w="6350" cap="flat" cmpd="sng" algn="ctr">
          <a:solidFill>
            <a:schemeClr val="lt1">
              <a:hueOff val="0"/>
              <a:satOff val="0"/>
              <a:lumOff val="0"/>
              <a:alphaOff val="0"/>
            </a:schemeClr>
          </a:solidFill>
          <a:prstDash val="solid"/>
        </a:ln>
        <a:effectLst/>
      </dgm:spPr>
    </dgm:pt>
    <dgm:pt modelId="{FB62F7FC-2720-41BB-B8D0-FDA93202D9FD}" type="pres">
      <dgm:prSet presAssocID="{57D6DD0A-163D-4848-A605-779939BE7C07}" presName="DropPinPlaceHolder" presStyleCnt="0"/>
      <dgm:spPr/>
    </dgm:pt>
    <dgm:pt modelId="{336F4EFF-F81D-44C7-BC28-1B88206CA183}" type="pres">
      <dgm:prSet presAssocID="{57D6DD0A-163D-4848-A605-779939BE7C07}" presName="DropPin" presStyleLbl="revTx" presStyleIdx="18" presStyleCnt="21"/>
      <dgm:spPr/>
    </dgm:pt>
    <dgm:pt modelId="{5B1F13F3-2491-44EC-835D-F9A0C806F3E0}" type="pres">
      <dgm:prSet presAssocID="{57D6DD0A-163D-4848-A605-779939BE7C07}" presName="Ellipse" presStyleLbl="node2" presStyleIdx="6" presStyleCnt="7"/>
      <dgm:spPr>
        <a:solidFill>
          <a:schemeClr val="accent1">
            <a:hueOff val="0"/>
            <a:satOff val="0"/>
            <a:lumOff val="0"/>
            <a:alphaOff val="0"/>
          </a:schemeClr>
        </a:solidFill>
        <a:ln w="15875" cap="flat" cmpd="sng" algn="ctr">
          <a:noFill/>
          <a:prstDash val="solid"/>
        </a:ln>
        <a:effectLst/>
      </dgm:spPr>
    </dgm:pt>
    <dgm:pt modelId="{553DDCC9-1525-477B-80BD-002A9B8061E6}" type="pres">
      <dgm:prSet presAssocID="{57D6DD0A-163D-4848-A605-779939BE7C07}" presName="L2TextContainer" presStyleLbl="revTx" presStyleIdx="19" presStyleCnt="21">
        <dgm:presLayoutVars>
          <dgm:bulletEnabled val="1"/>
        </dgm:presLayoutVars>
      </dgm:prSet>
      <dgm:spPr/>
    </dgm:pt>
    <dgm:pt modelId="{6C8A7E69-3CFF-4D25-9929-0458566094E6}" type="pres">
      <dgm:prSet presAssocID="{57D6DD0A-163D-4848-A605-779939BE7C07}" presName="L1TextContainer" presStyleLbl="revTx" presStyleIdx="20" presStyleCnt="21">
        <dgm:presLayoutVars>
          <dgm:chMax val="1"/>
          <dgm:chPref val="1"/>
          <dgm:bulletEnabled val="1"/>
        </dgm:presLayoutVars>
      </dgm:prSet>
      <dgm:spPr/>
    </dgm:pt>
    <dgm:pt modelId="{A48CE3AC-C714-422D-AC53-270FFB6F71A3}" type="pres">
      <dgm:prSet presAssocID="{57D6DD0A-163D-4848-A605-779939BE7C07}" presName="ConnectLine" presStyleLbl="sibTrans1D1" presStyleIdx="6" presStyleCnt="7"/>
      <dgm:spPr/>
    </dgm:pt>
    <dgm:pt modelId="{E058152E-1D69-426D-80AE-509EC8EEC0AD}" type="pres">
      <dgm:prSet presAssocID="{57D6DD0A-163D-4848-A605-779939BE7C07}" presName="EmptyPlaceHolder" presStyleCnt="0"/>
      <dgm:spPr/>
    </dgm:pt>
  </dgm:ptLst>
  <dgm:cxnLst>
    <dgm:cxn modelId="{CEC41F04-D094-4F19-954B-90A06A127E42}" type="presOf" srcId="{E1B75213-F4B3-4A6C-AB83-255ABC09BC76}" destId="{7627B48B-441A-4C0A-898F-98084A44E980}" srcOrd="0" destOrd="0" presId="urn:microsoft.com/office/officeart/2024/3/layout/BulletTimelineDefaultVariant"/>
    <dgm:cxn modelId="{F7EF630A-9556-46B8-BE57-6F5E38CC8B5A}" srcId="{82A057CE-B9BD-40CC-891B-FA38528A6A54}" destId="{E371FAEA-A610-43BD-BA5E-1FA426983744}" srcOrd="0" destOrd="0" parTransId="{C38F2058-F9A3-4525-9737-579E4F0D6286}" sibTransId="{35208D40-8152-4260-8E21-D4EA6C6DDE07}"/>
    <dgm:cxn modelId="{315F720C-2EEB-4459-A849-79CB637518B1}" srcId="{F3B1D5C8-27B8-4885-8CB0-8CC99E1333FD}" destId="{57D6DD0A-163D-4848-A605-779939BE7C07}" srcOrd="6" destOrd="0" parTransId="{7C374D81-8CE0-4EE2-A7C3-3FE3658171FB}" sibTransId="{454D863A-C360-4588-BC18-574C241DE4B8}"/>
    <dgm:cxn modelId="{7D23520F-2DB8-4B57-87C8-DE2B98425D49}" type="presOf" srcId="{3FCE815E-B898-43A6-9105-C44831F310EF}" destId="{5BB66E30-2210-4EE0-956D-FE01E5F89BEE}" srcOrd="0" destOrd="0" presId="urn:microsoft.com/office/officeart/2024/3/layout/BulletTimelineDefaultVariant"/>
    <dgm:cxn modelId="{1443A80F-66E3-4DAA-AF95-9686FE8E961E}" srcId="{F3B1D5C8-27B8-4885-8CB0-8CC99E1333FD}" destId="{3FCE815E-B898-43A6-9105-C44831F310EF}" srcOrd="3" destOrd="0" parTransId="{F886A4AA-651A-44F8-A2DE-871BEEC0D6C8}" sibTransId="{05503851-A2C0-48E2-B4AF-90830D6D8942}"/>
    <dgm:cxn modelId="{A98F1035-08B3-48C9-B59B-D3FABF9771AF}" type="presOf" srcId="{1192A97B-50CB-465C-B2EB-6D5528540A4C}" destId="{553DDCC9-1525-477B-80BD-002A9B8061E6}" srcOrd="0" destOrd="0" presId="urn:microsoft.com/office/officeart/2024/3/layout/BulletTimelineDefaultVariant"/>
    <dgm:cxn modelId="{2CFB833E-42C7-41A1-BDF2-E6A39CE6532A}" type="presOf" srcId="{06B254E7-5A23-405E-8ACC-E216AC26A748}" destId="{62520346-2754-453D-AB0B-982216DF8BC4}" srcOrd="0" destOrd="0" presId="urn:microsoft.com/office/officeart/2024/3/layout/BulletTimelineDefaultVariant"/>
    <dgm:cxn modelId="{D682A742-E953-4A9C-BD4E-A8C1DDFD6297}" type="presOf" srcId="{57D6DD0A-163D-4848-A605-779939BE7C07}" destId="{6C8A7E69-3CFF-4D25-9929-0458566094E6}" srcOrd="0" destOrd="0" presId="urn:microsoft.com/office/officeart/2024/3/layout/BulletTimelineDefaultVariant"/>
    <dgm:cxn modelId="{711D4E65-8FEC-4AFD-8357-42B505277688}" type="presOf" srcId="{ECFA5CCB-0ECA-4912-9CC3-A7A09055354C}" destId="{8E054BE1-390C-4083-AD0C-7969FA391F43}" srcOrd="0" destOrd="0" presId="urn:microsoft.com/office/officeart/2024/3/layout/BulletTimelineDefaultVariant"/>
    <dgm:cxn modelId="{1C89884B-43D6-4340-B91D-B1504DA86BF3}" srcId="{86857D54-4687-4147-86A0-C3403134F741}" destId="{042C7219-DEC4-4DB6-88FD-626CFF833EFD}" srcOrd="0" destOrd="0" parTransId="{B1812C07-D494-4191-ACB2-945D56A00BBD}" sibTransId="{525C71CD-9153-45F5-B61F-1EE0E9C7B031}"/>
    <dgm:cxn modelId="{AEF1D64D-B6C7-4DA8-8812-DB43BDF28A89}" type="presOf" srcId="{042C7219-DEC4-4DB6-88FD-626CFF833EFD}" destId="{68FD845C-61FC-4B0F-ADC2-24EF1781C016}" srcOrd="0" destOrd="0" presId="urn:microsoft.com/office/officeart/2024/3/layout/BulletTimelineDefaultVariant"/>
    <dgm:cxn modelId="{ED518D56-2363-4594-98FD-EA5FB7EBA96E}" type="presOf" srcId="{F3B1D5C8-27B8-4885-8CB0-8CC99E1333FD}" destId="{968D1F57-51A7-49B9-AFAE-4275A3DE504C}" srcOrd="0" destOrd="0" presId="urn:microsoft.com/office/officeart/2024/3/layout/BulletTimelineDefaultVariant"/>
    <dgm:cxn modelId="{9E649658-FE69-43BC-A314-556D78A88563}" srcId="{3FCE815E-B898-43A6-9105-C44831F310EF}" destId="{A34E385F-232D-40E5-B618-465BB9733BDD}" srcOrd="0" destOrd="0" parTransId="{A6B1644C-9816-42EE-8ED6-DDA37B53335F}" sibTransId="{6FD469B4-F66C-4A8E-945A-C72BA5018704}"/>
    <dgm:cxn modelId="{DF73617C-E098-4CE3-A4BC-F2668AE5B2A5}" srcId="{ECFA5CCB-0ECA-4912-9CC3-A7A09055354C}" destId="{3FB27218-AEAB-4640-AF55-4FC69309DE04}" srcOrd="0" destOrd="0" parTransId="{35BA7439-B023-41D4-9E37-37A53D33BFF1}" sibTransId="{1AE3B222-2B34-459B-9BEE-FB3EC3A79F3F}"/>
    <dgm:cxn modelId="{A81A8D7C-588A-4DC6-BC66-2DE65E2C544E}" srcId="{06B254E7-5A23-405E-8ACC-E216AC26A748}" destId="{BCDEF222-0120-441A-BCA3-778B19B6DBCD}" srcOrd="0" destOrd="0" parTransId="{F3B78180-580E-4B60-BA8C-703BF8349C62}" sibTransId="{6031CDE5-9577-420B-8B46-28B839F8B558}"/>
    <dgm:cxn modelId="{39495580-50F7-41BF-A7CA-A5D3D18249BD}" srcId="{F3B1D5C8-27B8-4885-8CB0-8CC99E1333FD}" destId="{82A057CE-B9BD-40CC-891B-FA38528A6A54}" srcOrd="2" destOrd="0" parTransId="{2AB93A72-DF25-4F49-9B39-500DF4F44E0C}" sibTransId="{28F7C0E4-0E67-48AD-8790-61304A3872FF}"/>
    <dgm:cxn modelId="{54FCBE85-9FF5-4071-9086-CA74EBCB12AE}" srcId="{57D6DD0A-163D-4848-A605-779939BE7C07}" destId="{1192A97B-50CB-465C-B2EB-6D5528540A4C}" srcOrd="0" destOrd="0" parTransId="{57240E89-1B93-47A2-A289-572BF9D1948E}" sibTransId="{B2926176-0C32-4E48-A023-A5EDFBA50B31}"/>
    <dgm:cxn modelId="{3E17999A-7535-4020-8A1C-E4C48A040E9F}" srcId="{F3B1D5C8-27B8-4885-8CB0-8CC99E1333FD}" destId="{86857D54-4687-4147-86A0-C3403134F741}" srcOrd="5" destOrd="0" parTransId="{828806E0-51D3-4784-AE6A-17D172EC0406}" sibTransId="{9C16B8F7-19C7-44D8-9080-B3A4C009A70E}"/>
    <dgm:cxn modelId="{DEDEA6A3-BC63-4B7A-9A75-47901C58579A}" type="presOf" srcId="{E371FAEA-A610-43BD-BA5E-1FA426983744}" destId="{82788E05-9D96-4C19-8052-D9616BF87F1A}" srcOrd="0" destOrd="0" presId="urn:microsoft.com/office/officeart/2024/3/layout/BulletTimelineDefaultVariant"/>
    <dgm:cxn modelId="{0A1078AA-8220-430E-873B-8DE48748ABE8}" srcId="{F3B1D5C8-27B8-4885-8CB0-8CC99E1333FD}" destId="{06B254E7-5A23-405E-8ACC-E216AC26A748}" srcOrd="4" destOrd="0" parTransId="{12C47B51-992B-4D0C-AD7E-9C619A190F75}" sibTransId="{40D2B939-3B4B-41AB-8769-F28F91737870}"/>
    <dgm:cxn modelId="{FE6413B0-24C3-4672-90C6-C782AA4DC8E3}" srcId="{F3B1D5C8-27B8-4885-8CB0-8CC99E1333FD}" destId="{ECFA5CCB-0ECA-4912-9CC3-A7A09055354C}" srcOrd="1" destOrd="0" parTransId="{8A412BD5-D7A1-4731-ACE0-9B798D30B3E3}" sibTransId="{B96FB0D1-D11E-432C-A5FD-F3FECE965B52}"/>
    <dgm:cxn modelId="{FABC0CB4-9C4B-45E2-93C7-9394A60FDD64}" srcId="{E1B75213-F4B3-4A6C-AB83-255ABC09BC76}" destId="{759E19E3-A542-4800-AA71-7ECFB21CDE63}" srcOrd="0" destOrd="0" parTransId="{D679CB6B-F424-4908-AD18-EF442245382E}" sibTransId="{BE263226-1E50-4BD7-AB33-F9A6FD5A809D}"/>
    <dgm:cxn modelId="{58878CB8-6868-4509-BAA1-24F802580CA2}" srcId="{F3B1D5C8-27B8-4885-8CB0-8CC99E1333FD}" destId="{E1B75213-F4B3-4A6C-AB83-255ABC09BC76}" srcOrd="0" destOrd="0" parTransId="{47D3A749-26B5-4F8B-A6BD-07F9B2A7DF9A}" sibTransId="{2C2842B8-757C-4A32-BB9A-F49134F387A7}"/>
    <dgm:cxn modelId="{D04A07BA-D4BE-4CF2-A532-844DCB27D333}" type="presOf" srcId="{86857D54-4687-4147-86A0-C3403134F741}" destId="{40AB1371-A0C5-4199-B6B6-EACF138C7EC6}" srcOrd="0" destOrd="0" presId="urn:microsoft.com/office/officeart/2024/3/layout/BulletTimelineDefaultVariant"/>
    <dgm:cxn modelId="{AEA5E8DD-C687-46E6-A5F0-06AC22A00C79}" type="presOf" srcId="{82A057CE-B9BD-40CC-891B-FA38528A6A54}" destId="{A87B4622-09C2-4AC5-8D99-BA4EB9016D1E}" srcOrd="0" destOrd="0" presId="urn:microsoft.com/office/officeart/2024/3/layout/BulletTimelineDefaultVariant"/>
    <dgm:cxn modelId="{6D4D19DE-9ECE-4625-83B0-358E7A092B6E}" type="presOf" srcId="{A34E385F-232D-40E5-B618-465BB9733BDD}" destId="{BB667006-D143-4D73-AE06-590C35069935}" srcOrd="0" destOrd="0" presId="urn:microsoft.com/office/officeart/2024/3/layout/BulletTimelineDefaultVariant"/>
    <dgm:cxn modelId="{8BAA3FF5-FB19-4D4E-BF69-6C24631D537D}" type="presOf" srcId="{3FB27218-AEAB-4640-AF55-4FC69309DE04}" destId="{01224C07-90F7-4460-9986-0B0E207219BD}" srcOrd="0" destOrd="0" presId="urn:microsoft.com/office/officeart/2024/3/layout/BulletTimelineDefaultVariant"/>
    <dgm:cxn modelId="{1AB64EF9-8C0B-49BA-BA6F-69392EE45AC1}" type="presOf" srcId="{759E19E3-A542-4800-AA71-7ECFB21CDE63}" destId="{8FA7BCC3-067B-4FBA-9F93-FC3D8659969B}" srcOrd="0" destOrd="0" presId="urn:microsoft.com/office/officeart/2024/3/layout/BulletTimelineDefaultVariant"/>
    <dgm:cxn modelId="{B2B2DDFD-F77F-41E7-B84D-481DF0318491}" type="presOf" srcId="{BCDEF222-0120-441A-BCA3-778B19B6DBCD}" destId="{E37F985D-0715-441E-97C8-F43AC8446995}" srcOrd="0" destOrd="0" presId="urn:microsoft.com/office/officeart/2024/3/layout/BulletTimelineDefaultVariant"/>
    <dgm:cxn modelId="{444756F9-EF1E-4892-A0B4-199A7CDED816}" type="presParOf" srcId="{968D1F57-51A7-49B9-AFAE-4275A3DE504C}" destId="{7C4E0656-4ABB-41E4-B343-0F14797DDDED}" srcOrd="0" destOrd="0" presId="urn:microsoft.com/office/officeart/2024/3/layout/BulletTimelineDefaultVariant"/>
    <dgm:cxn modelId="{B8F5DF5D-24B4-44FF-904A-6369003F0EBA}" type="presParOf" srcId="{968D1F57-51A7-49B9-AFAE-4275A3DE504C}" destId="{673C5802-1681-4EA6-B96E-905DF73EB53A}" srcOrd="1" destOrd="0" presId="urn:microsoft.com/office/officeart/2024/3/layout/BulletTimelineDefaultVariant"/>
    <dgm:cxn modelId="{FAF66327-1A46-4AC6-80A6-AE9CE208DB78}" type="presParOf" srcId="{673C5802-1681-4EA6-B96E-905DF73EB53A}" destId="{2E301C4C-92F6-4B6B-917C-F8F42EBC4613}" srcOrd="0" destOrd="0" presId="urn:microsoft.com/office/officeart/2024/3/layout/BulletTimelineDefaultVariant"/>
    <dgm:cxn modelId="{DF6A8BBE-8535-4714-8718-553FB6966043}" type="presParOf" srcId="{2E301C4C-92F6-4B6B-917C-F8F42EBC4613}" destId="{F1A949A9-DAD4-467C-96B7-78CB699DFE37}" srcOrd="0" destOrd="0" presId="urn:microsoft.com/office/officeart/2024/3/layout/BulletTimelineDefaultVariant"/>
    <dgm:cxn modelId="{EACEAC92-456F-41E9-933B-EB4F26A89924}" type="presParOf" srcId="{2E301C4C-92F6-4B6B-917C-F8F42EBC4613}" destId="{7C206B35-83C1-4C50-9EEE-0AB1A869F2C5}" srcOrd="1" destOrd="0" presId="urn:microsoft.com/office/officeart/2024/3/layout/BulletTimelineDefaultVariant"/>
    <dgm:cxn modelId="{B588ECA2-6B35-48AF-9907-86E3B149ADB1}" type="presParOf" srcId="{7C206B35-83C1-4C50-9EEE-0AB1A869F2C5}" destId="{AC35D586-EC95-4589-8E1A-5E9DE9D7E613}" srcOrd="0" destOrd="0" presId="urn:microsoft.com/office/officeart/2024/3/layout/BulletTimelineDefaultVariant"/>
    <dgm:cxn modelId="{E0B6AC82-169E-43ED-B762-CCBCA2815AE6}" type="presParOf" srcId="{7C206B35-83C1-4C50-9EEE-0AB1A869F2C5}" destId="{DD238AC6-608D-41BC-8D85-A7F889CF755B}" srcOrd="1" destOrd="0" presId="urn:microsoft.com/office/officeart/2024/3/layout/BulletTimelineDefaultVariant"/>
    <dgm:cxn modelId="{B5351F43-B9FE-4706-989A-6948169F45FF}" type="presParOf" srcId="{2E301C4C-92F6-4B6B-917C-F8F42EBC4613}" destId="{8FA7BCC3-067B-4FBA-9F93-FC3D8659969B}" srcOrd="2" destOrd="0" presId="urn:microsoft.com/office/officeart/2024/3/layout/BulletTimelineDefaultVariant"/>
    <dgm:cxn modelId="{6219407F-5329-431C-A3FE-BBEBBF7A920A}" type="presParOf" srcId="{2E301C4C-92F6-4B6B-917C-F8F42EBC4613}" destId="{7627B48B-441A-4C0A-898F-98084A44E980}" srcOrd="3" destOrd="0" presId="urn:microsoft.com/office/officeart/2024/3/layout/BulletTimelineDefaultVariant"/>
    <dgm:cxn modelId="{4D0D1051-B671-4AB7-91A8-DEA46A3B6339}" type="presParOf" srcId="{2E301C4C-92F6-4B6B-917C-F8F42EBC4613}" destId="{A7C35CF9-4488-4EC8-AD93-E29BC058E69E}" srcOrd="4" destOrd="0" presId="urn:microsoft.com/office/officeart/2024/3/layout/BulletTimelineDefaultVariant"/>
    <dgm:cxn modelId="{B6DE01F3-D8E8-4C61-AF34-B6ABE6169EAB}" type="presParOf" srcId="{2E301C4C-92F6-4B6B-917C-F8F42EBC4613}" destId="{D286F1C2-D9C5-442D-A819-3CDBB21980FC}" srcOrd="5" destOrd="0" presId="urn:microsoft.com/office/officeart/2024/3/layout/BulletTimelineDefaultVariant"/>
    <dgm:cxn modelId="{DED2BB7B-0EF6-4CFA-ABA0-05BAE0D9D377}" type="presParOf" srcId="{673C5802-1681-4EA6-B96E-905DF73EB53A}" destId="{CD7362D0-F624-40FA-8AFC-1E5A328180D3}" srcOrd="1" destOrd="0" presId="urn:microsoft.com/office/officeart/2024/3/layout/BulletTimelineDefaultVariant"/>
    <dgm:cxn modelId="{F4DDF58E-5761-41CC-AA2A-304E0F6F49B0}" type="presParOf" srcId="{673C5802-1681-4EA6-B96E-905DF73EB53A}" destId="{7E0ABABD-B35F-4FCB-8304-50164042B77B}" srcOrd="2" destOrd="0" presId="urn:microsoft.com/office/officeart/2024/3/layout/BulletTimelineDefaultVariant"/>
    <dgm:cxn modelId="{75EE025E-F579-40B9-9CBD-445BCEF4B2AA}" type="presParOf" srcId="{7E0ABABD-B35F-4FCB-8304-50164042B77B}" destId="{9021AA33-67FA-438F-B2B4-C2112E589BB8}" srcOrd="0" destOrd="0" presId="urn:microsoft.com/office/officeart/2024/3/layout/BulletTimelineDefaultVariant"/>
    <dgm:cxn modelId="{BBCB7A58-9111-4AE9-A505-A2E770638F01}" type="presParOf" srcId="{7E0ABABD-B35F-4FCB-8304-50164042B77B}" destId="{60317DE7-3C77-4AB9-AC0E-EA974BAFDB97}" srcOrd="1" destOrd="0" presId="urn:microsoft.com/office/officeart/2024/3/layout/BulletTimelineDefaultVariant"/>
    <dgm:cxn modelId="{C8CC2F31-2A46-49FF-8856-EA8E7096B584}" type="presParOf" srcId="{60317DE7-3C77-4AB9-AC0E-EA974BAFDB97}" destId="{3528ECE3-BF53-4883-8D30-E9D0B0E01DCC}" srcOrd="0" destOrd="0" presId="urn:microsoft.com/office/officeart/2024/3/layout/BulletTimelineDefaultVariant"/>
    <dgm:cxn modelId="{E574C3CB-4AF3-4B29-A2D5-4E35F35A2A54}" type="presParOf" srcId="{60317DE7-3C77-4AB9-AC0E-EA974BAFDB97}" destId="{26F05367-601C-4A06-AC7A-0A89B609F78A}" srcOrd="1" destOrd="0" presId="urn:microsoft.com/office/officeart/2024/3/layout/BulletTimelineDefaultVariant"/>
    <dgm:cxn modelId="{07298A58-F825-46A3-A593-DFC56C2A2491}" type="presParOf" srcId="{7E0ABABD-B35F-4FCB-8304-50164042B77B}" destId="{01224C07-90F7-4460-9986-0B0E207219BD}" srcOrd="2" destOrd="0" presId="urn:microsoft.com/office/officeart/2024/3/layout/BulletTimelineDefaultVariant"/>
    <dgm:cxn modelId="{189270E2-6558-4F0C-95EF-2D517D98E91F}" type="presParOf" srcId="{7E0ABABD-B35F-4FCB-8304-50164042B77B}" destId="{8E054BE1-390C-4083-AD0C-7969FA391F43}" srcOrd="3" destOrd="0" presId="urn:microsoft.com/office/officeart/2024/3/layout/BulletTimelineDefaultVariant"/>
    <dgm:cxn modelId="{96990C6A-4906-4CC0-8B06-637104CA757D}" type="presParOf" srcId="{7E0ABABD-B35F-4FCB-8304-50164042B77B}" destId="{C5115633-C49F-4669-BA0D-2CC4DE697265}" srcOrd="4" destOrd="0" presId="urn:microsoft.com/office/officeart/2024/3/layout/BulletTimelineDefaultVariant"/>
    <dgm:cxn modelId="{0552F40C-AB01-41E2-B70B-01BE09B120E9}" type="presParOf" srcId="{7E0ABABD-B35F-4FCB-8304-50164042B77B}" destId="{897026AD-ABF6-4EFB-965E-3FB80BA9F772}" srcOrd="5" destOrd="0" presId="urn:microsoft.com/office/officeart/2024/3/layout/BulletTimelineDefaultVariant"/>
    <dgm:cxn modelId="{F37F067E-892D-43D8-8078-02301663E0AE}" type="presParOf" srcId="{673C5802-1681-4EA6-B96E-905DF73EB53A}" destId="{FE0CC5A7-F9BF-42C1-9021-574102BDBDDF}" srcOrd="3" destOrd="0" presId="urn:microsoft.com/office/officeart/2024/3/layout/BulletTimelineDefaultVariant"/>
    <dgm:cxn modelId="{8F3CCB48-D359-4165-9819-CCC68F5AA5EC}" type="presParOf" srcId="{673C5802-1681-4EA6-B96E-905DF73EB53A}" destId="{40424F58-BE7D-42DB-9E3C-B599F47ECCC0}" srcOrd="4" destOrd="0" presId="urn:microsoft.com/office/officeart/2024/3/layout/BulletTimelineDefaultVariant"/>
    <dgm:cxn modelId="{57C514EE-9377-45D5-BF34-74FD42AAAF3B}" type="presParOf" srcId="{40424F58-BE7D-42DB-9E3C-B599F47ECCC0}" destId="{2DCAA90F-5043-488E-8172-846BAACF242E}" srcOrd="0" destOrd="0" presId="urn:microsoft.com/office/officeart/2024/3/layout/BulletTimelineDefaultVariant"/>
    <dgm:cxn modelId="{F84F0B76-13CE-4929-9E8D-828F5C98A4E2}" type="presParOf" srcId="{40424F58-BE7D-42DB-9E3C-B599F47ECCC0}" destId="{894C373C-DAAA-4573-9045-DFACEA8076F0}" srcOrd="1" destOrd="0" presId="urn:microsoft.com/office/officeart/2024/3/layout/BulletTimelineDefaultVariant"/>
    <dgm:cxn modelId="{192BB5BA-2BCC-481C-BA90-24E26470191C}" type="presParOf" srcId="{894C373C-DAAA-4573-9045-DFACEA8076F0}" destId="{A857E835-2DBD-4F23-95D9-5763D1059152}" srcOrd="0" destOrd="0" presId="urn:microsoft.com/office/officeart/2024/3/layout/BulletTimelineDefaultVariant"/>
    <dgm:cxn modelId="{D98F7D88-6D10-481C-B4F3-8358B9BDB37F}" type="presParOf" srcId="{894C373C-DAAA-4573-9045-DFACEA8076F0}" destId="{B75983BB-94FA-4DC8-B12C-67D94C8385D7}" srcOrd="1" destOrd="0" presId="urn:microsoft.com/office/officeart/2024/3/layout/BulletTimelineDefaultVariant"/>
    <dgm:cxn modelId="{EAE7ABBE-1F0F-4911-B8BA-BC37E61FBD10}" type="presParOf" srcId="{40424F58-BE7D-42DB-9E3C-B599F47ECCC0}" destId="{82788E05-9D96-4C19-8052-D9616BF87F1A}" srcOrd="2" destOrd="0" presId="urn:microsoft.com/office/officeart/2024/3/layout/BulletTimelineDefaultVariant"/>
    <dgm:cxn modelId="{83CB1E30-B8FE-41D3-BC33-DE5EDB9A6411}" type="presParOf" srcId="{40424F58-BE7D-42DB-9E3C-B599F47ECCC0}" destId="{A87B4622-09C2-4AC5-8D99-BA4EB9016D1E}" srcOrd="3" destOrd="0" presId="urn:microsoft.com/office/officeart/2024/3/layout/BulletTimelineDefaultVariant"/>
    <dgm:cxn modelId="{31B89D78-1BE5-435E-A960-7A448B787D86}" type="presParOf" srcId="{40424F58-BE7D-42DB-9E3C-B599F47ECCC0}" destId="{49E3425B-84C9-4386-B318-6275F82226D8}" srcOrd="4" destOrd="0" presId="urn:microsoft.com/office/officeart/2024/3/layout/BulletTimelineDefaultVariant"/>
    <dgm:cxn modelId="{AA636AD6-A114-4A5B-A1AC-3B2ECF5B31BF}" type="presParOf" srcId="{40424F58-BE7D-42DB-9E3C-B599F47ECCC0}" destId="{A66B999E-1138-4596-A58B-84C0FDFA0B2C}" srcOrd="5" destOrd="0" presId="urn:microsoft.com/office/officeart/2024/3/layout/BulletTimelineDefaultVariant"/>
    <dgm:cxn modelId="{13969D95-9D7C-4076-A4AA-592DF63D46E7}" type="presParOf" srcId="{673C5802-1681-4EA6-B96E-905DF73EB53A}" destId="{726B964B-822D-445E-8F6A-32A5BADBD8DF}" srcOrd="5" destOrd="0" presId="urn:microsoft.com/office/officeart/2024/3/layout/BulletTimelineDefaultVariant"/>
    <dgm:cxn modelId="{41AA6A81-F05D-4F7F-82A7-156B9787182D}" type="presParOf" srcId="{673C5802-1681-4EA6-B96E-905DF73EB53A}" destId="{70CD324A-F366-414C-A599-9462F429ABF4}" srcOrd="6" destOrd="0" presId="urn:microsoft.com/office/officeart/2024/3/layout/BulletTimelineDefaultVariant"/>
    <dgm:cxn modelId="{B68D2587-A0F7-4828-B1D2-8CA0C84D485E}" type="presParOf" srcId="{70CD324A-F366-414C-A599-9462F429ABF4}" destId="{9E08EE77-2F99-4729-A509-0B7DFA1E86A6}" srcOrd="0" destOrd="0" presId="urn:microsoft.com/office/officeart/2024/3/layout/BulletTimelineDefaultVariant"/>
    <dgm:cxn modelId="{6D776845-D042-4413-9383-BEB5E8D0CE53}" type="presParOf" srcId="{70CD324A-F366-414C-A599-9462F429ABF4}" destId="{00FDF843-9A19-41D2-A231-83AA1C320153}" srcOrd="1" destOrd="0" presId="urn:microsoft.com/office/officeart/2024/3/layout/BulletTimelineDefaultVariant"/>
    <dgm:cxn modelId="{8041B276-CCBF-47FE-B01A-122AD25319AA}" type="presParOf" srcId="{00FDF843-9A19-41D2-A231-83AA1C320153}" destId="{507E1D26-CD3B-4C26-A679-75B109F835DD}" srcOrd="0" destOrd="0" presId="urn:microsoft.com/office/officeart/2024/3/layout/BulletTimelineDefaultVariant"/>
    <dgm:cxn modelId="{435447B0-D2E2-486E-867B-A9402A8CD4D4}" type="presParOf" srcId="{00FDF843-9A19-41D2-A231-83AA1C320153}" destId="{75BBD415-93DB-4B2B-8613-D901BB954296}" srcOrd="1" destOrd="0" presId="urn:microsoft.com/office/officeart/2024/3/layout/BulletTimelineDefaultVariant"/>
    <dgm:cxn modelId="{18C31403-2224-4657-88C9-B6312A3FAE42}" type="presParOf" srcId="{70CD324A-F366-414C-A599-9462F429ABF4}" destId="{BB667006-D143-4D73-AE06-590C35069935}" srcOrd="2" destOrd="0" presId="urn:microsoft.com/office/officeart/2024/3/layout/BulletTimelineDefaultVariant"/>
    <dgm:cxn modelId="{7BB50E09-B0B7-4AFB-B6EC-DD7223D3577E}" type="presParOf" srcId="{70CD324A-F366-414C-A599-9462F429ABF4}" destId="{5BB66E30-2210-4EE0-956D-FE01E5F89BEE}" srcOrd="3" destOrd="0" presId="urn:microsoft.com/office/officeart/2024/3/layout/BulletTimelineDefaultVariant"/>
    <dgm:cxn modelId="{57B941C4-AEDB-4A23-9389-340D89714B04}" type="presParOf" srcId="{70CD324A-F366-414C-A599-9462F429ABF4}" destId="{93037C82-6213-424F-AD17-A9E9EF998C1B}" srcOrd="4" destOrd="0" presId="urn:microsoft.com/office/officeart/2024/3/layout/BulletTimelineDefaultVariant"/>
    <dgm:cxn modelId="{B15C857B-1333-4356-9959-EA8F73D2A89A}" type="presParOf" srcId="{70CD324A-F366-414C-A599-9462F429ABF4}" destId="{14302B88-8702-45D2-901E-4531D8346CE1}" srcOrd="5" destOrd="0" presId="urn:microsoft.com/office/officeart/2024/3/layout/BulletTimelineDefaultVariant"/>
    <dgm:cxn modelId="{2F8125CB-7826-4CA5-B1B2-07087C6798C4}" type="presParOf" srcId="{673C5802-1681-4EA6-B96E-905DF73EB53A}" destId="{5220D86E-B9FC-4D89-A23B-D1B361E71E5B}" srcOrd="7" destOrd="0" presId="urn:microsoft.com/office/officeart/2024/3/layout/BulletTimelineDefaultVariant"/>
    <dgm:cxn modelId="{281071FA-048A-4730-8146-4E45C14949A8}" type="presParOf" srcId="{673C5802-1681-4EA6-B96E-905DF73EB53A}" destId="{55DC84CF-0C91-4690-B560-7737EA927166}" srcOrd="8" destOrd="0" presId="urn:microsoft.com/office/officeart/2024/3/layout/BulletTimelineDefaultVariant"/>
    <dgm:cxn modelId="{6A975234-9060-489E-9A4A-A6FFF5B76453}" type="presParOf" srcId="{55DC84CF-0C91-4690-B560-7737EA927166}" destId="{33DF0671-2D18-49F4-A0EE-F5A4C82B0F57}" srcOrd="0" destOrd="0" presId="urn:microsoft.com/office/officeart/2024/3/layout/BulletTimelineDefaultVariant"/>
    <dgm:cxn modelId="{48B24008-978D-4395-AA54-023F3DBA0217}" type="presParOf" srcId="{55DC84CF-0C91-4690-B560-7737EA927166}" destId="{3DE48826-2731-457F-931F-044B8D241A81}" srcOrd="1" destOrd="0" presId="urn:microsoft.com/office/officeart/2024/3/layout/BulletTimelineDefaultVariant"/>
    <dgm:cxn modelId="{549461C3-5A3C-41CE-8A2C-71F084CC633C}" type="presParOf" srcId="{3DE48826-2731-457F-931F-044B8D241A81}" destId="{8BBE4325-42E6-4682-93B7-74B439A878B4}" srcOrd="0" destOrd="0" presId="urn:microsoft.com/office/officeart/2024/3/layout/BulletTimelineDefaultVariant"/>
    <dgm:cxn modelId="{FA832B93-6829-4C8D-9315-99252E80DE68}" type="presParOf" srcId="{3DE48826-2731-457F-931F-044B8D241A81}" destId="{4A5658B8-C812-44A6-A012-0BD3AD88FDF8}" srcOrd="1" destOrd="0" presId="urn:microsoft.com/office/officeart/2024/3/layout/BulletTimelineDefaultVariant"/>
    <dgm:cxn modelId="{1A14B7D7-D8AB-4113-8A0B-10D3B347A430}" type="presParOf" srcId="{55DC84CF-0C91-4690-B560-7737EA927166}" destId="{E37F985D-0715-441E-97C8-F43AC8446995}" srcOrd="2" destOrd="0" presId="urn:microsoft.com/office/officeart/2024/3/layout/BulletTimelineDefaultVariant"/>
    <dgm:cxn modelId="{B5D69F04-3DC2-4F77-89E1-41DD1D2DC607}" type="presParOf" srcId="{55DC84CF-0C91-4690-B560-7737EA927166}" destId="{62520346-2754-453D-AB0B-982216DF8BC4}" srcOrd="3" destOrd="0" presId="urn:microsoft.com/office/officeart/2024/3/layout/BulletTimelineDefaultVariant"/>
    <dgm:cxn modelId="{E40CA8FF-F902-41A8-909A-C48CAE719931}" type="presParOf" srcId="{55DC84CF-0C91-4690-B560-7737EA927166}" destId="{5DDB6DB4-5DF5-41E1-B621-5CA6F9D32762}" srcOrd="4" destOrd="0" presId="urn:microsoft.com/office/officeart/2024/3/layout/BulletTimelineDefaultVariant"/>
    <dgm:cxn modelId="{DFD676C8-D822-4ACE-972C-81D22C55844A}" type="presParOf" srcId="{55DC84CF-0C91-4690-B560-7737EA927166}" destId="{9A93163D-5E12-48BD-963F-B29371E12F5B}" srcOrd="5" destOrd="0" presId="urn:microsoft.com/office/officeart/2024/3/layout/BulletTimelineDefaultVariant"/>
    <dgm:cxn modelId="{14678045-2FA1-4EF5-9466-95A39E2666F5}" type="presParOf" srcId="{673C5802-1681-4EA6-B96E-905DF73EB53A}" destId="{738165E1-888C-4E97-9829-80ACC67A6A10}" srcOrd="9" destOrd="0" presId="urn:microsoft.com/office/officeart/2024/3/layout/BulletTimelineDefaultVariant"/>
    <dgm:cxn modelId="{C506A73E-8943-47DB-8CDC-FE3DFC594924}" type="presParOf" srcId="{673C5802-1681-4EA6-B96E-905DF73EB53A}" destId="{1F37DDB1-98E6-49F0-A0F2-3330A2794BE4}" srcOrd="10" destOrd="0" presId="urn:microsoft.com/office/officeart/2024/3/layout/BulletTimelineDefaultVariant"/>
    <dgm:cxn modelId="{290E15A7-6F5E-4A4B-BE2B-AFA5F64AD76B}" type="presParOf" srcId="{1F37DDB1-98E6-49F0-A0F2-3330A2794BE4}" destId="{D5F8EDE6-4AB7-4C89-9742-916026655A13}" srcOrd="0" destOrd="0" presId="urn:microsoft.com/office/officeart/2024/3/layout/BulletTimelineDefaultVariant"/>
    <dgm:cxn modelId="{917CADD8-B3F2-4EAC-8983-A09F3D966ED4}" type="presParOf" srcId="{1F37DDB1-98E6-49F0-A0F2-3330A2794BE4}" destId="{64D64A30-C31F-47EA-B325-6E157ACF6FBC}" srcOrd="1" destOrd="0" presId="urn:microsoft.com/office/officeart/2024/3/layout/BulletTimelineDefaultVariant"/>
    <dgm:cxn modelId="{C3212184-6344-4982-B384-C3E76AB0A0EA}" type="presParOf" srcId="{64D64A30-C31F-47EA-B325-6E157ACF6FBC}" destId="{A938667E-55F1-45E0-B0CC-8C1A13F7E235}" srcOrd="0" destOrd="0" presId="urn:microsoft.com/office/officeart/2024/3/layout/BulletTimelineDefaultVariant"/>
    <dgm:cxn modelId="{8C63F8C4-5325-4727-854B-ACB3EA66C01A}" type="presParOf" srcId="{64D64A30-C31F-47EA-B325-6E157ACF6FBC}" destId="{A2BDCA71-43AB-4F81-AC84-8DB3B334557B}" srcOrd="1" destOrd="0" presId="urn:microsoft.com/office/officeart/2024/3/layout/BulletTimelineDefaultVariant"/>
    <dgm:cxn modelId="{B7CAF40B-6855-4C0A-836A-C4C3B98D84D7}" type="presParOf" srcId="{1F37DDB1-98E6-49F0-A0F2-3330A2794BE4}" destId="{68FD845C-61FC-4B0F-ADC2-24EF1781C016}" srcOrd="2" destOrd="0" presId="urn:microsoft.com/office/officeart/2024/3/layout/BulletTimelineDefaultVariant"/>
    <dgm:cxn modelId="{62A37AEC-FE9C-461D-8FAF-864509FC3801}" type="presParOf" srcId="{1F37DDB1-98E6-49F0-A0F2-3330A2794BE4}" destId="{40AB1371-A0C5-4199-B6B6-EACF138C7EC6}" srcOrd="3" destOrd="0" presId="urn:microsoft.com/office/officeart/2024/3/layout/BulletTimelineDefaultVariant"/>
    <dgm:cxn modelId="{F5120B5A-B071-4C41-933E-66B6C5D2F2B0}" type="presParOf" srcId="{1F37DDB1-98E6-49F0-A0F2-3330A2794BE4}" destId="{E957F676-8304-46FB-8A08-83D50DBFCD6E}" srcOrd="4" destOrd="0" presId="urn:microsoft.com/office/officeart/2024/3/layout/BulletTimelineDefaultVariant"/>
    <dgm:cxn modelId="{50310A0F-3505-43E3-9F40-358021405B2A}" type="presParOf" srcId="{1F37DDB1-98E6-49F0-A0F2-3330A2794BE4}" destId="{E4D69B75-DFB7-4078-8826-1DC284D9F2B9}" srcOrd="5" destOrd="0" presId="urn:microsoft.com/office/officeart/2024/3/layout/BulletTimelineDefaultVariant"/>
    <dgm:cxn modelId="{C200FF6B-26E8-4235-B2BD-3B03DB3870E6}" type="presParOf" srcId="{673C5802-1681-4EA6-B96E-905DF73EB53A}" destId="{2EFB0A30-2447-407F-B5C4-C234E4EB42B4}" srcOrd="11" destOrd="0" presId="urn:microsoft.com/office/officeart/2024/3/layout/BulletTimelineDefaultVariant"/>
    <dgm:cxn modelId="{D1F7C388-188A-4426-AB7B-4245CC632F5F}" type="presParOf" srcId="{673C5802-1681-4EA6-B96E-905DF73EB53A}" destId="{24CEDC59-A22F-4521-B028-CD658419441F}" srcOrd="12" destOrd="0" presId="urn:microsoft.com/office/officeart/2024/3/layout/BulletTimelineDefaultVariant"/>
    <dgm:cxn modelId="{7ACCA618-3D02-4C24-859F-8A80AB33EF1A}" type="presParOf" srcId="{24CEDC59-A22F-4521-B028-CD658419441F}" destId="{0B82835F-D33B-4B67-A4E8-A1F0C9162B93}" srcOrd="0" destOrd="0" presId="urn:microsoft.com/office/officeart/2024/3/layout/BulletTimelineDefaultVariant"/>
    <dgm:cxn modelId="{1068C4CF-63A8-4D52-A155-AF1D9F362F69}" type="presParOf" srcId="{24CEDC59-A22F-4521-B028-CD658419441F}" destId="{FB62F7FC-2720-41BB-B8D0-FDA93202D9FD}" srcOrd="1" destOrd="0" presId="urn:microsoft.com/office/officeart/2024/3/layout/BulletTimelineDefaultVariant"/>
    <dgm:cxn modelId="{C679210E-FD22-4D39-9B11-870EF2ADD59C}" type="presParOf" srcId="{FB62F7FC-2720-41BB-B8D0-FDA93202D9FD}" destId="{336F4EFF-F81D-44C7-BC28-1B88206CA183}" srcOrd="0" destOrd="0" presId="urn:microsoft.com/office/officeart/2024/3/layout/BulletTimelineDefaultVariant"/>
    <dgm:cxn modelId="{C8C10DFC-A180-48ED-822A-2116095FF1F0}" type="presParOf" srcId="{FB62F7FC-2720-41BB-B8D0-FDA93202D9FD}" destId="{5B1F13F3-2491-44EC-835D-F9A0C806F3E0}" srcOrd="1" destOrd="0" presId="urn:microsoft.com/office/officeart/2024/3/layout/BulletTimelineDefaultVariant"/>
    <dgm:cxn modelId="{FE53325E-60D2-4B86-8046-3A9C6BDAA95E}" type="presParOf" srcId="{24CEDC59-A22F-4521-B028-CD658419441F}" destId="{553DDCC9-1525-477B-80BD-002A9B8061E6}" srcOrd="2" destOrd="0" presId="urn:microsoft.com/office/officeart/2024/3/layout/BulletTimelineDefaultVariant"/>
    <dgm:cxn modelId="{8BC6E7FA-4819-4F33-9A62-909BB95865D2}" type="presParOf" srcId="{24CEDC59-A22F-4521-B028-CD658419441F}" destId="{6C8A7E69-3CFF-4D25-9929-0458566094E6}" srcOrd="3" destOrd="0" presId="urn:microsoft.com/office/officeart/2024/3/layout/BulletTimelineDefaultVariant"/>
    <dgm:cxn modelId="{06E1A72D-58F0-41EC-9C10-0A4BC83F2279}" type="presParOf" srcId="{24CEDC59-A22F-4521-B028-CD658419441F}" destId="{A48CE3AC-C714-422D-AC53-270FFB6F71A3}" srcOrd="4" destOrd="0" presId="urn:microsoft.com/office/officeart/2024/3/layout/BulletTimelineDefaultVariant"/>
    <dgm:cxn modelId="{8EBEE45A-6524-4BDF-9182-4D0C63C7A25D}" type="presParOf" srcId="{24CEDC59-A22F-4521-B028-CD658419441F}" destId="{E058152E-1D69-426D-80AE-509EC8EEC0AD}" srcOrd="5" destOrd="0" presId="urn:microsoft.com/office/officeart/2024/3/layout/BulletTimelineDefaultVarian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5FC6BD2-5D96-4EC9-BEAC-13DDF0EDB517}" type="doc">
      <dgm:prSet loTypeId="urn:microsoft.com/office/officeart/2005/8/layout/hList2" loCatId="relationship" qsTypeId="urn:microsoft.com/office/officeart/2005/8/quickstyle/simple3" qsCatId="simple" csTypeId="urn:microsoft.com/office/officeart/2005/8/colors/accent2_2" csCatId="accent2" phldr="1"/>
      <dgm:spPr/>
      <dgm:t>
        <a:bodyPr/>
        <a:lstStyle/>
        <a:p>
          <a:endParaRPr lang="en-US"/>
        </a:p>
      </dgm:t>
    </dgm:pt>
    <dgm:pt modelId="{B9F81291-7F37-44D7-96C0-5C8F4AB4665A}">
      <dgm:prSet phldrT="[Text]" phldr="0"/>
      <dgm:spPr/>
      <dgm:t>
        <a:bodyPr/>
        <a:lstStyle/>
        <a:p>
          <a:r>
            <a:rPr lang="en-US" dirty="0"/>
            <a:t>Table 1 - Customer Information</a:t>
          </a:r>
        </a:p>
      </dgm:t>
    </dgm:pt>
    <dgm:pt modelId="{70F6B7AF-8A2B-4BFA-B837-A6FA2FFCD4B8}" type="parTrans" cxnId="{B8AD03C7-01C2-4114-BD93-30C9151E375E}">
      <dgm:prSet/>
      <dgm:spPr/>
      <dgm:t>
        <a:bodyPr/>
        <a:lstStyle/>
        <a:p>
          <a:endParaRPr lang="en-US"/>
        </a:p>
      </dgm:t>
    </dgm:pt>
    <dgm:pt modelId="{3CE214DF-C477-4B98-A616-72DFDB2D8FDE}" type="sibTrans" cxnId="{B8AD03C7-01C2-4114-BD93-30C9151E375E}">
      <dgm:prSet/>
      <dgm:spPr/>
      <dgm:t>
        <a:bodyPr/>
        <a:lstStyle/>
        <a:p>
          <a:endParaRPr lang="en-US"/>
        </a:p>
      </dgm:t>
    </dgm:pt>
    <dgm:pt modelId="{2CD7BD4A-E8F6-481F-AEAC-6DF883A0E193}">
      <dgm:prSet phldrT="[Text]" phldr="0"/>
      <dgm:spPr/>
      <dgm:t>
        <a:bodyPr/>
        <a:lstStyle/>
        <a:p>
          <a:pPr>
            <a:lnSpc>
              <a:spcPct val="100000"/>
            </a:lnSpc>
          </a:pPr>
          <a:r>
            <a:rPr lang="en-US" b="1" dirty="0"/>
            <a:t>Data Size</a:t>
          </a:r>
        </a:p>
      </dgm:t>
    </dgm:pt>
    <dgm:pt modelId="{DD4FDFFE-ED9E-4563-8C91-F4973C3EE142}" type="parTrans" cxnId="{FEC368C9-9881-43E1-9A69-95C199A28018}">
      <dgm:prSet/>
      <dgm:spPr/>
      <dgm:t>
        <a:bodyPr/>
        <a:lstStyle/>
        <a:p>
          <a:endParaRPr lang="en-US"/>
        </a:p>
      </dgm:t>
    </dgm:pt>
    <dgm:pt modelId="{BC9959AA-04AA-4424-AD33-68FA96F0855C}" type="sibTrans" cxnId="{FEC368C9-9881-43E1-9A69-95C199A28018}">
      <dgm:prSet/>
      <dgm:spPr/>
      <dgm:t>
        <a:bodyPr/>
        <a:lstStyle/>
        <a:p>
          <a:endParaRPr lang="en-US"/>
        </a:p>
      </dgm:t>
    </dgm:pt>
    <dgm:pt modelId="{87CB18FE-F699-4A22-B141-5B78243DC69A}">
      <dgm:prSet phldrT="[Text]" phldr="0"/>
      <dgm:spPr/>
      <dgm:t>
        <a:bodyPr/>
        <a:lstStyle/>
        <a:p>
          <a:pPr>
            <a:lnSpc>
              <a:spcPct val="150000"/>
            </a:lnSpc>
          </a:pPr>
          <a:r>
            <a:rPr lang="en-US" b="1" dirty="0"/>
            <a:t>Anonymization</a:t>
          </a:r>
        </a:p>
      </dgm:t>
    </dgm:pt>
    <dgm:pt modelId="{9B60F8D5-2E58-4ECC-88F0-B18614F5BC63}" type="parTrans" cxnId="{FE71275C-33CA-43F3-9684-A55EF6C6C8E9}">
      <dgm:prSet/>
      <dgm:spPr/>
      <dgm:t>
        <a:bodyPr/>
        <a:lstStyle/>
        <a:p>
          <a:endParaRPr lang="en-US"/>
        </a:p>
      </dgm:t>
    </dgm:pt>
    <dgm:pt modelId="{6834E516-F048-45B3-BEC7-8FCFD1DA964C}" type="sibTrans" cxnId="{FE71275C-33CA-43F3-9684-A55EF6C6C8E9}">
      <dgm:prSet/>
      <dgm:spPr/>
      <dgm:t>
        <a:bodyPr/>
        <a:lstStyle/>
        <a:p>
          <a:endParaRPr lang="en-US"/>
        </a:p>
      </dgm:t>
    </dgm:pt>
    <dgm:pt modelId="{EDAD2DD5-13E4-4BB1-B2AB-9EB357BF9D90}">
      <dgm:prSet phldrT="[Text]" phldr="0"/>
      <dgm:spPr/>
      <dgm:t>
        <a:bodyPr/>
        <a:lstStyle/>
        <a:p>
          <a:r>
            <a:rPr lang="en-US" dirty="0"/>
            <a:t>Table 2 - Collateral</a:t>
          </a:r>
        </a:p>
      </dgm:t>
    </dgm:pt>
    <dgm:pt modelId="{CD7A9244-F07B-4A3E-BFF2-9BD3CDDAE1F3}" type="parTrans" cxnId="{84F435FE-1DD5-4887-86FC-98C3A9CF9AEB}">
      <dgm:prSet/>
      <dgm:spPr/>
      <dgm:t>
        <a:bodyPr/>
        <a:lstStyle/>
        <a:p>
          <a:endParaRPr lang="en-US"/>
        </a:p>
      </dgm:t>
    </dgm:pt>
    <dgm:pt modelId="{E26E85EE-D2A7-4B32-A582-6B55BCC9211B}" type="sibTrans" cxnId="{84F435FE-1DD5-4887-86FC-98C3A9CF9AEB}">
      <dgm:prSet/>
      <dgm:spPr/>
      <dgm:t>
        <a:bodyPr/>
        <a:lstStyle/>
        <a:p>
          <a:endParaRPr lang="en-US"/>
        </a:p>
      </dgm:t>
    </dgm:pt>
    <dgm:pt modelId="{FA08CA21-1CC3-4B6A-A883-890DA096114D}">
      <dgm:prSet phldrT="[Text]" phldr="0"/>
      <dgm:spPr/>
      <dgm:t>
        <a:bodyPr/>
        <a:lstStyle/>
        <a:p>
          <a:pPr>
            <a:lnSpc>
              <a:spcPct val="90000"/>
            </a:lnSpc>
          </a:pPr>
          <a:r>
            <a:rPr lang="en-US" b="1" dirty="0"/>
            <a:t>Data Size</a:t>
          </a:r>
        </a:p>
      </dgm:t>
    </dgm:pt>
    <dgm:pt modelId="{16837094-2193-4172-A0DF-08F647A62BE7}" type="parTrans" cxnId="{FE9D01AA-D805-40FC-A73C-83F351E5A5ED}">
      <dgm:prSet/>
      <dgm:spPr/>
      <dgm:t>
        <a:bodyPr/>
        <a:lstStyle/>
        <a:p>
          <a:endParaRPr lang="en-US"/>
        </a:p>
      </dgm:t>
    </dgm:pt>
    <dgm:pt modelId="{879E5DDE-AD30-4C32-AF2D-AE831817C67F}" type="sibTrans" cxnId="{FE9D01AA-D805-40FC-A73C-83F351E5A5ED}">
      <dgm:prSet/>
      <dgm:spPr/>
      <dgm:t>
        <a:bodyPr/>
        <a:lstStyle/>
        <a:p>
          <a:endParaRPr lang="en-US"/>
        </a:p>
      </dgm:t>
    </dgm:pt>
    <dgm:pt modelId="{F21C83A9-CCAD-41BA-B553-C0DA6EA9A2B9}">
      <dgm:prSet phldrT="[Text]" phldr="0"/>
      <dgm:spPr/>
      <dgm:t>
        <a:bodyPr/>
        <a:lstStyle/>
        <a:p>
          <a:pPr>
            <a:lnSpc>
              <a:spcPct val="100000"/>
            </a:lnSpc>
          </a:pPr>
          <a:r>
            <a:rPr lang="en-US" dirty="0"/>
            <a:t>1,408 Rows</a:t>
          </a:r>
        </a:p>
      </dgm:t>
    </dgm:pt>
    <dgm:pt modelId="{2BC5ED88-2E14-4BC5-81BE-9415F903CAB3}" type="parTrans" cxnId="{321087C1-6653-443F-9CE3-ED0C098775C6}">
      <dgm:prSet/>
      <dgm:spPr/>
      <dgm:t>
        <a:bodyPr/>
        <a:lstStyle/>
        <a:p>
          <a:endParaRPr lang="en-US"/>
        </a:p>
      </dgm:t>
    </dgm:pt>
    <dgm:pt modelId="{737E1468-45A4-437C-8DEA-31587AC0228E}" type="sibTrans" cxnId="{321087C1-6653-443F-9CE3-ED0C098775C6}">
      <dgm:prSet/>
      <dgm:spPr/>
      <dgm:t>
        <a:bodyPr/>
        <a:lstStyle/>
        <a:p>
          <a:endParaRPr lang="en-US"/>
        </a:p>
      </dgm:t>
    </dgm:pt>
    <dgm:pt modelId="{1D7ADE86-CECF-4C6A-9034-211F78993A0B}">
      <dgm:prSet phldrT="[Text]" phldr="0"/>
      <dgm:spPr/>
      <dgm:t>
        <a:bodyPr/>
        <a:lstStyle/>
        <a:p>
          <a:r>
            <a:rPr lang="en-US" dirty="0"/>
            <a:t>Table 3 – Loan Portfolio</a:t>
          </a:r>
        </a:p>
      </dgm:t>
    </dgm:pt>
    <dgm:pt modelId="{6699D782-5302-420E-AD6A-7F6A79C14B3A}" type="parTrans" cxnId="{758B3516-D5AF-47BB-99FA-23129A02B5F2}">
      <dgm:prSet/>
      <dgm:spPr/>
      <dgm:t>
        <a:bodyPr/>
        <a:lstStyle/>
        <a:p>
          <a:endParaRPr lang="en-US"/>
        </a:p>
      </dgm:t>
    </dgm:pt>
    <dgm:pt modelId="{338CF771-7F9D-4DB7-AACE-2AAEB011789B}" type="sibTrans" cxnId="{758B3516-D5AF-47BB-99FA-23129A02B5F2}">
      <dgm:prSet/>
      <dgm:spPr/>
      <dgm:t>
        <a:bodyPr/>
        <a:lstStyle/>
        <a:p>
          <a:endParaRPr lang="en-US"/>
        </a:p>
      </dgm:t>
    </dgm:pt>
    <dgm:pt modelId="{5553E0B0-C2D2-4CF4-8A6A-526C7842B98E}">
      <dgm:prSet phldrT="[Text]" phldr="0"/>
      <dgm:spPr/>
      <dgm:t>
        <a:bodyPr/>
        <a:lstStyle/>
        <a:p>
          <a:r>
            <a:rPr lang="en-US" dirty="0"/>
            <a:t>Table 4 – Deposit Portfolio</a:t>
          </a:r>
        </a:p>
      </dgm:t>
    </dgm:pt>
    <dgm:pt modelId="{B8F1E9A9-4F49-4CD9-A1B9-28F23E15772E}" type="parTrans" cxnId="{EB738ADC-E879-451F-95AB-DA2B415A749F}">
      <dgm:prSet/>
      <dgm:spPr/>
      <dgm:t>
        <a:bodyPr/>
        <a:lstStyle/>
        <a:p>
          <a:endParaRPr lang="en-US"/>
        </a:p>
      </dgm:t>
    </dgm:pt>
    <dgm:pt modelId="{83F5CA67-ECDC-49D8-B939-9BFFC75E671B}" type="sibTrans" cxnId="{EB738ADC-E879-451F-95AB-DA2B415A749F}">
      <dgm:prSet/>
      <dgm:spPr/>
      <dgm:t>
        <a:bodyPr/>
        <a:lstStyle/>
        <a:p>
          <a:endParaRPr lang="en-US"/>
        </a:p>
      </dgm:t>
    </dgm:pt>
    <dgm:pt modelId="{129852A3-3441-4AA9-B171-C71207D31674}">
      <dgm:prSet phldrT="[Text]" phldr="0"/>
      <dgm:spPr/>
      <dgm:t>
        <a:bodyPr/>
        <a:lstStyle/>
        <a:p>
          <a:pPr>
            <a:lnSpc>
              <a:spcPct val="100000"/>
            </a:lnSpc>
          </a:pPr>
          <a:r>
            <a:rPr lang="en-US" dirty="0"/>
            <a:t>20,426 Rows</a:t>
          </a:r>
        </a:p>
      </dgm:t>
    </dgm:pt>
    <dgm:pt modelId="{7E1DEF66-84EA-4541-B6DE-9FAFB8BFC8E2}" type="parTrans" cxnId="{359D052C-DE20-42B4-8A1D-7AD4A98B069C}">
      <dgm:prSet/>
      <dgm:spPr/>
      <dgm:t>
        <a:bodyPr/>
        <a:lstStyle/>
        <a:p>
          <a:endParaRPr lang="en-US"/>
        </a:p>
      </dgm:t>
    </dgm:pt>
    <dgm:pt modelId="{E442F2E1-D1EA-4AD7-8439-0BC7D3236E73}" type="sibTrans" cxnId="{359D052C-DE20-42B4-8A1D-7AD4A98B069C}">
      <dgm:prSet/>
      <dgm:spPr/>
      <dgm:t>
        <a:bodyPr/>
        <a:lstStyle/>
        <a:p>
          <a:endParaRPr lang="en-US"/>
        </a:p>
      </dgm:t>
    </dgm:pt>
    <dgm:pt modelId="{AFA2EB7E-BAD4-47BA-9D77-8917D05356C5}">
      <dgm:prSet phldrT="[Text]" phldr="0"/>
      <dgm:spPr/>
      <dgm:t>
        <a:bodyPr/>
        <a:lstStyle/>
        <a:p>
          <a:pPr>
            <a:lnSpc>
              <a:spcPct val="100000"/>
            </a:lnSpc>
          </a:pPr>
          <a:r>
            <a:rPr lang="en-US" dirty="0"/>
            <a:t>8 Columns</a:t>
          </a:r>
        </a:p>
      </dgm:t>
    </dgm:pt>
    <dgm:pt modelId="{C4126E5F-A8E8-4E25-932E-A3D6C58D3A32}" type="parTrans" cxnId="{36EF67FA-80F8-42CD-86EF-17DE3AB86222}">
      <dgm:prSet/>
      <dgm:spPr/>
      <dgm:t>
        <a:bodyPr/>
        <a:lstStyle/>
        <a:p>
          <a:endParaRPr lang="en-US"/>
        </a:p>
      </dgm:t>
    </dgm:pt>
    <dgm:pt modelId="{666E3E48-BD33-4F64-ADC8-DA6704F2B236}" type="sibTrans" cxnId="{36EF67FA-80F8-42CD-86EF-17DE3AB86222}">
      <dgm:prSet/>
      <dgm:spPr/>
      <dgm:t>
        <a:bodyPr/>
        <a:lstStyle/>
        <a:p>
          <a:endParaRPr lang="en-US"/>
        </a:p>
      </dgm:t>
    </dgm:pt>
    <dgm:pt modelId="{F79D96C6-244F-462F-9C86-693B97D7EB01}">
      <dgm:prSet phldrT="[Text]" phldr="0"/>
      <dgm:spPr/>
      <dgm:t>
        <a:bodyPr/>
        <a:lstStyle/>
        <a:p>
          <a:pPr>
            <a:lnSpc>
              <a:spcPct val="100000"/>
            </a:lnSpc>
          </a:pPr>
          <a:r>
            <a:rPr lang="en-US" dirty="0"/>
            <a:t>Customer Name</a:t>
          </a:r>
        </a:p>
      </dgm:t>
    </dgm:pt>
    <dgm:pt modelId="{2D99FB4B-90D6-4F93-BEE5-7EA438131031}" type="parTrans" cxnId="{6CEA557B-9B6F-4492-B143-CFC964A8589F}">
      <dgm:prSet/>
      <dgm:spPr/>
      <dgm:t>
        <a:bodyPr/>
        <a:lstStyle/>
        <a:p>
          <a:endParaRPr lang="en-US"/>
        </a:p>
      </dgm:t>
    </dgm:pt>
    <dgm:pt modelId="{5A28E95F-D4B7-4C74-9D3C-6BAF3AEA8787}" type="sibTrans" cxnId="{6CEA557B-9B6F-4492-B143-CFC964A8589F}">
      <dgm:prSet/>
      <dgm:spPr/>
      <dgm:t>
        <a:bodyPr/>
        <a:lstStyle/>
        <a:p>
          <a:endParaRPr lang="en-US"/>
        </a:p>
      </dgm:t>
    </dgm:pt>
    <dgm:pt modelId="{C3A9EDA7-B6D2-418B-92E5-5954422C4CF3}">
      <dgm:prSet phldrT="[Text]" phldr="0"/>
      <dgm:spPr/>
      <dgm:t>
        <a:bodyPr/>
        <a:lstStyle/>
        <a:p>
          <a:pPr>
            <a:lnSpc>
              <a:spcPct val="100000"/>
            </a:lnSpc>
          </a:pPr>
          <a:r>
            <a:rPr lang="en-US" dirty="0"/>
            <a:t>Officer</a:t>
          </a:r>
        </a:p>
      </dgm:t>
    </dgm:pt>
    <dgm:pt modelId="{B7DDB536-4EC1-4129-8AE2-57308E09CFC3}" type="parTrans" cxnId="{0852E423-C7C0-4776-9923-AC0D69FE80E0}">
      <dgm:prSet/>
      <dgm:spPr/>
      <dgm:t>
        <a:bodyPr/>
        <a:lstStyle/>
        <a:p>
          <a:endParaRPr lang="en-US"/>
        </a:p>
      </dgm:t>
    </dgm:pt>
    <dgm:pt modelId="{098AD727-A83F-4B57-8B29-3DEA1674DB6E}" type="sibTrans" cxnId="{0852E423-C7C0-4776-9923-AC0D69FE80E0}">
      <dgm:prSet/>
      <dgm:spPr/>
      <dgm:t>
        <a:bodyPr/>
        <a:lstStyle/>
        <a:p>
          <a:endParaRPr lang="en-US"/>
        </a:p>
      </dgm:t>
    </dgm:pt>
    <dgm:pt modelId="{E5460748-2CA0-4C73-84BA-27DDE88589C6}">
      <dgm:prSet phldrT="[Text]" phldr="0"/>
      <dgm:spPr/>
      <dgm:t>
        <a:bodyPr/>
        <a:lstStyle/>
        <a:p>
          <a:pPr>
            <a:lnSpc>
              <a:spcPct val="100000"/>
            </a:lnSpc>
          </a:pPr>
          <a:r>
            <a:rPr lang="en-US" dirty="0"/>
            <a:t>Branch</a:t>
          </a:r>
        </a:p>
      </dgm:t>
    </dgm:pt>
    <dgm:pt modelId="{4A58A0D5-C439-4822-81BA-8A7315603B2B}" type="parTrans" cxnId="{9D797386-C874-49E1-9C6D-BAC1EF3CEC65}">
      <dgm:prSet/>
      <dgm:spPr/>
      <dgm:t>
        <a:bodyPr/>
        <a:lstStyle/>
        <a:p>
          <a:endParaRPr lang="en-US"/>
        </a:p>
      </dgm:t>
    </dgm:pt>
    <dgm:pt modelId="{ED43FB79-645C-4BBF-BDBA-28689C9D7AEC}" type="sibTrans" cxnId="{9D797386-C874-49E1-9C6D-BAC1EF3CEC65}">
      <dgm:prSet/>
      <dgm:spPr/>
      <dgm:t>
        <a:bodyPr/>
        <a:lstStyle/>
        <a:p>
          <a:endParaRPr lang="en-US"/>
        </a:p>
      </dgm:t>
    </dgm:pt>
    <dgm:pt modelId="{BFEE3DD7-9026-4C4E-9172-1C0BE538BE68}">
      <dgm:prSet phldrT="[Text]" phldr="0"/>
      <dgm:spPr/>
      <dgm:t>
        <a:bodyPr/>
        <a:lstStyle/>
        <a:p>
          <a:pPr>
            <a:lnSpc>
              <a:spcPct val="100000"/>
            </a:lnSpc>
          </a:pPr>
          <a:r>
            <a:rPr lang="en-US" dirty="0"/>
            <a:t>11 Columns</a:t>
          </a:r>
        </a:p>
      </dgm:t>
    </dgm:pt>
    <dgm:pt modelId="{B886FB83-EB6E-47E0-B132-B0DAA735B016}" type="parTrans" cxnId="{92042872-4825-4E3A-9483-A8CF637E1566}">
      <dgm:prSet/>
      <dgm:spPr/>
      <dgm:t>
        <a:bodyPr/>
        <a:lstStyle/>
        <a:p>
          <a:endParaRPr lang="en-US"/>
        </a:p>
      </dgm:t>
    </dgm:pt>
    <dgm:pt modelId="{964663B9-89E8-4363-8B5D-99066ABF74BF}" type="sibTrans" cxnId="{92042872-4825-4E3A-9483-A8CF637E1566}">
      <dgm:prSet/>
      <dgm:spPr/>
      <dgm:t>
        <a:bodyPr/>
        <a:lstStyle/>
        <a:p>
          <a:endParaRPr lang="en-US"/>
        </a:p>
      </dgm:t>
    </dgm:pt>
    <dgm:pt modelId="{C7833F21-3B4E-4C42-A9BE-8F7FE1C74D95}">
      <dgm:prSet phldrT="[Text]" phldr="0"/>
      <dgm:spPr/>
      <dgm:t>
        <a:bodyPr/>
        <a:lstStyle/>
        <a:p>
          <a:pPr>
            <a:lnSpc>
              <a:spcPct val="150000"/>
            </a:lnSpc>
          </a:pPr>
          <a:r>
            <a:rPr lang="en-US" b="1" dirty="0"/>
            <a:t>Anonymization</a:t>
          </a:r>
        </a:p>
      </dgm:t>
    </dgm:pt>
    <dgm:pt modelId="{82102DAE-129D-4323-BA18-0993C0385D79}" type="parTrans" cxnId="{AEF2193A-FCCA-4E0D-B033-30215D9CE87E}">
      <dgm:prSet/>
      <dgm:spPr/>
      <dgm:t>
        <a:bodyPr/>
        <a:lstStyle/>
        <a:p>
          <a:endParaRPr lang="en-US"/>
        </a:p>
      </dgm:t>
    </dgm:pt>
    <dgm:pt modelId="{C0018BAE-E0C8-4D54-AF51-E5885D32A683}" type="sibTrans" cxnId="{AEF2193A-FCCA-4E0D-B033-30215D9CE87E}">
      <dgm:prSet/>
      <dgm:spPr/>
      <dgm:t>
        <a:bodyPr/>
        <a:lstStyle/>
        <a:p>
          <a:endParaRPr lang="en-US"/>
        </a:p>
      </dgm:t>
    </dgm:pt>
    <dgm:pt modelId="{E5AD1EC7-ED6B-427F-B901-8BCE50D8F3E5}">
      <dgm:prSet phldrT="[Text]" phldr="0"/>
      <dgm:spPr/>
      <dgm:t>
        <a:bodyPr/>
        <a:lstStyle/>
        <a:p>
          <a:pPr>
            <a:lnSpc>
              <a:spcPct val="90000"/>
            </a:lnSpc>
          </a:pPr>
          <a:r>
            <a:rPr lang="en-US" dirty="0"/>
            <a:t>Loan Number</a:t>
          </a:r>
        </a:p>
      </dgm:t>
    </dgm:pt>
    <dgm:pt modelId="{670E10C9-D1CC-48E9-9EFC-1559CB86FEFF}" type="parTrans" cxnId="{B2BEC69A-D36D-4D12-8750-2BD3F3BD3445}">
      <dgm:prSet/>
      <dgm:spPr/>
      <dgm:t>
        <a:bodyPr/>
        <a:lstStyle/>
        <a:p>
          <a:endParaRPr lang="en-US"/>
        </a:p>
      </dgm:t>
    </dgm:pt>
    <dgm:pt modelId="{DFB18EF6-FF9C-4C6D-84A5-77B33AA0939B}" type="sibTrans" cxnId="{B2BEC69A-D36D-4D12-8750-2BD3F3BD3445}">
      <dgm:prSet/>
      <dgm:spPr/>
      <dgm:t>
        <a:bodyPr/>
        <a:lstStyle/>
        <a:p>
          <a:endParaRPr lang="en-US"/>
        </a:p>
      </dgm:t>
    </dgm:pt>
    <dgm:pt modelId="{EF9A87E0-D52E-40D4-A241-3AAE252EE1B8}">
      <dgm:prSet phldrT="[Text]" phldr="0"/>
      <dgm:spPr/>
      <dgm:t>
        <a:bodyPr/>
        <a:lstStyle/>
        <a:p>
          <a:pPr>
            <a:lnSpc>
              <a:spcPct val="90000"/>
            </a:lnSpc>
          </a:pPr>
          <a:r>
            <a:rPr lang="en-US" b="1" dirty="0"/>
            <a:t>Data Size</a:t>
          </a:r>
        </a:p>
      </dgm:t>
    </dgm:pt>
    <dgm:pt modelId="{730182D6-1841-4B41-B6F2-51BB5AD98AFF}" type="parTrans" cxnId="{3F180882-4ADD-48BF-AFDE-FD66801E964D}">
      <dgm:prSet/>
      <dgm:spPr/>
      <dgm:t>
        <a:bodyPr/>
        <a:lstStyle/>
        <a:p>
          <a:endParaRPr lang="en-US"/>
        </a:p>
      </dgm:t>
    </dgm:pt>
    <dgm:pt modelId="{3B667BEF-AC69-4546-B01C-8788E011C2C6}" type="sibTrans" cxnId="{3F180882-4ADD-48BF-AFDE-FD66801E964D}">
      <dgm:prSet/>
      <dgm:spPr/>
      <dgm:t>
        <a:bodyPr/>
        <a:lstStyle/>
        <a:p>
          <a:endParaRPr lang="en-US"/>
        </a:p>
      </dgm:t>
    </dgm:pt>
    <dgm:pt modelId="{206B7D5C-1D92-4897-9326-D6A04430A2EE}">
      <dgm:prSet phldrT="[Text]" phldr="0"/>
      <dgm:spPr/>
      <dgm:t>
        <a:bodyPr/>
        <a:lstStyle/>
        <a:p>
          <a:pPr>
            <a:lnSpc>
              <a:spcPct val="90000"/>
            </a:lnSpc>
          </a:pPr>
          <a:r>
            <a:rPr lang="en-US"/>
            <a:t>2,381 Rows</a:t>
          </a:r>
          <a:endParaRPr lang="en-US" dirty="0"/>
        </a:p>
      </dgm:t>
    </dgm:pt>
    <dgm:pt modelId="{44B4CD26-1A5D-4E92-A7E9-F2713D0BC888}" type="parTrans" cxnId="{8852EAB8-57C8-4BEE-A793-3B9ED16CE1BF}">
      <dgm:prSet/>
      <dgm:spPr/>
      <dgm:t>
        <a:bodyPr/>
        <a:lstStyle/>
        <a:p>
          <a:endParaRPr lang="en-US"/>
        </a:p>
      </dgm:t>
    </dgm:pt>
    <dgm:pt modelId="{A7278E1F-11DC-460E-B921-3E0C17F0045F}" type="sibTrans" cxnId="{8852EAB8-57C8-4BEE-A793-3B9ED16CE1BF}">
      <dgm:prSet/>
      <dgm:spPr/>
      <dgm:t>
        <a:bodyPr/>
        <a:lstStyle/>
        <a:p>
          <a:endParaRPr lang="en-US"/>
        </a:p>
      </dgm:t>
    </dgm:pt>
    <dgm:pt modelId="{4869EA42-7E0B-4B31-94A2-C376C96B38E0}">
      <dgm:prSet phldrT="[Text]" phldr="0"/>
      <dgm:spPr/>
      <dgm:t>
        <a:bodyPr/>
        <a:lstStyle/>
        <a:p>
          <a:pPr>
            <a:lnSpc>
              <a:spcPct val="90000"/>
            </a:lnSpc>
          </a:pPr>
          <a:r>
            <a:rPr lang="en-US"/>
            <a:t>1,144 Closed Loans</a:t>
          </a:r>
          <a:endParaRPr lang="en-US" dirty="0"/>
        </a:p>
      </dgm:t>
    </dgm:pt>
    <dgm:pt modelId="{73935B8C-7B4B-49FF-A6FA-9C157B0E506F}" type="parTrans" cxnId="{3D2094B8-5992-4D51-9CA3-94B4F68E3500}">
      <dgm:prSet/>
      <dgm:spPr/>
      <dgm:t>
        <a:bodyPr/>
        <a:lstStyle/>
        <a:p>
          <a:endParaRPr lang="en-US"/>
        </a:p>
      </dgm:t>
    </dgm:pt>
    <dgm:pt modelId="{16B2793B-F27C-4FF3-88DF-C3DDED08CA7F}" type="sibTrans" cxnId="{3D2094B8-5992-4D51-9CA3-94B4F68E3500}">
      <dgm:prSet/>
      <dgm:spPr/>
      <dgm:t>
        <a:bodyPr/>
        <a:lstStyle/>
        <a:p>
          <a:endParaRPr lang="en-US"/>
        </a:p>
      </dgm:t>
    </dgm:pt>
    <dgm:pt modelId="{FA231124-99EA-4322-9151-2D9D6B89C0AA}">
      <dgm:prSet phldrT="[Text]" phldr="0"/>
      <dgm:spPr/>
      <dgm:t>
        <a:bodyPr/>
        <a:lstStyle/>
        <a:p>
          <a:pPr>
            <a:lnSpc>
              <a:spcPct val="100000"/>
            </a:lnSpc>
          </a:pPr>
          <a:r>
            <a:rPr lang="en-US" dirty="0"/>
            <a:t>1,237 Open Loans</a:t>
          </a:r>
        </a:p>
      </dgm:t>
    </dgm:pt>
    <dgm:pt modelId="{9CEF3B5C-10CE-4E74-BE68-A79922C88656}" type="parTrans" cxnId="{220723A3-09CB-4359-B34B-729C7CC0688E}">
      <dgm:prSet/>
      <dgm:spPr/>
      <dgm:t>
        <a:bodyPr/>
        <a:lstStyle/>
        <a:p>
          <a:endParaRPr lang="en-US"/>
        </a:p>
      </dgm:t>
    </dgm:pt>
    <dgm:pt modelId="{6DFCF5C3-8784-4335-B9BF-9350C411EA57}" type="sibTrans" cxnId="{220723A3-09CB-4359-B34B-729C7CC0688E}">
      <dgm:prSet/>
      <dgm:spPr/>
      <dgm:t>
        <a:bodyPr/>
        <a:lstStyle/>
        <a:p>
          <a:endParaRPr lang="en-US"/>
        </a:p>
      </dgm:t>
    </dgm:pt>
    <dgm:pt modelId="{64299B6B-33A0-41EC-BE16-4E4AAECAC128}">
      <dgm:prSet phldrT="[Text]" phldr="0"/>
      <dgm:spPr/>
      <dgm:t>
        <a:bodyPr/>
        <a:lstStyle/>
        <a:p>
          <a:pPr>
            <a:lnSpc>
              <a:spcPct val="150000"/>
            </a:lnSpc>
          </a:pPr>
          <a:r>
            <a:rPr lang="en-US" b="1" dirty="0"/>
            <a:t>Anonymization</a:t>
          </a:r>
        </a:p>
      </dgm:t>
    </dgm:pt>
    <dgm:pt modelId="{1A33A39B-8F21-489B-9E68-5B8CBED5F88F}" type="parTrans" cxnId="{0BC03DD1-16E1-4D7E-A27A-BD4909CC03EA}">
      <dgm:prSet/>
      <dgm:spPr/>
      <dgm:t>
        <a:bodyPr/>
        <a:lstStyle/>
        <a:p>
          <a:endParaRPr lang="en-US"/>
        </a:p>
      </dgm:t>
    </dgm:pt>
    <dgm:pt modelId="{938D7646-672A-4864-802E-F3895DB6C4F8}" type="sibTrans" cxnId="{0BC03DD1-16E1-4D7E-A27A-BD4909CC03EA}">
      <dgm:prSet/>
      <dgm:spPr/>
      <dgm:t>
        <a:bodyPr/>
        <a:lstStyle/>
        <a:p>
          <a:endParaRPr lang="en-US"/>
        </a:p>
      </dgm:t>
    </dgm:pt>
    <dgm:pt modelId="{639C7CAE-505A-4151-8D68-871F3EF70C04}">
      <dgm:prSet phldrT="[Text]" phldr="0"/>
      <dgm:spPr/>
      <dgm:t>
        <a:bodyPr/>
        <a:lstStyle/>
        <a:p>
          <a:pPr>
            <a:lnSpc>
              <a:spcPct val="90000"/>
            </a:lnSpc>
          </a:pPr>
          <a:r>
            <a:rPr lang="en-US" b="0" dirty="0"/>
            <a:t>Customer Name</a:t>
          </a:r>
        </a:p>
      </dgm:t>
    </dgm:pt>
    <dgm:pt modelId="{BFEC30F7-DA08-46B0-ACD0-BDAD1A778D0F}" type="parTrans" cxnId="{FF17DC13-EA77-45E3-A2A7-FCC3BA48184C}">
      <dgm:prSet/>
      <dgm:spPr/>
      <dgm:t>
        <a:bodyPr/>
        <a:lstStyle/>
        <a:p>
          <a:endParaRPr lang="en-US"/>
        </a:p>
      </dgm:t>
    </dgm:pt>
    <dgm:pt modelId="{45B92D49-397C-4B3B-8AAB-30A26A63CBA1}" type="sibTrans" cxnId="{FF17DC13-EA77-45E3-A2A7-FCC3BA48184C}">
      <dgm:prSet/>
      <dgm:spPr/>
      <dgm:t>
        <a:bodyPr/>
        <a:lstStyle/>
        <a:p>
          <a:endParaRPr lang="en-US"/>
        </a:p>
      </dgm:t>
    </dgm:pt>
    <dgm:pt modelId="{35EA59F3-332E-49A2-B9FB-892E7450613B}">
      <dgm:prSet phldrT="[Text]" phldr="0"/>
      <dgm:spPr/>
      <dgm:t>
        <a:bodyPr/>
        <a:lstStyle/>
        <a:p>
          <a:pPr>
            <a:lnSpc>
              <a:spcPct val="90000"/>
            </a:lnSpc>
          </a:pPr>
          <a:r>
            <a:rPr lang="en-US" b="0"/>
            <a:t>Loan Number</a:t>
          </a:r>
          <a:endParaRPr lang="en-US" b="0" dirty="0"/>
        </a:p>
      </dgm:t>
    </dgm:pt>
    <dgm:pt modelId="{699DEA19-0934-4B4E-A313-7D12D44FB5BB}" type="parTrans" cxnId="{C8B19A4B-91AA-497A-9B9D-18FDCD6076BA}">
      <dgm:prSet/>
      <dgm:spPr/>
      <dgm:t>
        <a:bodyPr/>
        <a:lstStyle/>
        <a:p>
          <a:endParaRPr lang="en-US"/>
        </a:p>
      </dgm:t>
    </dgm:pt>
    <dgm:pt modelId="{88B0F8D9-1879-4D4E-801C-4D962A80E4FE}" type="sibTrans" cxnId="{C8B19A4B-91AA-497A-9B9D-18FDCD6076BA}">
      <dgm:prSet/>
      <dgm:spPr/>
      <dgm:t>
        <a:bodyPr/>
        <a:lstStyle/>
        <a:p>
          <a:endParaRPr lang="en-US"/>
        </a:p>
      </dgm:t>
    </dgm:pt>
    <dgm:pt modelId="{5794C528-1015-4F66-A8D5-1CA726F2ECF7}">
      <dgm:prSet phldrT="[Text]" phldr="0"/>
      <dgm:spPr/>
      <dgm:t>
        <a:bodyPr/>
        <a:lstStyle/>
        <a:p>
          <a:pPr>
            <a:lnSpc>
              <a:spcPct val="90000"/>
            </a:lnSpc>
          </a:pPr>
          <a:r>
            <a:rPr lang="en-US" b="0"/>
            <a:t>Officer</a:t>
          </a:r>
          <a:endParaRPr lang="en-US" b="0" dirty="0"/>
        </a:p>
      </dgm:t>
    </dgm:pt>
    <dgm:pt modelId="{49709DF6-7CBC-4C59-A55B-BA11FE69E6DC}" type="parTrans" cxnId="{2C4948D6-653C-400B-8733-BF4493BF6179}">
      <dgm:prSet/>
      <dgm:spPr/>
      <dgm:t>
        <a:bodyPr/>
        <a:lstStyle/>
        <a:p>
          <a:endParaRPr lang="en-US"/>
        </a:p>
      </dgm:t>
    </dgm:pt>
    <dgm:pt modelId="{086CBF47-AF92-4D1C-9752-783FD5E0493F}" type="sibTrans" cxnId="{2C4948D6-653C-400B-8733-BF4493BF6179}">
      <dgm:prSet/>
      <dgm:spPr/>
      <dgm:t>
        <a:bodyPr/>
        <a:lstStyle/>
        <a:p>
          <a:endParaRPr lang="en-US"/>
        </a:p>
      </dgm:t>
    </dgm:pt>
    <dgm:pt modelId="{D8FAE5F3-BF02-46B0-83B1-08E41F7CE5ED}">
      <dgm:prSet phldrT="[Text]" phldr="0"/>
      <dgm:spPr/>
      <dgm:t>
        <a:bodyPr/>
        <a:lstStyle/>
        <a:p>
          <a:pPr>
            <a:lnSpc>
              <a:spcPct val="90000"/>
            </a:lnSpc>
          </a:pPr>
          <a:r>
            <a:rPr lang="en-US" b="0"/>
            <a:t>Branch</a:t>
          </a:r>
          <a:endParaRPr lang="en-US" b="0" dirty="0"/>
        </a:p>
      </dgm:t>
    </dgm:pt>
    <dgm:pt modelId="{F9A6FF53-2715-4F43-85F4-76D6913CD50C}" type="parTrans" cxnId="{8F8F2574-D4EB-4B31-AA0F-1E491177396C}">
      <dgm:prSet/>
      <dgm:spPr/>
      <dgm:t>
        <a:bodyPr/>
        <a:lstStyle/>
        <a:p>
          <a:endParaRPr lang="en-US"/>
        </a:p>
      </dgm:t>
    </dgm:pt>
    <dgm:pt modelId="{77F645E6-E016-47FD-8CFE-7D1308E4CA49}" type="sibTrans" cxnId="{8F8F2574-D4EB-4B31-AA0F-1E491177396C}">
      <dgm:prSet/>
      <dgm:spPr/>
      <dgm:t>
        <a:bodyPr/>
        <a:lstStyle/>
        <a:p>
          <a:endParaRPr lang="en-US"/>
        </a:p>
      </dgm:t>
    </dgm:pt>
    <dgm:pt modelId="{294F8FF0-75B2-476A-B39E-95EBC7F01EEA}">
      <dgm:prSet phldrT="[Text]" phldr="0" custT="1"/>
      <dgm:spPr/>
      <dgm:t>
        <a:bodyPr/>
        <a:lstStyle/>
        <a:p>
          <a:pPr>
            <a:lnSpc>
              <a:spcPct val="100000"/>
            </a:lnSpc>
          </a:pPr>
          <a:r>
            <a:rPr lang="en-US" sz="1400" b="1" dirty="0"/>
            <a:t>Data Size</a:t>
          </a:r>
        </a:p>
      </dgm:t>
    </dgm:pt>
    <dgm:pt modelId="{31982BF9-3696-4F43-AFBC-26ECDD451BD9}" type="parTrans" cxnId="{FFBF449D-4833-45E6-9DB2-C2AA0C33A65E}">
      <dgm:prSet/>
      <dgm:spPr/>
      <dgm:t>
        <a:bodyPr/>
        <a:lstStyle/>
        <a:p>
          <a:endParaRPr lang="en-US"/>
        </a:p>
      </dgm:t>
    </dgm:pt>
    <dgm:pt modelId="{670FD839-3AF3-4F87-BA0B-9E409CFA20B0}" type="sibTrans" cxnId="{FFBF449D-4833-45E6-9DB2-C2AA0C33A65E}">
      <dgm:prSet/>
      <dgm:spPr/>
      <dgm:t>
        <a:bodyPr/>
        <a:lstStyle/>
        <a:p>
          <a:endParaRPr lang="en-US"/>
        </a:p>
      </dgm:t>
    </dgm:pt>
    <dgm:pt modelId="{03BE8567-77F2-488D-AE16-012824EF8996}">
      <dgm:prSet phldrT="[Text]" phldr="0"/>
      <dgm:spPr/>
      <dgm:t>
        <a:bodyPr/>
        <a:lstStyle/>
        <a:p>
          <a:pPr>
            <a:lnSpc>
              <a:spcPct val="100000"/>
            </a:lnSpc>
          </a:pPr>
          <a:r>
            <a:rPr lang="en-US" sz="1400" dirty="0"/>
            <a:t>11,762 Rows</a:t>
          </a:r>
        </a:p>
      </dgm:t>
    </dgm:pt>
    <dgm:pt modelId="{A37E4800-0250-497F-8CE6-4BC26EE694B0}" type="parTrans" cxnId="{E931D7D9-7CD9-45AC-A15C-03F8551703D1}">
      <dgm:prSet/>
      <dgm:spPr/>
      <dgm:t>
        <a:bodyPr/>
        <a:lstStyle/>
        <a:p>
          <a:endParaRPr lang="en-US"/>
        </a:p>
      </dgm:t>
    </dgm:pt>
    <dgm:pt modelId="{8C07432E-292B-4212-B560-D529D3788587}" type="sibTrans" cxnId="{E931D7D9-7CD9-45AC-A15C-03F8551703D1}">
      <dgm:prSet/>
      <dgm:spPr/>
      <dgm:t>
        <a:bodyPr/>
        <a:lstStyle/>
        <a:p>
          <a:endParaRPr lang="en-US"/>
        </a:p>
      </dgm:t>
    </dgm:pt>
    <dgm:pt modelId="{1B5CBC02-92DA-429A-BA6B-448B4673DDC1}">
      <dgm:prSet phldrT="[Text]" phldr="0"/>
      <dgm:spPr/>
      <dgm:t>
        <a:bodyPr/>
        <a:lstStyle/>
        <a:p>
          <a:pPr>
            <a:lnSpc>
              <a:spcPct val="100000"/>
            </a:lnSpc>
          </a:pPr>
          <a:r>
            <a:rPr lang="en-US" sz="1400" dirty="0"/>
            <a:t>62 Columns</a:t>
          </a:r>
        </a:p>
      </dgm:t>
    </dgm:pt>
    <dgm:pt modelId="{C5E15AEF-994A-4EA9-8527-58D429F09DCB}" type="parTrans" cxnId="{50218787-516D-41A1-94FF-54664E47EB91}">
      <dgm:prSet/>
      <dgm:spPr/>
      <dgm:t>
        <a:bodyPr/>
        <a:lstStyle/>
        <a:p>
          <a:endParaRPr lang="en-US"/>
        </a:p>
      </dgm:t>
    </dgm:pt>
    <dgm:pt modelId="{A658C37C-510E-49FA-A3E7-57A7FF5F5426}" type="sibTrans" cxnId="{50218787-516D-41A1-94FF-54664E47EB91}">
      <dgm:prSet/>
      <dgm:spPr/>
      <dgm:t>
        <a:bodyPr/>
        <a:lstStyle/>
        <a:p>
          <a:endParaRPr lang="en-US"/>
        </a:p>
      </dgm:t>
    </dgm:pt>
    <dgm:pt modelId="{4BA236D8-31DC-43D0-BED0-6D598506BFFD}">
      <dgm:prSet phldrT="[Text]" phldr="0"/>
      <dgm:spPr/>
      <dgm:t>
        <a:bodyPr/>
        <a:lstStyle/>
        <a:p>
          <a:pPr>
            <a:lnSpc>
              <a:spcPct val="150000"/>
            </a:lnSpc>
          </a:pPr>
          <a:r>
            <a:rPr lang="en-US" sz="1400" b="1" dirty="0"/>
            <a:t>Anonymization</a:t>
          </a:r>
        </a:p>
      </dgm:t>
    </dgm:pt>
    <dgm:pt modelId="{F4E43082-7E84-41CD-814C-358EA9B86CE4}" type="parTrans" cxnId="{83CA8C75-9ADD-458E-A07E-ECBD70FD3550}">
      <dgm:prSet/>
      <dgm:spPr/>
      <dgm:t>
        <a:bodyPr/>
        <a:lstStyle/>
        <a:p>
          <a:endParaRPr lang="en-US"/>
        </a:p>
      </dgm:t>
    </dgm:pt>
    <dgm:pt modelId="{131B8809-4A39-48C5-938F-E9913004A2C1}" type="sibTrans" cxnId="{83CA8C75-9ADD-458E-A07E-ECBD70FD3550}">
      <dgm:prSet/>
      <dgm:spPr/>
      <dgm:t>
        <a:bodyPr/>
        <a:lstStyle/>
        <a:p>
          <a:endParaRPr lang="en-US"/>
        </a:p>
      </dgm:t>
    </dgm:pt>
    <dgm:pt modelId="{A54CFDFA-EE53-4AC3-A111-FFF2A8690480}">
      <dgm:prSet phldrT="[Text]" phldr="0"/>
      <dgm:spPr/>
      <dgm:t>
        <a:bodyPr/>
        <a:lstStyle/>
        <a:p>
          <a:pPr>
            <a:lnSpc>
              <a:spcPct val="90000"/>
            </a:lnSpc>
          </a:pPr>
          <a:r>
            <a:rPr lang="en-US" sz="1400" dirty="0"/>
            <a:t>Customer Name</a:t>
          </a:r>
        </a:p>
      </dgm:t>
    </dgm:pt>
    <dgm:pt modelId="{FAF8750A-3CD9-47A3-9DD7-0624F094821F}" type="parTrans" cxnId="{1D7648D4-6551-4E7D-86FF-968CA25CA5C0}">
      <dgm:prSet/>
      <dgm:spPr/>
      <dgm:t>
        <a:bodyPr/>
        <a:lstStyle/>
        <a:p>
          <a:endParaRPr lang="en-US"/>
        </a:p>
      </dgm:t>
    </dgm:pt>
    <dgm:pt modelId="{2944B6E7-D285-4BBF-8086-6C44A54B547D}" type="sibTrans" cxnId="{1D7648D4-6551-4E7D-86FF-968CA25CA5C0}">
      <dgm:prSet/>
      <dgm:spPr/>
      <dgm:t>
        <a:bodyPr/>
        <a:lstStyle/>
        <a:p>
          <a:endParaRPr lang="en-US"/>
        </a:p>
      </dgm:t>
    </dgm:pt>
    <dgm:pt modelId="{0A4CC23E-C0EF-48A7-A386-D56416F99933}">
      <dgm:prSet phldrT="[Text]" phldr="0"/>
      <dgm:spPr/>
      <dgm:t>
        <a:bodyPr/>
        <a:lstStyle/>
        <a:p>
          <a:pPr>
            <a:lnSpc>
              <a:spcPct val="90000"/>
            </a:lnSpc>
          </a:pPr>
          <a:r>
            <a:rPr lang="en-US" sz="1400"/>
            <a:t>Account Number</a:t>
          </a:r>
          <a:endParaRPr lang="en-US" sz="1400" dirty="0"/>
        </a:p>
      </dgm:t>
    </dgm:pt>
    <dgm:pt modelId="{58332CA2-01F5-438C-BC58-E8326E41916B}" type="parTrans" cxnId="{7C98BC0D-FCAA-4EBF-9AFD-1905D0CB7BAE}">
      <dgm:prSet/>
      <dgm:spPr/>
      <dgm:t>
        <a:bodyPr/>
        <a:lstStyle/>
        <a:p>
          <a:endParaRPr lang="en-US"/>
        </a:p>
      </dgm:t>
    </dgm:pt>
    <dgm:pt modelId="{9E9603C5-0FDF-42FB-A97D-8AE73181C15C}" type="sibTrans" cxnId="{7C98BC0D-FCAA-4EBF-9AFD-1905D0CB7BAE}">
      <dgm:prSet/>
      <dgm:spPr/>
      <dgm:t>
        <a:bodyPr/>
        <a:lstStyle/>
        <a:p>
          <a:endParaRPr lang="en-US"/>
        </a:p>
      </dgm:t>
    </dgm:pt>
    <dgm:pt modelId="{AB10C551-AAF7-4FA9-ACA8-B89DDE76ED7C}">
      <dgm:prSet phldrT="[Text]" phldr="0"/>
      <dgm:spPr/>
      <dgm:t>
        <a:bodyPr/>
        <a:lstStyle/>
        <a:p>
          <a:pPr>
            <a:lnSpc>
              <a:spcPct val="90000"/>
            </a:lnSpc>
          </a:pPr>
          <a:r>
            <a:rPr lang="en-US" sz="1400"/>
            <a:t>Officer</a:t>
          </a:r>
          <a:endParaRPr lang="en-US" sz="1400" dirty="0"/>
        </a:p>
      </dgm:t>
    </dgm:pt>
    <dgm:pt modelId="{04AACBDB-601F-4253-9A9C-466B78C2148C}" type="parTrans" cxnId="{207CDE92-B1DA-4307-B2F3-A5A590B460C3}">
      <dgm:prSet/>
      <dgm:spPr/>
      <dgm:t>
        <a:bodyPr/>
        <a:lstStyle/>
        <a:p>
          <a:endParaRPr lang="en-US"/>
        </a:p>
      </dgm:t>
    </dgm:pt>
    <dgm:pt modelId="{2E0EC986-3EF1-4874-9101-C1C029B776DD}" type="sibTrans" cxnId="{207CDE92-B1DA-4307-B2F3-A5A590B460C3}">
      <dgm:prSet/>
      <dgm:spPr/>
      <dgm:t>
        <a:bodyPr/>
        <a:lstStyle/>
        <a:p>
          <a:endParaRPr lang="en-US"/>
        </a:p>
      </dgm:t>
    </dgm:pt>
    <dgm:pt modelId="{8F74BA14-8D17-465C-9CF6-4DC9B7AC331D}">
      <dgm:prSet phldrT="[Text]" phldr="0"/>
      <dgm:spPr/>
      <dgm:t>
        <a:bodyPr/>
        <a:lstStyle/>
        <a:p>
          <a:pPr>
            <a:lnSpc>
              <a:spcPct val="90000"/>
            </a:lnSpc>
          </a:pPr>
          <a:r>
            <a:rPr lang="en-US" sz="1400"/>
            <a:t>Branch</a:t>
          </a:r>
          <a:endParaRPr lang="en-US" sz="1400" dirty="0"/>
        </a:p>
      </dgm:t>
    </dgm:pt>
    <dgm:pt modelId="{BB3DB3F5-A2E2-41A5-A3FF-DA68D8C5045C}" type="parTrans" cxnId="{98F31D96-5CE3-4A65-A61F-D9D57F731EB0}">
      <dgm:prSet/>
      <dgm:spPr/>
      <dgm:t>
        <a:bodyPr/>
        <a:lstStyle/>
        <a:p>
          <a:endParaRPr lang="en-US"/>
        </a:p>
      </dgm:t>
    </dgm:pt>
    <dgm:pt modelId="{AA44D3A8-6105-47ED-9307-C1B4FE17CEA7}" type="sibTrans" cxnId="{98F31D96-5CE3-4A65-A61F-D9D57F731EB0}">
      <dgm:prSet/>
      <dgm:spPr/>
      <dgm:t>
        <a:bodyPr/>
        <a:lstStyle/>
        <a:p>
          <a:endParaRPr lang="en-US"/>
        </a:p>
      </dgm:t>
    </dgm:pt>
    <dgm:pt modelId="{9C92E5AB-4808-4AF7-AF2D-65404B4C9512}">
      <dgm:prSet phldrT="[Text]" phldr="0"/>
      <dgm:spPr/>
      <dgm:t>
        <a:bodyPr/>
        <a:lstStyle/>
        <a:p>
          <a:pPr>
            <a:lnSpc>
              <a:spcPct val="100000"/>
            </a:lnSpc>
          </a:pPr>
          <a:r>
            <a:rPr lang="en-US" dirty="0"/>
            <a:t>135 Columns</a:t>
          </a:r>
        </a:p>
      </dgm:t>
    </dgm:pt>
    <dgm:pt modelId="{B439261D-3600-4084-BDBB-0C6D47076759}" type="parTrans" cxnId="{B05EB517-38F1-4132-BF59-27C3D4AD0B27}">
      <dgm:prSet/>
      <dgm:spPr/>
      <dgm:t>
        <a:bodyPr/>
        <a:lstStyle/>
        <a:p>
          <a:endParaRPr lang="en-US"/>
        </a:p>
      </dgm:t>
    </dgm:pt>
    <dgm:pt modelId="{569D2F63-F8E6-43FD-B759-86EC1434BED6}" type="sibTrans" cxnId="{B05EB517-38F1-4132-BF59-27C3D4AD0B27}">
      <dgm:prSet/>
      <dgm:spPr/>
      <dgm:t>
        <a:bodyPr/>
        <a:lstStyle/>
        <a:p>
          <a:endParaRPr lang="en-US"/>
        </a:p>
      </dgm:t>
    </dgm:pt>
    <dgm:pt modelId="{D0E32713-848A-43AB-B4F2-87E13944C777}" type="pres">
      <dgm:prSet presAssocID="{C5FC6BD2-5D96-4EC9-BEAC-13DDF0EDB517}" presName="linearFlow" presStyleCnt="0">
        <dgm:presLayoutVars>
          <dgm:dir/>
          <dgm:animLvl val="lvl"/>
          <dgm:resizeHandles/>
        </dgm:presLayoutVars>
      </dgm:prSet>
      <dgm:spPr/>
    </dgm:pt>
    <dgm:pt modelId="{A8753671-4D5A-420D-9E93-FE252016FEB7}" type="pres">
      <dgm:prSet presAssocID="{B9F81291-7F37-44D7-96C0-5C8F4AB4665A}" presName="compositeNode" presStyleCnt="0">
        <dgm:presLayoutVars>
          <dgm:bulletEnabled val="1"/>
        </dgm:presLayoutVars>
      </dgm:prSet>
      <dgm:spPr/>
    </dgm:pt>
    <dgm:pt modelId="{6437222D-8352-40CB-A564-858EC2575B69}" type="pres">
      <dgm:prSet presAssocID="{B9F81291-7F37-44D7-96C0-5C8F4AB4665A}" presName="image" presStyleLbl="fgImgPlac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User with solid fill"/>
        </a:ext>
      </dgm:extLst>
    </dgm:pt>
    <dgm:pt modelId="{0119F701-02EA-45BC-83A1-8F184F0B1F4A}" type="pres">
      <dgm:prSet presAssocID="{B9F81291-7F37-44D7-96C0-5C8F4AB4665A}" presName="childNode" presStyleLbl="node1" presStyleIdx="0" presStyleCnt="4">
        <dgm:presLayoutVars>
          <dgm:bulletEnabled val="1"/>
        </dgm:presLayoutVars>
      </dgm:prSet>
      <dgm:spPr/>
    </dgm:pt>
    <dgm:pt modelId="{BB14EC6B-1CDF-48FC-9F33-8031CE99B0DA}" type="pres">
      <dgm:prSet presAssocID="{B9F81291-7F37-44D7-96C0-5C8F4AB4665A}" presName="parentNode" presStyleLbl="revTx" presStyleIdx="0" presStyleCnt="4">
        <dgm:presLayoutVars>
          <dgm:chMax val="0"/>
          <dgm:bulletEnabled val="1"/>
        </dgm:presLayoutVars>
      </dgm:prSet>
      <dgm:spPr/>
    </dgm:pt>
    <dgm:pt modelId="{FFC597CC-AFFE-4F61-B3FE-BB67D3BFBAAC}" type="pres">
      <dgm:prSet presAssocID="{3CE214DF-C477-4B98-A616-72DFDB2D8FDE}" presName="sibTrans" presStyleCnt="0"/>
      <dgm:spPr/>
    </dgm:pt>
    <dgm:pt modelId="{C7DAE39E-C05E-4631-99DA-773E24287E53}" type="pres">
      <dgm:prSet presAssocID="{EDAD2DD5-13E4-4BB1-B2AB-9EB357BF9D90}" presName="compositeNode" presStyleCnt="0">
        <dgm:presLayoutVars>
          <dgm:bulletEnabled val="1"/>
        </dgm:presLayoutVars>
      </dgm:prSet>
      <dgm:spPr/>
    </dgm:pt>
    <dgm:pt modelId="{A36DA21F-0B2E-41FB-9197-731A39237F65}" type="pres">
      <dgm:prSet presAssocID="{EDAD2DD5-13E4-4BB1-B2AB-9EB357BF9D90}" presName="image" presStyleLbl="fgImgPlac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Home with solid fill"/>
        </a:ext>
      </dgm:extLst>
    </dgm:pt>
    <dgm:pt modelId="{57E0BF0A-547F-4D0A-B7B8-A5280F4E3B11}" type="pres">
      <dgm:prSet presAssocID="{EDAD2DD5-13E4-4BB1-B2AB-9EB357BF9D90}" presName="childNode" presStyleLbl="node1" presStyleIdx="1" presStyleCnt="4">
        <dgm:presLayoutVars>
          <dgm:bulletEnabled val="1"/>
        </dgm:presLayoutVars>
      </dgm:prSet>
      <dgm:spPr/>
    </dgm:pt>
    <dgm:pt modelId="{6CF82E27-E488-466A-9029-EA0F9563085D}" type="pres">
      <dgm:prSet presAssocID="{EDAD2DD5-13E4-4BB1-B2AB-9EB357BF9D90}" presName="parentNode" presStyleLbl="revTx" presStyleIdx="1" presStyleCnt="4">
        <dgm:presLayoutVars>
          <dgm:chMax val="0"/>
          <dgm:bulletEnabled val="1"/>
        </dgm:presLayoutVars>
      </dgm:prSet>
      <dgm:spPr/>
    </dgm:pt>
    <dgm:pt modelId="{19BE554C-C213-4B4A-967D-7C26D41E6EF2}" type="pres">
      <dgm:prSet presAssocID="{E26E85EE-D2A7-4B32-A582-6B55BCC9211B}" presName="sibTrans" presStyleCnt="0"/>
      <dgm:spPr/>
    </dgm:pt>
    <dgm:pt modelId="{1AC93A53-7EDD-4033-A3C4-3D5E81B4FA3B}" type="pres">
      <dgm:prSet presAssocID="{1D7ADE86-CECF-4C6A-9034-211F78993A0B}" presName="compositeNode" presStyleCnt="0">
        <dgm:presLayoutVars>
          <dgm:bulletEnabled val="1"/>
        </dgm:presLayoutVars>
      </dgm:prSet>
      <dgm:spPr/>
    </dgm:pt>
    <dgm:pt modelId="{A74B0647-CBE3-4CAE-B99B-7A0F9FA6DC5E}" type="pres">
      <dgm:prSet presAssocID="{1D7ADE86-CECF-4C6A-9034-211F78993A0B}" presName="image" presStyleLbl="fgImgPlac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Bank with solid fill"/>
        </a:ext>
      </dgm:extLst>
    </dgm:pt>
    <dgm:pt modelId="{F6A0A161-1961-463D-8DEC-AF8C20F3ACB6}" type="pres">
      <dgm:prSet presAssocID="{1D7ADE86-CECF-4C6A-9034-211F78993A0B}" presName="childNode" presStyleLbl="node1" presStyleIdx="2" presStyleCnt="4">
        <dgm:presLayoutVars>
          <dgm:bulletEnabled val="1"/>
        </dgm:presLayoutVars>
      </dgm:prSet>
      <dgm:spPr/>
    </dgm:pt>
    <dgm:pt modelId="{D63D998F-714F-4C7E-8897-A90880B6F4CA}" type="pres">
      <dgm:prSet presAssocID="{1D7ADE86-CECF-4C6A-9034-211F78993A0B}" presName="parentNode" presStyleLbl="revTx" presStyleIdx="2" presStyleCnt="4">
        <dgm:presLayoutVars>
          <dgm:chMax val="0"/>
          <dgm:bulletEnabled val="1"/>
        </dgm:presLayoutVars>
      </dgm:prSet>
      <dgm:spPr/>
    </dgm:pt>
    <dgm:pt modelId="{DF268293-F9B2-4174-AD08-C2D112EDFC3B}" type="pres">
      <dgm:prSet presAssocID="{338CF771-7F9D-4DB7-AACE-2AAEB011789B}" presName="sibTrans" presStyleCnt="0"/>
      <dgm:spPr/>
    </dgm:pt>
    <dgm:pt modelId="{57B68C22-587A-4922-985C-8079BFCF4C2A}" type="pres">
      <dgm:prSet presAssocID="{5553E0B0-C2D2-4CF4-8A6A-526C7842B98E}" presName="compositeNode" presStyleCnt="0">
        <dgm:presLayoutVars>
          <dgm:bulletEnabled val="1"/>
        </dgm:presLayoutVars>
      </dgm:prSet>
      <dgm:spPr/>
    </dgm:pt>
    <dgm:pt modelId="{FE5C88B5-F48F-4698-8916-CA9ADF459CFA}" type="pres">
      <dgm:prSet presAssocID="{5553E0B0-C2D2-4CF4-8A6A-526C7842B98E}" presName="image" presStyleLbl="fgImgPlac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Money with solid fill"/>
        </a:ext>
      </dgm:extLst>
    </dgm:pt>
    <dgm:pt modelId="{B467A525-E9C0-468C-9197-FA6E899C559F}" type="pres">
      <dgm:prSet presAssocID="{5553E0B0-C2D2-4CF4-8A6A-526C7842B98E}" presName="childNode" presStyleLbl="node1" presStyleIdx="3" presStyleCnt="4">
        <dgm:presLayoutVars>
          <dgm:bulletEnabled val="1"/>
        </dgm:presLayoutVars>
      </dgm:prSet>
      <dgm:spPr/>
    </dgm:pt>
    <dgm:pt modelId="{32AB00F9-96C6-4536-B234-08321A96F533}" type="pres">
      <dgm:prSet presAssocID="{5553E0B0-C2D2-4CF4-8A6A-526C7842B98E}" presName="parentNode" presStyleLbl="revTx" presStyleIdx="3" presStyleCnt="4">
        <dgm:presLayoutVars>
          <dgm:chMax val="0"/>
          <dgm:bulletEnabled val="1"/>
        </dgm:presLayoutVars>
      </dgm:prSet>
      <dgm:spPr/>
    </dgm:pt>
  </dgm:ptLst>
  <dgm:cxnLst>
    <dgm:cxn modelId="{4293F907-7DF3-43A3-8CF4-719D313B37FC}" type="presOf" srcId="{639C7CAE-505A-4151-8D68-871F3EF70C04}" destId="{F6A0A161-1961-463D-8DEC-AF8C20F3ACB6}" srcOrd="0" destOrd="6" presId="urn:microsoft.com/office/officeart/2005/8/layout/hList2"/>
    <dgm:cxn modelId="{7C98BC0D-FCAA-4EBF-9AFD-1905D0CB7BAE}" srcId="{4BA236D8-31DC-43D0-BED0-6D598506BFFD}" destId="{0A4CC23E-C0EF-48A7-A386-D56416F99933}" srcOrd="1" destOrd="0" parTransId="{58332CA2-01F5-438C-BC58-E8326E41916B}" sibTransId="{9E9603C5-0FDF-42FB-A97D-8AE73181C15C}"/>
    <dgm:cxn modelId="{B7831B0F-0F3A-4EA7-ADD7-D748FABDB6BF}" type="presOf" srcId="{FA08CA21-1CC3-4B6A-A883-890DA096114D}" destId="{57E0BF0A-547F-4D0A-B7B8-A5280F4E3B11}" srcOrd="0" destOrd="0" presId="urn:microsoft.com/office/officeart/2005/8/layout/hList2"/>
    <dgm:cxn modelId="{FF17DC13-EA77-45E3-A2A7-FCC3BA48184C}" srcId="{64299B6B-33A0-41EC-BE16-4E4AAECAC128}" destId="{639C7CAE-505A-4151-8D68-871F3EF70C04}" srcOrd="0" destOrd="0" parTransId="{BFEC30F7-DA08-46B0-ACD0-BDAD1A778D0F}" sibTransId="{45B92D49-397C-4B3B-8AAB-30A26A63CBA1}"/>
    <dgm:cxn modelId="{758B3516-D5AF-47BB-99FA-23129A02B5F2}" srcId="{C5FC6BD2-5D96-4EC9-BEAC-13DDF0EDB517}" destId="{1D7ADE86-CECF-4C6A-9034-211F78993A0B}" srcOrd="2" destOrd="0" parTransId="{6699D782-5302-420E-AD6A-7F6A79C14B3A}" sibTransId="{338CF771-7F9D-4DB7-AACE-2AAEB011789B}"/>
    <dgm:cxn modelId="{B05EB517-38F1-4132-BF59-27C3D4AD0B27}" srcId="{EF9A87E0-D52E-40D4-A241-3AAE252EE1B8}" destId="{9C92E5AB-4808-4AF7-AF2D-65404B4C9512}" srcOrd="1" destOrd="0" parTransId="{B439261D-3600-4084-BDBB-0C6D47076759}" sibTransId="{569D2F63-F8E6-43FD-B759-86EC1434BED6}"/>
    <dgm:cxn modelId="{114CF71B-1202-4AEE-B9E5-3BDFC49B2809}" type="presOf" srcId="{2CD7BD4A-E8F6-481F-AEAC-6DF883A0E193}" destId="{0119F701-02EA-45BC-83A1-8F184F0B1F4A}" srcOrd="0" destOrd="0" presId="urn:microsoft.com/office/officeart/2005/8/layout/hList2"/>
    <dgm:cxn modelId="{244E9C22-E94B-48D6-AA18-CF3D8F93274C}" type="presOf" srcId="{D8FAE5F3-BF02-46B0-83B1-08E41F7CE5ED}" destId="{F6A0A161-1961-463D-8DEC-AF8C20F3ACB6}" srcOrd="0" destOrd="9" presId="urn:microsoft.com/office/officeart/2005/8/layout/hList2"/>
    <dgm:cxn modelId="{0852E423-C7C0-4776-9923-AC0D69FE80E0}" srcId="{87CB18FE-F699-4A22-B141-5B78243DC69A}" destId="{C3A9EDA7-B6D2-418B-92E5-5954422C4CF3}" srcOrd="1" destOrd="0" parTransId="{B7DDB536-4EC1-4129-8AE2-57308E09CFC3}" sibTransId="{098AD727-A83F-4B57-8B29-3DEA1674DB6E}"/>
    <dgm:cxn modelId="{92FB8C25-7FC4-4559-8135-91F006962A0C}" type="presOf" srcId="{64299B6B-33A0-41EC-BE16-4E4AAECAC128}" destId="{F6A0A161-1961-463D-8DEC-AF8C20F3ACB6}" srcOrd="0" destOrd="5" presId="urn:microsoft.com/office/officeart/2005/8/layout/hList2"/>
    <dgm:cxn modelId="{359D052C-DE20-42B4-8A1D-7AD4A98B069C}" srcId="{2CD7BD4A-E8F6-481F-AEAC-6DF883A0E193}" destId="{129852A3-3441-4AA9-B171-C71207D31674}" srcOrd="0" destOrd="0" parTransId="{7E1DEF66-84EA-4541-B6DE-9FAFB8BFC8E2}" sibTransId="{E442F2E1-D1EA-4AD7-8439-0BC7D3236E73}"/>
    <dgm:cxn modelId="{C271182C-7819-40F2-8F47-152720CE641A}" type="presOf" srcId="{0A4CC23E-C0EF-48A7-A386-D56416F99933}" destId="{B467A525-E9C0-468C-9197-FA6E899C559F}" srcOrd="0" destOrd="5" presId="urn:microsoft.com/office/officeart/2005/8/layout/hList2"/>
    <dgm:cxn modelId="{AEF2193A-FCCA-4E0D-B033-30215D9CE87E}" srcId="{EDAD2DD5-13E4-4BB1-B2AB-9EB357BF9D90}" destId="{C7833F21-3B4E-4C42-A9BE-8F7FE1C74D95}" srcOrd="1" destOrd="0" parTransId="{82102DAE-129D-4323-BA18-0993C0385D79}" sibTransId="{C0018BAE-E0C8-4D54-AF51-E5885D32A683}"/>
    <dgm:cxn modelId="{AA0F143E-8AE3-41C9-B5B1-6674537B98AA}" type="presOf" srcId="{AB10C551-AAF7-4FA9-ACA8-B89DDE76ED7C}" destId="{B467A525-E9C0-468C-9197-FA6E899C559F}" srcOrd="0" destOrd="6" presId="urn:microsoft.com/office/officeart/2005/8/layout/hList2"/>
    <dgm:cxn modelId="{FE71275C-33CA-43F3-9684-A55EF6C6C8E9}" srcId="{B9F81291-7F37-44D7-96C0-5C8F4AB4665A}" destId="{87CB18FE-F699-4A22-B141-5B78243DC69A}" srcOrd="1" destOrd="0" parTransId="{9B60F8D5-2E58-4ECC-88F0-B18614F5BC63}" sibTransId="{6834E516-F048-45B3-BEC7-8FCFD1DA964C}"/>
    <dgm:cxn modelId="{046C1B60-7640-49DA-8F65-5F3F6137C773}" type="presOf" srcId="{5553E0B0-C2D2-4CF4-8A6A-526C7842B98E}" destId="{32AB00F9-96C6-4536-B234-08321A96F533}" srcOrd="0" destOrd="0" presId="urn:microsoft.com/office/officeart/2005/8/layout/hList2"/>
    <dgm:cxn modelId="{B3DD4D44-2DE1-4F21-BDE1-111A7FD7CACA}" type="presOf" srcId="{294F8FF0-75B2-476A-B39E-95EBC7F01EEA}" destId="{B467A525-E9C0-468C-9197-FA6E899C559F}" srcOrd="0" destOrd="0" presId="urn:microsoft.com/office/officeart/2005/8/layout/hList2"/>
    <dgm:cxn modelId="{8234B764-E251-4158-82AF-4AE950C28198}" type="presOf" srcId="{1B5CBC02-92DA-429A-BA6B-448B4673DDC1}" destId="{B467A525-E9C0-468C-9197-FA6E899C559F}" srcOrd="0" destOrd="2" presId="urn:microsoft.com/office/officeart/2005/8/layout/hList2"/>
    <dgm:cxn modelId="{80DEF565-C4A5-4378-90C7-5F8865F17BFD}" type="presOf" srcId="{E5AD1EC7-ED6B-427F-B901-8BCE50D8F3E5}" destId="{57E0BF0A-547F-4D0A-B7B8-A5280F4E3B11}" srcOrd="0" destOrd="4" presId="urn:microsoft.com/office/officeart/2005/8/layout/hList2"/>
    <dgm:cxn modelId="{D6E1A149-AA0F-46C6-9A5F-4DBE2854C416}" type="presOf" srcId="{EDAD2DD5-13E4-4BB1-B2AB-9EB357BF9D90}" destId="{6CF82E27-E488-466A-9029-EA0F9563085D}" srcOrd="0" destOrd="0" presId="urn:microsoft.com/office/officeart/2005/8/layout/hList2"/>
    <dgm:cxn modelId="{C8B19A4B-91AA-497A-9B9D-18FDCD6076BA}" srcId="{64299B6B-33A0-41EC-BE16-4E4AAECAC128}" destId="{35EA59F3-332E-49A2-B9FB-892E7450613B}" srcOrd="1" destOrd="0" parTransId="{699DEA19-0934-4B4E-A313-7D12D44FB5BB}" sibTransId="{88B0F8D9-1879-4D4E-801C-4D962A80E4FE}"/>
    <dgm:cxn modelId="{F542966C-297A-4C43-BBDB-F47A709BC28A}" type="presOf" srcId="{9C92E5AB-4808-4AF7-AF2D-65404B4C9512}" destId="{F6A0A161-1961-463D-8DEC-AF8C20F3ACB6}" srcOrd="0" destOrd="4" presId="urn:microsoft.com/office/officeart/2005/8/layout/hList2"/>
    <dgm:cxn modelId="{4670DF6E-91A6-47CE-9321-018E95C666C0}" type="presOf" srcId="{5794C528-1015-4F66-A8D5-1CA726F2ECF7}" destId="{F6A0A161-1961-463D-8DEC-AF8C20F3ACB6}" srcOrd="0" destOrd="8" presId="urn:microsoft.com/office/officeart/2005/8/layout/hList2"/>
    <dgm:cxn modelId="{92042872-4825-4E3A-9483-A8CF637E1566}" srcId="{FA08CA21-1CC3-4B6A-A883-890DA096114D}" destId="{BFEE3DD7-9026-4C4E-9172-1C0BE538BE68}" srcOrd="1" destOrd="0" parTransId="{B886FB83-EB6E-47E0-B132-B0DAA735B016}" sibTransId="{964663B9-89E8-4363-8B5D-99066ABF74BF}"/>
    <dgm:cxn modelId="{8F8F2574-D4EB-4B31-AA0F-1E491177396C}" srcId="{64299B6B-33A0-41EC-BE16-4E4AAECAC128}" destId="{D8FAE5F3-BF02-46B0-83B1-08E41F7CE5ED}" srcOrd="3" destOrd="0" parTransId="{F9A6FF53-2715-4F43-85F4-76D6913CD50C}" sibTransId="{77F645E6-E016-47FD-8CFE-7D1308E4CA49}"/>
    <dgm:cxn modelId="{D9DBA554-8EF2-414C-8267-8241010A99A4}" type="presOf" srcId="{C5FC6BD2-5D96-4EC9-BEAC-13DDF0EDB517}" destId="{D0E32713-848A-43AB-B4F2-87E13944C777}" srcOrd="0" destOrd="0" presId="urn:microsoft.com/office/officeart/2005/8/layout/hList2"/>
    <dgm:cxn modelId="{83CA8C75-9ADD-458E-A07E-ECBD70FD3550}" srcId="{5553E0B0-C2D2-4CF4-8A6A-526C7842B98E}" destId="{4BA236D8-31DC-43D0-BED0-6D598506BFFD}" srcOrd="1" destOrd="0" parTransId="{F4E43082-7E84-41CD-814C-358EA9B86CE4}" sibTransId="{131B8809-4A39-48C5-938F-E9913004A2C1}"/>
    <dgm:cxn modelId="{D48D5776-FF46-496F-BDE2-CEC89E51DFCB}" type="presOf" srcId="{03BE8567-77F2-488D-AE16-012824EF8996}" destId="{B467A525-E9C0-468C-9197-FA6E899C559F}" srcOrd="0" destOrd="1" presId="urn:microsoft.com/office/officeart/2005/8/layout/hList2"/>
    <dgm:cxn modelId="{4225A977-886E-4056-B7C2-694108CEB37B}" type="presOf" srcId="{F79D96C6-244F-462F-9C86-693B97D7EB01}" destId="{0119F701-02EA-45BC-83A1-8F184F0B1F4A}" srcOrd="0" destOrd="4" presId="urn:microsoft.com/office/officeart/2005/8/layout/hList2"/>
    <dgm:cxn modelId="{6CEA557B-9B6F-4492-B143-CFC964A8589F}" srcId="{87CB18FE-F699-4A22-B141-5B78243DC69A}" destId="{F79D96C6-244F-462F-9C86-693B97D7EB01}" srcOrd="0" destOrd="0" parTransId="{2D99FB4B-90D6-4F93-BEE5-7EA438131031}" sibTransId="{5A28E95F-D4B7-4C74-9D3C-6BAF3AEA8787}"/>
    <dgm:cxn modelId="{1579437C-67D1-4568-8965-353F6132E8F3}" type="presOf" srcId="{129852A3-3441-4AA9-B171-C71207D31674}" destId="{0119F701-02EA-45BC-83A1-8F184F0B1F4A}" srcOrd="0" destOrd="1" presId="urn:microsoft.com/office/officeart/2005/8/layout/hList2"/>
    <dgm:cxn modelId="{F169287D-FFBA-4D18-B311-E94FF4E61F33}" type="presOf" srcId="{206B7D5C-1D92-4897-9326-D6A04430A2EE}" destId="{F6A0A161-1961-463D-8DEC-AF8C20F3ACB6}" srcOrd="0" destOrd="1" presId="urn:microsoft.com/office/officeart/2005/8/layout/hList2"/>
    <dgm:cxn modelId="{5DA0B47F-2725-4DA7-8B5B-1E99157203CF}" type="presOf" srcId="{F21C83A9-CCAD-41BA-B553-C0DA6EA9A2B9}" destId="{57E0BF0A-547F-4D0A-B7B8-A5280F4E3B11}" srcOrd="0" destOrd="1" presId="urn:microsoft.com/office/officeart/2005/8/layout/hList2"/>
    <dgm:cxn modelId="{3F180882-4ADD-48BF-AFDE-FD66801E964D}" srcId="{1D7ADE86-CECF-4C6A-9034-211F78993A0B}" destId="{EF9A87E0-D52E-40D4-A241-3AAE252EE1B8}" srcOrd="0" destOrd="0" parTransId="{730182D6-1841-4B41-B6F2-51BB5AD98AFF}" sibTransId="{3B667BEF-AC69-4546-B01C-8788E011C2C6}"/>
    <dgm:cxn modelId="{9D797386-C874-49E1-9C6D-BAC1EF3CEC65}" srcId="{87CB18FE-F699-4A22-B141-5B78243DC69A}" destId="{E5460748-2CA0-4C73-84BA-27DDE88589C6}" srcOrd="2" destOrd="0" parTransId="{4A58A0D5-C439-4822-81BA-8A7315603B2B}" sibTransId="{ED43FB79-645C-4BBF-BDBA-28689C9D7AEC}"/>
    <dgm:cxn modelId="{50218787-516D-41A1-94FF-54664E47EB91}" srcId="{294F8FF0-75B2-476A-B39E-95EBC7F01EEA}" destId="{1B5CBC02-92DA-429A-BA6B-448B4673DDC1}" srcOrd="1" destOrd="0" parTransId="{C5E15AEF-994A-4EA9-8527-58D429F09DCB}" sibTransId="{A658C37C-510E-49FA-A3E7-57A7FF5F5426}"/>
    <dgm:cxn modelId="{207CDE92-B1DA-4307-B2F3-A5A590B460C3}" srcId="{4BA236D8-31DC-43D0-BED0-6D598506BFFD}" destId="{AB10C551-AAF7-4FA9-ACA8-B89DDE76ED7C}" srcOrd="2" destOrd="0" parTransId="{04AACBDB-601F-4253-9A9C-466B78C2148C}" sibTransId="{2E0EC986-3EF1-4874-9101-C1C029B776DD}"/>
    <dgm:cxn modelId="{98F31D96-5CE3-4A65-A61F-D9D57F731EB0}" srcId="{4BA236D8-31DC-43D0-BED0-6D598506BFFD}" destId="{8F74BA14-8D17-465C-9CF6-4DC9B7AC331D}" srcOrd="3" destOrd="0" parTransId="{BB3DB3F5-A2E2-41A5-A3FF-DA68D8C5045C}" sibTransId="{AA44D3A8-6105-47ED-9307-C1B4FE17CEA7}"/>
    <dgm:cxn modelId="{94264198-22F0-4FC1-86E3-D153FD553EC9}" type="presOf" srcId="{A54CFDFA-EE53-4AC3-A111-FFF2A8690480}" destId="{B467A525-E9C0-468C-9197-FA6E899C559F}" srcOrd="0" destOrd="4" presId="urn:microsoft.com/office/officeart/2005/8/layout/hList2"/>
    <dgm:cxn modelId="{B2BEC69A-D36D-4D12-8750-2BD3F3BD3445}" srcId="{C7833F21-3B4E-4C42-A9BE-8F7FE1C74D95}" destId="{E5AD1EC7-ED6B-427F-B901-8BCE50D8F3E5}" srcOrd="0" destOrd="0" parTransId="{670E10C9-D1CC-48E9-9EFC-1559CB86FEFF}" sibTransId="{DFB18EF6-FF9C-4C6D-84A5-77B33AA0939B}"/>
    <dgm:cxn modelId="{FFBF449D-4833-45E6-9DB2-C2AA0C33A65E}" srcId="{5553E0B0-C2D2-4CF4-8A6A-526C7842B98E}" destId="{294F8FF0-75B2-476A-B39E-95EBC7F01EEA}" srcOrd="0" destOrd="0" parTransId="{31982BF9-3696-4F43-AFBC-26ECDD451BD9}" sibTransId="{670FD839-3AF3-4F87-BA0B-9E409CFA20B0}"/>
    <dgm:cxn modelId="{56F5989D-5474-4141-87CB-8FE409A0090C}" type="presOf" srcId="{8F74BA14-8D17-465C-9CF6-4DC9B7AC331D}" destId="{B467A525-E9C0-468C-9197-FA6E899C559F}" srcOrd="0" destOrd="7" presId="urn:microsoft.com/office/officeart/2005/8/layout/hList2"/>
    <dgm:cxn modelId="{E98FBF9F-DCDB-44B6-A48D-62F3C040FF4C}" type="presOf" srcId="{FA231124-99EA-4322-9151-2D9D6B89C0AA}" destId="{F6A0A161-1961-463D-8DEC-AF8C20F3ACB6}" srcOrd="0" destOrd="3" presId="urn:microsoft.com/office/officeart/2005/8/layout/hList2"/>
    <dgm:cxn modelId="{CE70EEA2-B1F0-47F9-814A-255FF85BB489}" type="presOf" srcId="{87CB18FE-F699-4A22-B141-5B78243DC69A}" destId="{0119F701-02EA-45BC-83A1-8F184F0B1F4A}" srcOrd="0" destOrd="3" presId="urn:microsoft.com/office/officeart/2005/8/layout/hList2"/>
    <dgm:cxn modelId="{220723A3-09CB-4359-B34B-729C7CC0688E}" srcId="{206B7D5C-1D92-4897-9326-D6A04430A2EE}" destId="{FA231124-99EA-4322-9151-2D9D6B89C0AA}" srcOrd="1" destOrd="0" parTransId="{9CEF3B5C-10CE-4E74-BE68-A79922C88656}" sibTransId="{6DFCF5C3-8784-4335-B9BF-9350C411EA57}"/>
    <dgm:cxn modelId="{C87D8FA3-3848-4DA9-8726-4D7DD2DEC653}" type="presOf" srcId="{4869EA42-7E0B-4B31-94A2-C376C96B38E0}" destId="{F6A0A161-1961-463D-8DEC-AF8C20F3ACB6}" srcOrd="0" destOrd="2" presId="urn:microsoft.com/office/officeart/2005/8/layout/hList2"/>
    <dgm:cxn modelId="{FE9D01AA-D805-40FC-A73C-83F351E5A5ED}" srcId="{EDAD2DD5-13E4-4BB1-B2AB-9EB357BF9D90}" destId="{FA08CA21-1CC3-4B6A-A883-890DA096114D}" srcOrd="0" destOrd="0" parTransId="{16837094-2193-4172-A0DF-08F647A62BE7}" sibTransId="{879E5DDE-AD30-4C32-AF2D-AE831817C67F}"/>
    <dgm:cxn modelId="{3D2094B8-5992-4D51-9CA3-94B4F68E3500}" srcId="{206B7D5C-1D92-4897-9326-D6A04430A2EE}" destId="{4869EA42-7E0B-4B31-94A2-C376C96B38E0}" srcOrd="0" destOrd="0" parTransId="{73935B8C-7B4B-49FF-A6FA-9C157B0E506F}" sibTransId="{16B2793B-F27C-4FF3-88DF-C3DDED08CA7F}"/>
    <dgm:cxn modelId="{8852EAB8-57C8-4BEE-A793-3B9ED16CE1BF}" srcId="{EF9A87E0-D52E-40D4-A241-3AAE252EE1B8}" destId="{206B7D5C-1D92-4897-9326-D6A04430A2EE}" srcOrd="0" destOrd="0" parTransId="{44B4CD26-1A5D-4E92-A7E9-F2713D0BC888}" sibTransId="{A7278E1F-11DC-460E-B921-3E0C17F0045F}"/>
    <dgm:cxn modelId="{B23860BB-1625-4F89-911C-2496DB32C6DE}" type="presOf" srcId="{4BA236D8-31DC-43D0-BED0-6D598506BFFD}" destId="{B467A525-E9C0-468C-9197-FA6E899C559F}" srcOrd="0" destOrd="3" presId="urn:microsoft.com/office/officeart/2005/8/layout/hList2"/>
    <dgm:cxn modelId="{05BA6DBC-D573-4DC8-B6A0-046933292834}" type="presOf" srcId="{E5460748-2CA0-4C73-84BA-27DDE88589C6}" destId="{0119F701-02EA-45BC-83A1-8F184F0B1F4A}" srcOrd="0" destOrd="6" presId="urn:microsoft.com/office/officeart/2005/8/layout/hList2"/>
    <dgm:cxn modelId="{321087C1-6653-443F-9CE3-ED0C098775C6}" srcId="{FA08CA21-1CC3-4B6A-A883-890DA096114D}" destId="{F21C83A9-CCAD-41BA-B553-C0DA6EA9A2B9}" srcOrd="0" destOrd="0" parTransId="{2BC5ED88-2E14-4BC5-81BE-9415F903CAB3}" sibTransId="{737E1468-45A4-437C-8DEA-31587AC0228E}"/>
    <dgm:cxn modelId="{F6F0F8C1-94F3-48C8-B400-7DE8707BC7A5}" type="presOf" srcId="{BFEE3DD7-9026-4C4E-9172-1C0BE538BE68}" destId="{57E0BF0A-547F-4D0A-B7B8-A5280F4E3B11}" srcOrd="0" destOrd="2" presId="urn:microsoft.com/office/officeart/2005/8/layout/hList2"/>
    <dgm:cxn modelId="{B8AD03C7-01C2-4114-BD93-30C9151E375E}" srcId="{C5FC6BD2-5D96-4EC9-BEAC-13DDF0EDB517}" destId="{B9F81291-7F37-44D7-96C0-5C8F4AB4665A}" srcOrd="0" destOrd="0" parTransId="{70F6B7AF-8A2B-4BFA-B837-A6FA2FFCD4B8}" sibTransId="{3CE214DF-C477-4B98-A616-72DFDB2D8FDE}"/>
    <dgm:cxn modelId="{FEC368C9-9881-43E1-9A69-95C199A28018}" srcId="{B9F81291-7F37-44D7-96C0-5C8F4AB4665A}" destId="{2CD7BD4A-E8F6-481F-AEAC-6DF883A0E193}" srcOrd="0" destOrd="0" parTransId="{DD4FDFFE-ED9E-4563-8C91-F4973C3EE142}" sibTransId="{BC9959AA-04AA-4424-AD33-68FA96F0855C}"/>
    <dgm:cxn modelId="{0BC03DD1-16E1-4D7E-A27A-BD4909CC03EA}" srcId="{1D7ADE86-CECF-4C6A-9034-211F78993A0B}" destId="{64299B6B-33A0-41EC-BE16-4E4AAECAC128}" srcOrd="1" destOrd="0" parTransId="{1A33A39B-8F21-489B-9E68-5B8CBED5F88F}" sibTransId="{938D7646-672A-4864-802E-F3895DB6C4F8}"/>
    <dgm:cxn modelId="{AD89CCD2-4406-43D3-9BF7-DB07FE758C1B}" type="presOf" srcId="{35EA59F3-332E-49A2-B9FB-892E7450613B}" destId="{F6A0A161-1961-463D-8DEC-AF8C20F3ACB6}" srcOrd="0" destOrd="7" presId="urn:microsoft.com/office/officeart/2005/8/layout/hList2"/>
    <dgm:cxn modelId="{1D7648D4-6551-4E7D-86FF-968CA25CA5C0}" srcId="{4BA236D8-31DC-43D0-BED0-6D598506BFFD}" destId="{A54CFDFA-EE53-4AC3-A111-FFF2A8690480}" srcOrd="0" destOrd="0" parTransId="{FAF8750A-3CD9-47A3-9DD7-0624F094821F}" sibTransId="{2944B6E7-D285-4BBF-8086-6C44A54B547D}"/>
    <dgm:cxn modelId="{2C4948D6-653C-400B-8733-BF4493BF6179}" srcId="{64299B6B-33A0-41EC-BE16-4E4AAECAC128}" destId="{5794C528-1015-4F66-A8D5-1CA726F2ECF7}" srcOrd="2" destOrd="0" parTransId="{49709DF6-7CBC-4C59-A55B-BA11FE69E6DC}" sibTransId="{086CBF47-AF92-4D1C-9752-783FD5E0493F}"/>
    <dgm:cxn modelId="{D27C40D8-2A4A-47AD-9686-511085A5550C}" type="presOf" srcId="{EF9A87E0-D52E-40D4-A241-3AAE252EE1B8}" destId="{F6A0A161-1961-463D-8DEC-AF8C20F3ACB6}" srcOrd="0" destOrd="0" presId="urn:microsoft.com/office/officeart/2005/8/layout/hList2"/>
    <dgm:cxn modelId="{E931D7D9-7CD9-45AC-A15C-03F8551703D1}" srcId="{294F8FF0-75B2-476A-B39E-95EBC7F01EEA}" destId="{03BE8567-77F2-488D-AE16-012824EF8996}" srcOrd="0" destOrd="0" parTransId="{A37E4800-0250-497F-8CE6-4BC26EE694B0}" sibTransId="{8C07432E-292B-4212-B560-D529D3788587}"/>
    <dgm:cxn modelId="{EB738ADC-E879-451F-95AB-DA2B415A749F}" srcId="{C5FC6BD2-5D96-4EC9-BEAC-13DDF0EDB517}" destId="{5553E0B0-C2D2-4CF4-8A6A-526C7842B98E}" srcOrd="3" destOrd="0" parTransId="{B8F1E9A9-4F49-4CD9-A1B9-28F23E15772E}" sibTransId="{83F5CA67-ECDC-49D8-B939-9BFFC75E671B}"/>
    <dgm:cxn modelId="{9636A9E2-9CBA-47A0-8A98-7442E596247C}" type="presOf" srcId="{C7833F21-3B4E-4C42-A9BE-8F7FE1C74D95}" destId="{57E0BF0A-547F-4D0A-B7B8-A5280F4E3B11}" srcOrd="0" destOrd="3" presId="urn:microsoft.com/office/officeart/2005/8/layout/hList2"/>
    <dgm:cxn modelId="{129D91E8-4E8D-4FF6-85AA-A6502F1E11ED}" type="presOf" srcId="{B9F81291-7F37-44D7-96C0-5C8F4AB4665A}" destId="{BB14EC6B-1CDF-48FC-9F33-8031CE99B0DA}" srcOrd="0" destOrd="0" presId="urn:microsoft.com/office/officeart/2005/8/layout/hList2"/>
    <dgm:cxn modelId="{6A5C6DF0-CB93-4246-B85A-2B31201661B7}" type="presOf" srcId="{AFA2EB7E-BAD4-47BA-9D77-8917D05356C5}" destId="{0119F701-02EA-45BC-83A1-8F184F0B1F4A}" srcOrd="0" destOrd="2" presId="urn:microsoft.com/office/officeart/2005/8/layout/hList2"/>
    <dgm:cxn modelId="{229735F2-4A6C-4858-B8BF-A1B9A7E097FA}" type="presOf" srcId="{C3A9EDA7-B6D2-418B-92E5-5954422C4CF3}" destId="{0119F701-02EA-45BC-83A1-8F184F0B1F4A}" srcOrd="0" destOrd="5" presId="urn:microsoft.com/office/officeart/2005/8/layout/hList2"/>
    <dgm:cxn modelId="{36EF67FA-80F8-42CD-86EF-17DE3AB86222}" srcId="{2CD7BD4A-E8F6-481F-AEAC-6DF883A0E193}" destId="{AFA2EB7E-BAD4-47BA-9D77-8917D05356C5}" srcOrd="1" destOrd="0" parTransId="{C4126E5F-A8E8-4E25-932E-A3D6C58D3A32}" sibTransId="{666E3E48-BD33-4F64-ADC8-DA6704F2B236}"/>
    <dgm:cxn modelId="{A4031EFE-1C26-4919-9929-2D50CCDE68AD}" type="presOf" srcId="{1D7ADE86-CECF-4C6A-9034-211F78993A0B}" destId="{D63D998F-714F-4C7E-8897-A90880B6F4CA}" srcOrd="0" destOrd="0" presId="urn:microsoft.com/office/officeart/2005/8/layout/hList2"/>
    <dgm:cxn modelId="{84F435FE-1DD5-4887-86FC-98C3A9CF9AEB}" srcId="{C5FC6BD2-5D96-4EC9-BEAC-13DDF0EDB517}" destId="{EDAD2DD5-13E4-4BB1-B2AB-9EB357BF9D90}" srcOrd="1" destOrd="0" parTransId="{CD7A9244-F07B-4A3E-BFF2-9BD3CDDAE1F3}" sibTransId="{E26E85EE-D2A7-4B32-A582-6B55BCC9211B}"/>
    <dgm:cxn modelId="{79D6B1F5-1274-4E66-930F-F87C46FF9E02}" type="presParOf" srcId="{D0E32713-848A-43AB-B4F2-87E13944C777}" destId="{A8753671-4D5A-420D-9E93-FE252016FEB7}" srcOrd="0" destOrd="0" presId="urn:microsoft.com/office/officeart/2005/8/layout/hList2"/>
    <dgm:cxn modelId="{0C9348EB-1B66-4885-952C-488CDC587EFE}" type="presParOf" srcId="{A8753671-4D5A-420D-9E93-FE252016FEB7}" destId="{6437222D-8352-40CB-A564-858EC2575B69}" srcOrd="0" destOrd="0" presId="urn:microsoft.com/office/officeart/2005/8/layout/hList2"/>
    <dgm:cxn modelId="{48982508-2D0C-4AF4-84E7-6AE59F06A826}" type="presParOf" srcId="{A8753671-4D5A-420D-9E93-FE252016FEB7}" destId="{0119F701-02EA-45BC-83A1-8F184F0B1F4A}" srcOrd="1" destOrd="0" presId="urn:microsoft.com/office/officeart/2005/8/layout/hList2"/>
    <dgm:cxn modelId="{6E0C8EA0-78C5-4206-80BA-F0882B17532E}" type="presParOf" srcId="{A8753671-4D5A-420D-9E93-FE252016FEB7}" destId="{BB14EC6B-1CDF-48FC-9F33-8031CE99B0DA}" srcOrd="2" destOrd="0" presId="urn:microsoft.com/office/officeart/2005/8/layout/hList2"/>
    <dgm:cxn modelId="{4B2A3C88-0438-499D-8E60-A25EA0EE95C2}" type="presParOf" srcId="{D0E32713-848A-43AB-B4F2-87E13944C777}" destId="{FFC597CC-AFFE-4F61-B3FE-BB67D3BFBAAC}" srcOrd="1" destOrd="0" presId="urn:microsoft.com/office/officeart/2005/8/layout/hList2"/>
    <dgm:cxn modelId="{665FDE5A-06A0-4779-84D9-A3DBEE5BC5E1}" type="presParOf" srcId="{D0E32713-848A-43AB-B4F2-87E13944C777}" destId="{C7DAE39E-C05E-4631-99DA-773E24287E53}" srcOrd="2" destOrd="0" presId="urn:microsoft.com/office/officeart/2005/8/layout/hList2"/>
    <dgm:cxn modelId="{2A0E65A9-5405-4D84-9915-C17CCFEBFC78}" type="presParOf" srcId="{C7DAE39E-C05E-4631-99DA-773E24287E53}" destId="{A36DA21F-0B2E-41FB-9197-731A39237F65}" srcOrd="0" destOrd="0" presId="urn:microsoft.com/office/officeart/2005/8/layout/hList2"/>
    <dgm:cxn modelId="{A41692E4-1E69-4B2B-A690-96169E545F46}" type="presParOf" srcId="{C7DAE39E-C05E-4631-99DA-773E24287E53}" destId="{57E0BF0A-547F-4D0A-B7B8-A5280F4E3B11}" srcOrd="1" destOrd="0" presId="urn:microsoft.com/office/officeart/2005/8/layout/hList2"/>
    <dgm:cxn modelId="{782FDE99-94A7-4139-AA69-949BE21B3197}" type="presParOf" srcId="{C7DAE39E-C05E-4631-99DA-773E24287E53}" destId="{6CF82E27-E488-466A-9029-EA0F9563085D}" srcOrd="2" destOrd="0" presId="urn:microsoft.com/office/officeart/2005/8/layout/hList2"/>
    <dgm:cxn modelId="{11C6A285-1FCD-48C6-BA95-ACD7CD7A123D}" type="presParOf" srcId="{D0E32713-848A-43AB-B4F2-87E13944C777}" destId="{19BE554C-C213-4B4A-967D-7C26D41E6EF2}" srcOrd="3" destOrd="0" presId="urn:microsoft.com/office/officeart/2005/8/layout/hList2"/>
    <dgm:cxn modelId="{5EB8FD97-0DCB-4E09-AC42-D3638F07B325}" type="presParOf" srcId="{D0E32713-848A-43AB-B4F2-87E13944C777}" destId="{1AC93A53-7EDD-4033-A3C4-3D5E81B4FA3B}" srcOrd="4" destOrd="0" presId="urn:microsoft.com/office/officeart/2005/8/layout/hList2"/>
    <dgm:cxn modelId="{D028674E-37E0-4CCF-B016-04500E8CFD53}" type="presParOf" srcId="{1AC93A53-7EDD-4033-A3C4-3D5E81B4FA3B}" destId="{A74B0647-CBE3-4CAE-B99B-7A0F9FA6DC5E}" srcOrd="0" destOrd="0" presId="urn:microsoft.com/office/officeart/2005/8/layout/hList2"/>
    <dgm:cxn modelId="{2D2AE453-A755-4D7B-A767-77893470074E}" type="presParOf" srcId="{1AC93A53-7EDD-4033-A3C4-3D5E81B4FA3B}" destId="{F6A0A161-1961-463D-8DEC-AF8C20F3ACB6}" srcOrd="1" destOrd="0" presId="urn:microsoft.com/office/officeart/2005/8/layout/hList2"/>
    <dgm:cxn modelId="{4EA36132-F526-48F2-8DFF-418F98B0DF55}" type="presParOf" srcId="{1AC93A53-7EDD-4033-A3C4-3D5E81B4FA3B}" destId="{D63D998F-714F-4C7E-8897-A90880B6F4CA}" srcOrd="2" destOrd="0" presId="urn:microsoft.com/office/officeart/2005/8/layout/hList2"/>
    <dgm:cxn modelId="{7DF26571-8B87-4CBD-8B68-10ED8DB2604F}" type="presParOf" srcId="{D0E32713-848A-43AB-B4F2-87E13944C777}" destId="{DF268293-F9B2-4174-AD08-C2D112EDFC3B}" srcOrd="5" destOrd="0" presId="urn:microsoft.com/office/officeart/2005/8/layout/hList2"/>
    <dgm:cxn modelId="{AD42C677-200D-4541-9917-BD3D5B033F6E}" type="presParOf" srcId="{D0E32713-848A-43AB-B4F2-87E13944C777}" destId="{57B68C22-587A-4922-985C-8079BFCF4C2A}" srcOrd="6" destOrd="0" presId="urn:microsoft.com/office/officeart/2005/8/layout/hList2"/>
    <dgm:cxn modelId="{46C68735-CB22-442D-B023-5F7CF75D6F32}" type="presParOf" srcId="{57B68C22-587A-4922-985C-8079BFCF4C2A}" destId="{FE5C88B5-F48F-4698-8916-CA9ADF459CFA}" srcOrd="0" destOrd="0" presId="urn:microsoft.com/office/officeart/2005/8/layout/hList2"/>
    <dgm:cxn modelId="{EE5D98C5-A6AD-4ACA-8878-E484E942B9D5}" type="presParOf" srcId="{57B68C22-587A-4922-985C-8079BFCF4C2A}" destId="{B467A525-E9C0-468C-9197-FA6E899C559F}" srcOrd="1" destOrd="0" presId="urn:microsoft.com/office/officeart/2005/8/layout/hList2"/>
    <dgm:cxn modelId="{170DD7D8-575D-4E8A-A6F9-D61044B8BB16}" type="presParOf" srcId="{57B68C22-587A-4922-985C-8079BFCF4C2A}" destId="{32AB00F9-96C6-4536-B234-08321A96F533}" srcOrd="2" destOrd="0" presId="urn:microsoft.com/office/officeart/2005/8/layout/h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7DE7265-EA5C-43BE-BDFD-B4544245597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4389820-8DAB-46B2-AA6D-A313C99080E5}">
      <dgm:prSet phldrT="[Text]" phldr="0" custT="1"/>
      <dgm:spPr/>
      <dgm:t>
        <a:bodyPr/>
        <a:lstStyle/>
        <a:p>
          <a:r>
            <a:rPr lang="en-US" sz="1400" dirty="0"/>
            <a:t>Single Point Data</a:t>
          </a:r>
        </a:p>
      </dgm:t>
    </dgm:pt>
    <dgm:pt modelId="{3CDB4656-CFE3-48EA-9DA3-690990416386}" type="parTrans" cxnId="{7220DC10-0B5F-4410-93DB-71A21A0D8807}">
      <dgm:prSet/>
      <dgm:spPr/>
      <dgm:t>
        <a:bodyPr/>
        <a:lstStyle/>
        <a:p>
          <a:endParaRPr lang="en-US"/>
        </a:p>
      </dgm:t>
    </dgm:pt>
    <dgm:pt modelId="{6EEFB485-F667-421E-A4ED-A8AACEC35F65}" type="sibTrans" cxnId="{7220DC10-0B5F-4410-93DB-71A21A0D8807}">
      <dgm:prSet/>
      <dgm:spPr/>
      <dgm:t>
        <a:bodyPr/>
        <a:lstStyle/>
        <a:p>
          <a:endParaRPr lang="en-US"/>
        </a:p>
      </dgm:t>
    </dgm:pt>
    <dgm:pt modelId="{52CF74CE-04F6-4ED5-A2B0-71BC540E9068}">
      <dgm:prSet phldrT="[Text]" phldr="0" custT="1"/>
      <dgm:spPr/>
      <dgm:t>
        <a:bodyPr/>
        <a:lstStyle/>
        <a:p>
          <a:r>
            <a:rPr lang="en-US" sz="1400" dirty="0"/>
            <a:t>No Recurring System Access</a:t>
          </a:r>
        </a:p>
      </dgm:t>
    </dgm:pt>
    <dgm:pt modelId="{D4249B60-E74F-4496-A248-91E48B6032FF}" type="parTrans" cxnId="{F0F35B24-ADD7-4754-9FFE-94A9654BB103}">
      <dgm:prSet/>
      <dgm:spPr/>
      <dgm:t>
        <a:bodyPr/>
        <a:lstStyle/>
        <a:p>
          <a:endParaRPr lang="en-US"/>
        </a:p>
      </dgm:t>
    </dgm:pt>
    <dgm:pt modelId="{3FD4E619-F81E-474E-92F4-AD65346FB16C}" type="sibTrans" cxnId="{F0F35B24-ADD7-4754-9FFE-94A9654BB103}">
      <dgm:prSet/>
      <dgm:spPr/>
      <dgm:t>
        <a:bodyPr/>
        <a:lstStyle/>
        <a:p>
          <a:endParaRPr lang="en-US"/>
        </a:p>
      </dgm:t>
    </dgm:pt>
    <dgm:pt modelId="{63F5B617-1311-4138-A8DB-05A7845A1C6D}">
      <dgm:prSet phldrT="[Text]" phldr="0" custT="1"/>
      <dgm:spPr/>
      <dgm:t>
        <a:bodyPr/>
        <a:lstStyle/>
        <a:p>
          <a:r>
            <a:rPr lang="en-US" sz="1400" dirty="0"/>
            <a:t>Limited Behavioral System Access</a:t>
          </a:r>
        </a:p>
      </dgm:t>
    </dgm:pt>
    <dgm:pt modelId="{01F16FE8-077E-4B40-9F1A-B3F428B531D7}" type="parTrans" cxnId="{C069F3D0-D4DC-4C6B-AA89-6CC35A1BC454}">
      <dgm:prSet/>
      <dgm:spPr/>
      <dgm:t>
        <a:bodyPr/>
        <a:lstStyle/>
        <a:p>
          <a:endParaRPr lang="en-US"/>
        </a:p>
      </dgm:t>
    </dgm:pt>
    <dgm:pt modelId="{5DA9B5F0-D9D5-4612-97B4-33C7AC54382A}" type="sibTrans" cxnId="{C069F3D0-D4DC-4C6B-AA89-6CC35A1BC454}">
      <dgm:prSet/>
      <dgm:spPr/>
      <dgm:t>
        <a:bodyPr/>
        <a:lstStyle/>
        <a:p>
          <a:endParaRPr lang="en-US"/>
        </a:p>
      </dgm:t>
    </dgm:pt>
    <dgm:pt modelId="{E8E71FC6-25D3-4767-98F9-F39F4F70636C}">
      <dgm:prSet phldrT="[Text]" phldr="0" custT="1"/>
      <dgm:spPr/>
      <dgm:t>
        <a:bodyPr/>
        <a:lstStyle/>
        <a:p>
          <a:r>
            <a:rPr lang="en-US" sz="1400" dirty="0"/>
            <a:t>Incomplete </a:t>
          </a:r>
          <a:r>
            <a:rPr lang="en-US" sz="1400" dirty="0" err="1"/>
            <a:t>Profitabillity</a:t>
          </a:r>
          <a:r>
            <a:rPr lang="en-US" sz="1400" dirty="0"/>
            <a:t> Picture</a:t>
          </a:r>
        </a:p>
      </dgm:t>
    </dgm:pt>
    <dgm:pt modelId="{D56CD1F7-84B9-44B9-82B3-61BEB2695ED1}" type="parTrans" cxnId="{7EBDB630-E36B-48EA-B49F-0D55AAF93B92}">
      <dgm:prSet/>
      <dgm:spPr/>
      <dgm:t>
        <a:bodyPr/>
        <a:lstStyle/>
        <a:p>
          <a:endParaRPr lang="en-US"/>
        </a:p>
      </dgm:t>
    </dgm:pt>
    <dgm:pt modelId="{944019B2-1403-49C1-A5D0-1EA066E7D926}" type="sibTrans" cxnId="{7EBDB630-E36B-48EA-B49F-0D55AAF93B92}">
      <dgm:prSet/>
      <dgm:spPr/>
      <dgm:t>
        <a:bodyPr/>
        <a:lstStyle/>
        <a:p>
          <a:endParaRPr lang="en-US"/>
        </a:p>
      </dgm:t>
    </dgm:pt>
    <dgm:pt modelId="{B07DF472-5796-4144-8983-9A4C94875D4A}">
      <dgm:prSet phldrT="[Text]" phldr="0" custT="1"/>
      <dgm:spPr/>
      <dgm:t>
        <a:bodyPr/>
        <a:lstStyle/>
        <a:p>
          <a:r>
            <a:rPr lang="en-US" sz="1400" dirty="0"/>
            <a:t>Static Credit Indicators</a:t>
          </a:r>
        </a:p>
      </dgm:t>
    </dgm:pt>
    <dgm:pt modelId="{5ED8F295-F6DC-4C0E-BCEB-82885C8EAEE1}" type="parTrans" cxnId="{88C9E295-70FB-488F-89EF-D1D2D6689935}">
      <dgm:prSet/>
      <dgm:spPr/>
      <dgm:t>
        <a:bodyPr/>
        <a:lstStyle/>
        <a:p>
          <a:endParaRPr lang="en-US"/>
        </a:p>
      </dgm:t>
    </dgm:pt>
    <dgm:pt modelId="{4A9030AD-21E0-42D3-ACC9-73940B41A3B5}" type="sibTrans" cxnId="{88C9E295-70FB-488F-89EF-D1D2D6689935}">
      <dgm:prSet/>
      <dgm:spPr/>
      <dgm:t>
        <a:bodyPr/>
        <a:lstStyle/>
        <a:p>
          <a:endParaRPr lang="en-US"/>
        </a:p>
      </dgm:t>
    </dgm:pt>
    <dgm:pt modelId="{85259A1F-7BA8-4426-8612-7E95E7FC655B}">
      <dgm:prSet phldrT="[Text]" phldr="0" custT="1"/>
      <dgm:spPr/>
      <dgm:t>
        <a:bodyPr/>
        <a:lstStyle/>
        <a:p>
          <a:r>
            <a:rPr lang="en-US" sz="1400" dirty="0"/>
            <a:t>Concentration Exposure Boundaries</a:t>
          </a:r>
        </a:p>
      </dgm:t>
    </dgm:pt>
    <dgm:pt modelId="{C1158BA9-9785-4C81-AA59-F43202E50839}" type="parTrans" cxnId="{5696F9C1-8B78-43D6-9119-F7A26CA54FE3}">
      <dgm:prSet/>
      <dgm:spPr/>
      <dgm:t>
        <a:bodyPr/>
        <a:lstStyle/>
        <a:p>
          <a:endParaRPr lang="en-US"/>
        </a:p>
      </dgm:t>
    </dgm:pt>
    <dgm:pt modelId="{3F10F043-E65B-431B-AAF4-2EE447F100AC}" type="sibTrans" cxnId="{5696F9C1-8B78-43D6-9119-F7A26CA54FE3}">
      <dgm:prSet/>
      <dgm:spPr/>
      <dgm:t>
        <a:bodyPr/>
        <a:lstStyle/>
        <a:p>
          <a:endParaRPr lang="en-US"/>
        </a:p>
      </dgm:t>
    </dgm:pt>
    <dgm:pt modelId="{DA0F924B-FC06-4C86-8AD6-88A1CC2C4A68}">
      <dgm:prSet phldrT="[Text]" phldr="0"/>
      <dgm:spPr/>
      <dgm:t>
        <a:bodyPr/>
        <a:lstStyle/>
        <a:p>
          <a:r>
            <a:rPr lang="en-US" dirty="0"/>
            <a:t>Analysis reflects one point in time; no ability to observe trends or seasonality</a:t>
          </a:r>
        </a:p>
      </dgm:t>
    </dgm:pt>
    <dgm:pt modelId="{D4B1FFF5-BDCC-4173-BD51-5BBD4A65F7F7}" type="parTrans" cxnId="{E7C8319D-2B48-47FC-B999-A9F2ACF1DDDA}">
      <dgm:prSet/>
      <dgm:spPr/>
      <dgm:t>
        <a:bodyPr/>
        <a:lstStyle/>
        <a:p>
          <a:endParaRPr lang="en-US"/>
        </a:p>
      </dgm:t>
    </dgm:pt>
    <dgm:pt modelId="{5AFAD800-62CA-413B-A88A-FEE4E5024A50}" type="sibTrans" cxnId="{E7C8319D-2B48-47FC-B999-A9F2ACF1DDDA}">
      <dgm:prSet/>
      <dgm:spPr/>
      <dgm:t>
        <a:bodyPr/>
        <a:lstStyle/>
        <a:p>
          <a:endParaRPr lang="en-US"/>
        </a:p>
      </dgm:t>
    </dgm:pt>
    <dgm:pt modelId="{1DAFF9FF-046A-4991-9506-86E21C7CDCD8}">
      <dgm:prSet phldrT="[Text]" phldr="0"/>
      <dgm:spPr/>
      <dgm:t>
        <a:bodyPr/>
        <a:lstStyle/>
        <a:p>
          <a:r>
            <a:rPr lang="en-US" dirty="0"/>
            <a:t>Unable to validate changes, updates, or corrections made after data extraction</a:t>
          </a:r>
        </a:p>
      </dgm:t>
    </dgm:pt>
    <dgm:pt modelId="{008E4145-C080-47D0-9251-E4DDDAFFA71A}" type="parTrans" cxnId="{C14B8191-EAA3-48AD-BAAF-1085C97BC1AF}">
      <dgm:prSet/>
      <dgm:spPr/>
      <dgm:t>
        <a:bodyPr/>
        <a:lstStyle/>
        <a:p>
          <a:endParaRPr lang="en-US"/>
        </a:p>
      </dgm:t>
    </dgm:pt>
    <dgm:pt modelId="{7A51F84B-80D8-4D93-87B0-DC59D7E60607}" type="sibTrans" cxnId="{C14B8191-EAA3-48AD-BAAF-1085C97BC1AF}">
      <dgm:prSet/>
      <dgm:spPr/>
      <dgm:t>
        <a:bodyPr/>
        <a:lstStyle/>
        <a:p>
          <a:endParaRPr lang="en-US"/>
        </a:p>
      </dgm:t>
    </dgm:pt>
    <dgm:pt modelId="{A553BF99-BDED-41DB-9593-B7C02FE8CFEF}">
      <dgm:prSet phldrT="[Text]" phldr="0"/>
      <dgm:spPr/>
      <dgm:t>
        <a:bodyPr/>
        <a:lstStyle/>
        <a:p>
          <a:r>
            <a:rPr lang="en-US"/>
            <a:t>Cannot measure borrower activity patterns, deposit volatility, or payment consistency over time</a:t>
          </a:r>
          <a:endParaRPr lang="en-US" dirty="0"/>
        </a:p>
      </dgm:t>
    </dgm:pt>
    <dgm:pt modelId="{F6915D9E-9233-4B45-9C45-66D31CB6C081}" type="parTrans" cxnId="{26BAA21C-12B9-4B96-8465-75C1238F2E3B}">
      <dgm:prSet/>
      <dgm:spPr/>
      <dgm:t>
        <a:bodyPr/>
        <a:lstStyle/>
        <a:p>
          <a:endParaRPr lang="en-US"/>
        </a:p>
      </dgm:t>
    </dgm:pt>
    <dgm:pt modelId="{8A82C3BF-4721-4CF8-8245-92E5A9527FB0}" type="sibTrans" cxnId="{26BAA21C-12B9-4B96-8465-75C1238F2E3B}">
      <dgm:prSet/>
      <dgm:spPr/>
      <dgm:t>
        <a:bodyPr/>
        <a:lstStyle/>
        <a:p>
          <a:endParaRPr lang="en-US"/>
        </a:p>
      </dgm:t>
    </dgm:pt>
    <dgm:pt modelId="{63B8CA07-E1BD-4663-99F2-5A5E5C8FDEA8}">
      <dgm:prSet phldrT="[Text]" phldr="0"/>
      <dgm:spPr/>
      <dgm:t>
        <a:bodyPr/>
        <a:lstStyle/>
        <a:p>
          <a:r>
            <a:rPr lang="en-US"/>
            <a:t>Risk grades, collateral values, and exceptions cannot be trended or monitored for movement</a:t>
          </a:r>
          <a:endParaRPr lang="en-US" dirty="0"/>
        </a:p>
      </dgm:t>
    </dgm:pt>
    <dgm:pt modelId="{73D1CC17-21C3-4060-AF98-827FB5425D2D}" type="parTrans" cxnId="{43F09865-2F66-47E1-8A5F-0EF3ED833704}">
      <dgm:prSet/>
      <dgm:spPr/>
      <dgm:t>
        <a:bodyPr/>
        <a:lstStyle/>
        <a:p>
          <a:endParaRPr lang="en-US"/>
        </a:p>
      </dgm:t>
    </dgm:pt>
    <dgm:pt modelId="{AA8B1A63-B23A-4BAD-A54A-0B4D8A9BA48F}" type="sibTrans" cxnId="{43F09865-2F66-47E1-8A5F-0EF3ED833704}">
      <dgm:prSet/>
      <dgm:spPr/>
      <dgm:t>
        <a:bodyPr/>
        <a:lstStyle/>
        <a:p>
          <a:endParaRPr lang="en-US"/>
        </a:p>
      </dgm:t>
    </dgm:pt>
    <dgm:pt modelId="{13A8F5E0-083A-45AF-BEAC-7CE09FF29879}">
      <dgm:prSet phldrT="[Text]" phldr="0"/>
      <dgm:spPr/>
      <dgm:t>
        <a:bodyPr/>
        <a:lstStyle/>
        <a:p>
          <a:r>
            <a:rPr lang="en-US" dirty="0"/>
            <a:t>Fee income, treasury usage, and yield contribution cannot be evaluated longitudinally</a:t>
          </a:r>
        </a:p>
      </dgm:t>
    </dgm:pt>
    <dgm:pt modelId="{2553E3E2-B3FE-4E47-B563-B4BA704531F4}" type="parTrans" cxnId="{ED164465-696D-49CF-A17C-05F777F432AD}">
      <dgm:prSet/>
      <dgm:spPr/>
      <dgm:t>
        <a:bodyPr/>
        <a:lstStyle/>
        <a:p>
          <a:endParaRPr lang="en-US"/>
        </a:p>
      </dgm:t>
    </dgm:pt>
    <dgm:pt modelId="{6549E1F0-F23A-4BE0-B331-69823AFE95AB}" type="sibTrans" cxnId="{ED164465-696D-49CF-A17C-05F777F432AD}">
      <dgm:prSet/>
      <dgm:spPr/>
      <dgm:t>
        <a:bodyPr/>
        <a:lstStyle/>
        <a:p>
          <a:endParaRPr lang="en-US"/>
        </a:p>
      </dgm:t>
    </dgm:pt>
    <dgm:pt modelId="{6BC561A4-1176-45D5-AA67-ABE095BBA732}">
      <dgm:prSet phldrT="[Text]" phldr="0"/>
      <dgm:spPr/>
      <dgm:t>
        <a:bodyPr/>
        <a:lstStyle/>
        <a:p>
          <a:r>
            <a:rPr lang="en-US"/>
            <a:t>Snapshot limits the ability to assess emerging concentrations or shifts in portfolio mix</a:t>
          </a:r>
          <a:endParaRPr lang="en-US" dirty="0"/>
        </a:p>
      </dgm:t>
    </dgm:pt>
    <dgm:pt modelId="{207DDDC4-DD5E-429D-A518-F39EF68C4481}" type="parTrans" cxnId="{8F33570D-9E8A-4671-831E-A8EDEB5B8495}">
      <dgm:prSet/>
      <dgm:spPr/>
      <dgm:t>
        <a:bodyPr/>
        <a:lstStyle/>
        <a:p>
          <a:endParaRPr lang="en-US"/>
        </a:p>
      </dgm:t>
    </dgm:pt>
    <dgm:pt modelId="{D4F281D1-6768-4259-842A-211B55962D47}" type="sibTrans" cxnId="{8F33570D-9E8A-4671-831E-A8EDEB5B8495}">
      <dgm:prSet/>
      <dgm:spPr/>
      <dgm:t>
        <a:bodyPr/>
        <a:lstStyle/>
        <a:p>
          <a:endParaRPr lang="en-US"/>
        </a:p>
      </dgm:t>
    </dgm:pt>
    <dgm:pt modelId="{1F64E36D-7080-4B36-89D6-8034EEF15B13}" type="pres">
      <dgm:prSet presAssocID="{E7DE7265-EA5C-43BE-BDFD-B45442455971}" presName="linear" presStyleCnt="0">
        <dgm:presLayoutVars>
          <dgm:dir/>
          <dgm:animLvl val="lvl"/>
          <dgm:resizeHandles val="exact"/>
        </dgm:presLayoutVars>
      </dgm:prSet>
      <dgm:spPr/>
    </dgm:pt>
    <dgm:pt modelId="{98E4BDCE-25CD-4602-AC80-47170B6D297F}" type="pres">
      <dgm:prSet presAssocID="{C4389820-8DAB-46B2-AA6D-A313C99080E5}" presName="parentLin" presStyleCnt="0"/>
      <dgm:spPr/>
    </dgm:pt>
    <dgm:pt modelId="{29D2E06F-75E6-465F-AE2A-BBBE831FA1A8}" type="pres">
      <dgm:prSet presAssocID="{C4389820-8DAB-46B2-AA6D-A313C99080E5}" presName="parentLeftMargin" presStyleLbl="node1" presStyleIdx="0" presStyleCnt="6"/>
      <dgm:spPr/>
    </dgm:pt>
    <dgm:pt modelId="{DFFD6AE3-63F9-4A75-9A83-8CD64FEF6653}" type="pres">
      <dgm:prSet presAssocID="{C4389820-8DAB-46B2-AA6D-A313C99080E5}" presName="parentText" presStyleLbl="node1" presStyleIdx="0" presStyleCnt="6">
        <dgm:presLayoutVars>
          <dgm:chMax val="0"/>
          <dgm:bulletEnabled val="1"/>
        </dgm:presLayoutVars>
      </dgm:prSet>
      <dgm:spPr/>
    </dgm:pt>
    <dgm:pt modelId="{C41773D0-22A2-43BD-B675-161DDE2BD185}" type="pres">
      <dgm:prSet presAssocID="{C4389820-8DAB-46B2-AA6D-A313C99080E5}" presName="negativeSpace" presStyleCnt="0"/>
      <dgm:spPr/>
    </dgm:pt>
    <dgm:pt modelId="{4376D4D3-FD51-41A9-ACF2-5D45477214D4}" type="pres">
      <dgm:prSet presAssocID="{C4389820-8DAB-46B2-AA6D-A313C99080E5}" presName="childText" presStyleLbl="conFgAcc1" presStyleIdx="0" presStyleCnt="6">
        <dgm:presLayoutVars>
          <dgm:bulletEnabled val="1"/>
        </dgm:presLayoutVars>
      </dgm:prSet>
      <dgm:spPr/>
    </dgm:pt>
    <dgm:pt modelId="{20B06496-CCD0-4716-99C4-A8535B765485}" type="pres">
      <dgm:prSet presAssocID="{6EEFB485-F667-421E-A4ED-A8AACEC35F65}" presName="spaceBetweenRectangles" presStyleCnt="0"/>
      <dgm:spPr/>
    </dgm:pt>
    <dgm:pt modelId="{91F5D626-6196-44D3-B7A2-E4FB7D3F913A}" type="pres">
      <dgm:prSet presAssocID="{52CF74CE-04F6-4ED5-A2B0-71BC540E9068}" presName="parentLin" presStyleCnt="0"/>
      <dgm:spPr/>
    </dgm:pt>
    <dgm:pt modelId="{845DA8D2-2503-42A4-A39A-7E82E8ABE0BE}" type="pres">
      <dgm:prSet presAssocID="{52CF74CE-04F6-4ED5-A2B0-71BC540E9068}" presName="parentLeftMargin" presStyleLbl="node1" presStyleIdx="0" presStyleCnt="6"/>
      <dgm:spPr/>
    </dgm:pt>
    <dgm:pt modelId="{EC48E45D-40E5-4322-928D-34AE42A1FB29}" type="pres">
      <dgm:prSet presAssocID="{52CF74CE-04F6-4ED5-A2B0-71BC540E9068}" presName="parentText" presStyleLbl="node1" presStyleIdx="1" presStyleCnt="6">
        <dgm:presLayoutVars>
          <dgm:chMax val="0"/>
          <dgm:bulletEnabled val="1"/>
        </dgm:presLayoutVars>
      </dgm:prSet>
      <dgm:spPr/>
    </dgm:pt>
    <dgm:pt modelId="{E42B0B5A-0A9C-40AD-BB36-2E57A77F6616}" type="pres">
      <dgm:prSet presAssocID="{52CF74CE-04F6-4ED5-A2B0-71BC540E9068}" presName="negativeSpace" presStyleCnt="0"/>
      <dgm:spPr/>
    </dgm:pt>
    <dgm:pt modelId="{52AD7150-A92C-448C-8C59-ACF41DF4DBEF}" type="pres">
      <dgm:prSet presAssocID="{52CF74CE-04F6-4ED5-A2B0-71BC540E9068}" presName="childText" presStyleLbl="conFgAcc1" presStyleIdx="1" presStyleCnt="6">
        <dgm:presLayoutVars>
          <dgm:bulletEnabled val="1"/>
        </dgm:presLayoutVars>
      </dgm:prSet>
      <dgm:spPr/>
    </dgm:pt>
    <dgm:pt modelId="{A5D7412E-6095-48D4-ACF1-1F34D3C39C71}" type="pres">
      <dgm:prSet presAssocID="{3FD4E619-F81E-474E-92F4-AD65346FB16C}" presName="spaceBetweenRectangles" presStyleCnt="0"/>
      <dgm:spPr/>
    </dgm:pt>
    <dgm:pt modelId="{616C6383-1648-43D7-B9CE-228FDB6EC433}" type="pres">
      <dgm:prSet presAssocID="{63F5B617-1311-4138-A8DB-05A7845A1C6D}" presName="parentLin" presStyleCnt="0"/>
      <dgm:spPr/>
    </dgm:pt>
    <dgm:pt modelId="{3A5F911C-25E3-4070-B77C-8E51B0BEA101}" type="pres">
      <dgm:prSet presAssocID="{63F5B617-1311-4138-A8DB-05A7845A1C6D}" presName="parentLeftMargin" presStyleLbl="node1" presStyleIdx="1" presStyleCnt="6"/>
      <dgm:spPr/>
    </dgm:pt>
    <dgm:pt modelId="{540BBDBE-7E50-4476-B4EF-FADBB0B480DC}" type="pres">
      <dgm:prSet presAssocID="{63F5B617-1311-4138-A8DB-05A7845A1C6D}" presName="parentText" presStyleLbl="node1" presStyleIdx="2" presStyleCnt="6">
        <dgm:presLayoutVars>
          <dgm:chMax val="0"/>
          <dgm:bulletEnabled val="1"/>
        </dgm:presLayoutVars>
      </dgm:prSet>
      <dgm:spPr/>
    </dgm:pt>
    <dgm:pt modelId="{6CE46181-AA14-4958-9F20-17C06F362F88}" type="pres">
      <dgm:prSet presAssocID="{63F5B617-1311-4138-A8DB-05A7845A1C6D}" presName="negativeSpace" presStyleCnt="0"/>
      <dgm:spPr/>
    </dgm:pt>
    <dgm:pt modelId="{AD5BDF91-8551-41E1-97BD-40666B8269F7}" type="pres">
      <dgm:prSet presAssocID="{63F5B617-1311-4138-A8DB-05A7845A1C6D}" presName="childText" presStyleLbl="conFgAcc1" presStyleIdx="2" presStyleCnt="6">
        <dgm:presLayoutVars>
          <dgm:bulletEnabled val="1"/>
        </dgm:presLayoutVars>
      </dgm:prSet>
      <dgm:spPr/>
    </dgm:pt>
    <dgm:pt modelId="{5D7CFA33-AF58-4C59-AD4C-DBC2ECBF9C79}" type="pres">
      <dgm:prSet presAssocID="{5DA9B5F0-D9D5-4612-97B4-33C7AC54382A}" presName="spaceBetweenRectangles" presStyleCnt="0"/>
      <dgm:spPr/>
    </dgm:pt>
    <dgm:pt modelId="{AAC6470F-4CF2-414A-B6C5-5D25AB8121E2}" type="pres">
      <dgm:prSet presAssocID="{B07DF472-5796-4144-8983-9A4C94875D4A}" presName="parentLin" presStyleCnt="0"/>
      <dgm:spPr/>
    </dgm:pt>
    <dgm:pt modelId="{25F88D9A-A9D1-43D1-BC0D-2E8DB5A7E034}" type="pres">
      <dgm:prSet presAssocID="{B07DF472-5796-4144-8983-9A4C94875D4A}" presName="parentLeftMargin" presStyleLbl="node1" presStyleIdx="2" presStyleCnt="6"/>
      <dgm:spPr/>
    </dgm:pt>
    <dgm:pt modelId="{930B4F9A-C759-41AD-B2E6-2B460FC66676}" type="pres">
      <dgm:prSet presAssocID="{B07DF472-5796-4144-8983-9A4C94875D4A}" presName="parentText" presStyleLbl="node1" presStyleIdx="3" presStyleCnt="6">
        <dgm:presLayoutVars>
          <dgm:chMax val="0"/>
          <dgm:bulletEnabled val="1"/>
        </dgm:presLayoutVars>
      </dgm:prSet>
      <dgm:spPr/>
    </dgm:pt>
    <dgm:pt modelId="{DEA5564D-4E37-4867-BEBC-D9D344937424}" type="pres">
      <dgm:prSet presAssocID="{B07DF472-5796-4144-8983-9A4C94875D4A}" presName="negativeSpace" presStyleCnt="0"/>
      <dgm:spPr/>
    </dgm:pt>
    <dgm:pt modelId="{B6C418B4-489E-4A1C-9A4C-37860C0D3146}" type="pres">
      <dgm:prSet presAssocID="{B07DF472-5796-4144-8983-9A4C94875D4A}" presName="childText" presStyleLbl="conFgAcc1" presStyleIdx="3" presStyleCnt="6">
        <dgm:presLayoutVars>
          <dgm:bulletEnabled val="1"/>
        </dgm:presLayoutVars>
      </dgm:prSet>
      <dgm:spPr/>
    </dgm:pt>
    <dgm:pt modelId="{B05D12B1-8EB5-473F-A9C8-EBC326C20DEB}" type="pres">
      <dgm:prSet presAssocID="{4A9030AD-21E0-42D3-ACC9-73940B41A3B5}" presName="spaceBetweenRectangles" presStyleCnt="0"/>
      <dgm:spPr/>
    </dgm:pt>
    <dgm:pt modelId="{B59CB87E-F550-4DCC-A273-A928A2716ECA}" type="pres">
      <dgm:prSet presAssocID="{E8E71FC6-25D3-4767-98F9-F39F4F70636C}" presName="parentLin" presStyleCnt="0"/>
      <dgm:spPr/>
    </dgm:pt>
    <dgm:pt modelId="{3148E37A-F286-4631-B91A-0143E8EA367A}" type="pres">
      <dgm:prSet presAssocID="{E8E71FC6-25D3-4767-98F9-F39F4F70636C}" presName="parentLeftMargin" presStyleLbl="node1" presStyleIdx="3" presStyleCnt="6"/>
      <dgm:spPr/>
    </dgm:pt>
    <dgm:pt modelId="{652659EB-4AE8-4ACC-A5FB-9F8FD933F9D3}" type="pres">
      <dgm:prSet presAssocID="{E8E71FC6-25D3-4767-98F9-F39F4F70636C}" presName="parentText" presStyleLbl="node1" presStyleIdx="4" presStyleCnt="6">
        <dgm:presLayoutVars>
          <dgm:chMax val="0"/>
          <dgm:bulletEnabled val="1"/>
        </dgm:presLayoutVars>
      </dgm:prSet>
      <dgm:spPr/>
    </dgm:pt>
    <dgm:pt modelId="{2EFA2BFD-DBDD-486B-9F42-AD107B9EFF05}" type="pres">
      <dgm:prSet presAssocID="{E8E71FC6-25D3-4767-98F9-F39F4F70636C}" presName="negativeSpace" presStyleCnt="0"/>
      <dgm:spPr/>
    </dgm:pt>
    <dgm:pt modelId="{951C1DB1-76AE-4BC6-8AA2-1231256EF149}" type="pres">
      <dgm:prSet presAssocID="{E8E71FC6-25D3-4767-98F9-F39F4F70636C}" presName="childText" presStyleLbl="conFgAcc1" presStyleIdx="4" presStyleCnt="6">
        <dgm:presLayoutVars>
          <dgm:bulletEnabled val="1"/>
        </dgm:presLayoutVars>
      </dgm:prSet>
      <dgm:spPr/>
    </dgm:pt>
    <dgm:pt modelId="{81C713B4-FF00-4B52-8E20-F4D5168CB47F}" type="pres">
      <dgm:prSet presAssocID="{944019B2-1403-49C1-A5D0-1EA066E7D926}" presName="spaceBetweenRectangles" presStyleCnt="0"/>
      <dgm:spPr/>
    </dgm:pt>
    <dgm:pt modelId="{60235924-B18A-4FC4-9B48-442824D16E81}" type="pres">
      <dgm:prSet presAssocID="{85259A1F-7BA8-4426-8612-7E95E7FC655B}" presName="parentLin" presStyleCnt="0"/>
      <dgm:spPr/>
    </dgm:pt>
    <dgm:pt modelId="{5753927A-8D64-4DBD-88EE-4D927E9E521A}" type="pres">
      <dgm:prSet presAssocID="{85259A1F-7BA8-4426-8612-7E95E7FC655B}" presName="parentLeftMargin" presStyleLbl="node1" presStyleIdx="4" presStyleCnt="6"/>
      <dgm:spPr/>
    </dgm:pt>
    <dgm:pt modelId="{57BFD8FB-640B-47BB-ACDF-2D89C473007C}" type="pres">
      <dgm:prSet presAssocID="{85259A1F-7BA8-4426-8612-7E95E7FC655B}" presName="parentText" presStyleLbl="node1" presStyleIdx="5" presStyleCnt="6">
        <dgm:presLayoutVars>
          <dgm:chMax val="0"/>
          <dgm:bulletEnabled val="1"/>
        </dgm:presLayoutVars>
      </dgm:prSet>
      <dgm:spPr/>
    </dgm:pt>
    <dgm:pt modelId="{FE9DB51D-79BB-4540-8077-2BFBBC57BA91}" type="pres">
      <dgm:prSet presAssocID="{85259A1F-7BA8-4426-8612-7E95E7FC655B}" presName="negativeSpace" presStyleCnt="0"/>
      <dgm:spPr/>
    </dgm:pt>
    <dgm:pt modelId="{9A121D28-738D-44D9-9E68-A94258F7C32D}" type="pres">
      <dgm:prSet presAssocID="{85259A1F-7BA8-4426-8612-7E95E7FC655B}" presName="childText" presStyleLbl="conFgAcc1" presStyleIdx="5" presStyleCnt="6">
        <dgm:presLayoutVars>
          <dgm:bulletEnabled val="1"/>
        </dgm:presLayoutVars>
      </dgm:prSet>
      <dgm:spPr/>
    </dgm:pt>
  </dgm:ptLst>
  <dgm:cxnLst>
    <dgm:cxn modelId="{8F33570D-9E8A-4671-831E-A8EDEB5B8495}" srcId="{85259A1F-7BA8-4426-8612-7E95E7FC655B}" destId="{6BC561A4-1176-45D5-AA67-ABE095BBA732}" srcOrd="0" destOrd="0" parTransId="{207DDDC4-DD5E-429D-A518-F39EF68C4481}" sibTransId="{D4F281D1-6768-4259-842A-211B55962D47}"/>
    <dgm:cxn modelId="{7220DC10-0B5F-4410-93DB-71A21A0D8807}" srcId="{E7DE7265-EA5C-43BE-BDFD-B45442455971}" destId="{C4389820-8DAB-46B2-AA6D-A313C99080E5}" srcOrd="0" destOrd="0" parTransId="{3CDB4656-CFE3-48EA-9DA3-690990416386}" sibTransId="{6EEFB485-F667-421E-A4ED-A8AACEC35F65}"/>
    <dgm:cxn modelId="{3D6F3F12-9F15-4E39-BAF7-49EDE41DC9AD}" type="presOf" srcId="{B07DF472-5796-4144-8983-9A4C94875D4A}" destId="{930B4F9A-C759-41AD-B2E6-2B460FC66676}" srcOrd="1" destOrd="0" presId="urn:microsoft.com/office/officeart/2005/8/layout/list1"/>
    <dgm:cxn modelId="{26BAA21C-12B9-4B96-8465-75C1238F2E3B}" srcId="{63F5B617-1311-4138-A8DB-05A7845A1C6D}" destId="{A553BF99-BDED-41DB-9593-B7C02FE8CFEF}" srcOrd="0" destOrd="0" parTransId="{F6915D9E-9233-4B45-9C45-66D31CB6C081}" sibTransId="{8A82C3BF-4721-4CF8-8245-92E5A9527FB0}"/>
    <dgm:cxn modelId="{52535323-7D7C-40B6-81A1-653906E9B886}" type="presOf" srcId="{52CF74CE-04F6-4ED5-A2B0-71BC540E9068}" destId="{845DA8D2-2503-42A4-A39A-7E82E8ABE0BE}" srcOrd="0" destOrd="0" presId="urn:microsoft.com/office/officeart/2005/8/layout/list1"/>
    <dgm:cxn modelId="{F0F35B24-ADD7-4754-9FFE-94A9654BB103}" srcId="{E7DE7265-EA5C-43BE-BDFD-B45442455971}" destId="{52CF74CE-04F6-4ED5-A2B0-71BC540E9068}" srcOrd="1" destOrd="0" parTransId="{D4249B60-E74F-4496-A248-91E48B6032FF}" sibTransId="{3FD4E619-F81E-474E-92F4-AD65346FB16C}"/>
    <dgm:cxn modelId="{F873B727-81DE-414A-9330-48325A0F3A77}" type="presOf" srcId="{85259A1F-7BA8-4426-8612-7E95E7FC655B}" destId="{57BFD8FB-640B-47BB-ACDF-2D89C473007C}" srcOrd="1" destOrd="0" presId="urn:microsoft.com/office/officeart/2005/8/layout/list1"/>
    <dgm:cxn modelId="{3578012A-197F-4A81-B214-7A050DA0F3CE}" type="presOf" srcId="{B07DF472-5796-4144-8983-9A4C94875D4A}" destId="{25F88D9A-A9D1-43D1-BC0D-2E8DB5A7E034}" srcOrd="0" destOrd="0" presId="urn:microsoft.com/office/officeart/2005/8/layout/list1"/>
    <dgm:cxn modelId="{7EBDB630-E36B-48EA-B49F-0D55AAF93B92}" srcId="{E7DE7265-EA5C-43BE-BDFD-B45442455971}" destId="{E8E71FC6-25D3-4767-98F9-F39F4F70636C}" srcOrd="4" destOrd="0" parTransId="{D56CD1F7-84B9-44B9-82B3-61BEB2695ED1}" sibTransId="{944019B2-1403-49C1-A5D0-1EA066E7D926}"/>
    <dgm:cxn modelId="{4192EC3F-1583-458C-A4B7-B423451DE690}" type="presOf" srcId="{A553BF99-BDED-41DB-9593-B7C02FE8CFEF}" destId="{AD5BDF91-8551-41E1-97BD-40666B8269F7}" srcOrd="0" destOrd="0" presId="urn:microsoft.com/office/officeart/2005/8/layout/list1"/>
    <dgm:cxn modelId="{6A60F55B-B68F-41C3-9987-F6BD13F5C27B}" type="presOf" srcId="{63B8CA07-E1BD-4663-99F2-5A5E5C8FDEA8}" destId="{B6C418B4-489E-4A1C-9A4C-37860C0D3146}" srcOrd="0" destOrd="0" presId="urn:microsoft.com/office/officeart/2005/8/layout/list1"/>
    <dgm:cxn modelId="{FB9D365E-D266-4820-9B09-F90E45D4C951}" type="presOf" srcId="{1DAFF9FF-046A-4991-9506-86E21C7CDCD8}" destId="{52AD7150-A92C-448C-8C59-ACF41DF4DBEF}" srcOrd="0" destOrd="0" presId="urn:microsoft.com/office/officeart/2005/8/layout/list1"/>
    <dgm:cxn modelId="{ED164465-696D-49CF-A17C-05F777F432AD}" srcId="{E8E71FC6-25D3-4767-98F9-F39F4F70636C}" destId="{13A8F5E0-083A-45AF-BEAC-7CE09FF29879}" srcOrd="0" destOrd="0" parTransId="{2553E3E2-B3FE-4E47-B563-B4BA704531F4}" sibTransId="{6549E1F0-F23A-4BE0-B331-69823AFE95AB}"/>
    <dgm:cxn modelId="{43F09865-2F66-47E1-8A5F-0EF3ED833704}" srcId="{B07DF472-5796-4144-8983-9A4C94875D4A}" destId="{63B8CA07-E1BD-4663-99F2-5A5E5C8FDEA8}" srcOrd="0" destOrd="0" parTransId="{73D1CC17-21C3-4060-AF98-827FB5425D2D}" sibTransId="{AA8B1A63-B23A-4BAD-A54A-0B4D8A9BA48F}"/>
    <dgm:cxn modelId="{56484D48-C98B-4711-98F7-7B52F8C8F9E4}" type="presOf" srcId="{E7DE7265-EA5C-43BE-BDFD-B45442455971}" destId="{1F64E36D-7080-4B36-89D6-8034EEF15B13}" srcOrd="0" destOrd="0" presId="urn:microsoft.com/office/officeart/2005/8/layout/list1"/>
    <dgm:cxn modelId="{10662A77-391E-48FC-8BF0-7211885855F1}" type="presOf" srcId="{13A8F5E0-083A-45AF-BEAC-7CE09FF29879}" destId="{951C1DB1-76AE-4BC6-8AA2-1231256EF149}" srcOrd="0" destOrd="0" presId="urn:microsoft.com/office/officeart/2005/8/layout/list1"/>
    <dgm:cxn modelId="{2F42955A-1980-4F90-9297-1FD1B3F7C5F1}" type="presOf" srcId="{85259A1F-7BA8-4426-8612-7E95E7FC655B}" destId="{5753927A-8D64-4DBD-88EE-4D927E9E521A}" srcOrd="0" destOrd="0" presId="urn:microsoft.com/office/officeart/2005/8/layout/list1"/>
    <dgm:cxn modelId="{23CF167B-D0EB-41A6-89B6-F0E8ACA9EB5A}" type="presOf" srcId="{63F5B617-1311-4138-A8DB-05A7845A1C6D}" destId="{540BBDBE-7E50-4476-B4EF-FADBB0B480DC}" srcOrd="1" destOrd="0" presId="urn:microsoft.com/office/officeart/2005/8/layout/list1"/>
    <dgm:cxn modelId="{3754277F-62AF-4F5A-99FB-625706CEAF45}" type="presOf" srcId="{C4389820-8DAB-46B2-AA6D-A313C99080E5}" destId="{29D2E06F-75E6-465F-AE2A-BBBE831FA1A8}" srcOrd="0" destOrd="0" presId="urn:microsoft.com/office/officeart/2005/8/layout/list1"/>
    <dgm:cxn modelId="{C14B8191-EAA3-48AD-BAAF-1085C97BC1AF}" srcId="{52CF74CE-04F6-4ED5-A2B0-71BC540E9068}" destId="{1DAFF9FF-046A-4991-9506-86E21C7CDCD8}" srcOrd="0" destOrd="0" parTransId="{008E4145-C080-47D0-9251-E4DDDAFFA71A}" sibTransId="{7A51F84B-80D8-4D93-87B0-DC59D7E60607}"/>
    <dgm:cxn modelId="{88C9E295-70FB-488F-89EF-D1D2D6689935}" srcId="{E7DE7265-EA5C-43BE-BDFD-B45442455971}" destId="{B07DF472-5796-4144-8983-9A4C94875D4A}" srcOrd="3" destOrd="0" parTransId="{5ED8F295-F6DC-4C0E-BCEB-82885C8EAEE1}" sibTransId="{4A9030AD-21E0-42D3-ACC9-73940B41A3B5}"/>
    <dgm:cxn modelId="{E7C8319D-2B48-47FC-B999-A9F2ACF1DDDA}" srcId="{C4389820-8DAB-46B2-AA6D-A313C99080E5}" destId="{DA0F924B-FC06-4C86-8AD6-88A1CC2C4A68}" srcOrd="0" destOrd="0" parTransId="{D4B1FFF5-BDCC-4173-BD51-5BBD4A65F7F7}" sibTransId="{5AFAD800-62CA-413B-A88A-FEE4E5024A50}"/>
    <dgm:cxn modelId="{DEBCA9A2-A396-43BA-BD61-924ACD6AA6D1}" type="presOf" srcId="{52CF74CE-04F6-4ED5-A2B0-71BC540E9068}" destId="{EC48E45D-40E5-4322-928D-34AE42A1FB29}" srcOrd="1" destOrd="0" presId="urn:microsoft.com/office/officeart/2005/8/layout/list1"/>
    <dgm:cxn modelId="{FAA8A0A3-5F95-47DC-BC64-98BF2804B6D8}" type="presOf" srcId="{C4389820-8DAB-46B2-AA6D-A313C99080E5}" destId="{DFFD6AE3-63F9-4A75-9A83-8CD64FEF6653}" srcOrd="1" destOrd="0" presId="urn:microsoft.com/office/officeart/2005/8/layout/list1"/>
    <dgm:cxn modelId="{A06415A7-0943-402D-8B80-D58EEED8F8F3}" type="presOf" srcId="{E8E71FC6-25D3-4767-98F9-F39F4F70636C}" destId="{3148E37A-F286-4631-B91A-0143E8EA367A}" srcOrd="0" destOrd="0" presId="urn:microsoft.com/office/officeart/2005/8/layout/list1"/>
    <dgm:cxn modelId="{8C6EE3AF-5878-4A9D-AA39-136AE7B82195}" type="presOf" srcId="{63F5B617-1311-4138-A8DB-05A7845A1C6D}" destId="{3A5F911C-25E3-4070-B77C-8E51B0BEA101}" srcOrd="0" destOrd="0" presId="urn:microsoft.com/office/officeart/2005/8/layout/list1"/>
    <dgm:cxn modelId="{5696F9C1-8B78-43D6-9119-F7A26CA54FE3}" srcId="{E7DE7265-EA5C-43BE-BDFD-B45442455971}" destId="{85259A1F-7BA8-4426-8612-7E95E7FC655B}" srcOrd="5" destOrd="0" parTransId="{C1158BA9-9785-4C81-AA59-F43202E50839}" sibTransId="{3F10F043-E65B-431B-AAF4-2EE447F100AC}"/>
    <dgm:cxn modelId="{E2E498C8-518E-4D44-85A8-3F34316CCB23}" type="presOf" srcId="{DA0F924B-FC06-4C86-8AD6-88A1CC2C4A68}" destId="{4376D4D3-FD51-41A9-ACF2-5D45477214D4}" srcOrd="0" destOrd="0" presId="urn:microsoft.com/office/officeart/2005/8/layout/list1"/>
    <dgm:cxn modelId="{C069F3D0-D4DC-4C6B-AA89-6CC35A1BC454}" srcId="{E7DE7265-EA5C-43BE-BDFD-B45442455971}" destId="{63F5B617-1311-4138-A8DB-05A7845A1C6D}" srcOrd="2" destOrd="0" parTransId="{01F16FE8-077E-4B40-9F1A-B3F428B531D7}" sibTransId="{5DA9B5F0-D9D5-4612-97B4-33C7AC54382A}"/>
    <dgm:cxn modelId="{5DC8E0D8-D854-404E-AEB2-5A37DCF07E50}" type="presOf" srcId="{6BC561A4-1176-45D5-AA67-ABE095BBA732}" destId="{9A121D28-738D-44D9-9E68-A94258F7C32D}" srcOrd="0" destOrd="0" presId="urn:microsoft.com/office/officeart/2005/8/layout/list1"/>
    <dgm:cxn modelId="{29BDDDEB-7CC9-4704-A3D6-93AA21ED8D6A}" type="presOf" srcId="{E8E71FC6-25D3-4767-98F9-F39F4F70636C}" destId="{652659EB-4AE8-4ACC-A5FB-9F8FD933F9D3}" srcOrd="1" destOrd="0" presId="urn:microsoft.com/office/officeart/2005/8/layout/list1"/>
    <dgm:cxn modelId="{7CC84609-E810-4FFC-883B-6AFC10472462}" type="presParOf" srcId="{1F64E36D-7080-4B36-89D6-8034EEF15B13}" destId="{98E4BDCE-25CD-4602-AC80-47170B6D297F}" srcOrd="0" destOrd="0" presId="urn:microsoft.com/office/officeart/2005/8/layout/list1"/>
    <dgm:cxn modelId="{A8C555D3-7DF9-4B20-9225-9DE261737EC0}" type="presParOf" srcId="{98E4BDCE-25CD-4602-AC80-47170B6D297F}" destId="{29D2E06F-75E6-465F-AE2A-BBBE831FA1A8}" srcOrd="0" destOrd="0" presId="urn:microsoft.com/office/officeart/2005/8/layout/list1"/>
    <dgm:cxn modelId="{488CE4CC-493E-4BA6-AF05-E4948C96B2D7}" type="presParOf" srcId="{98E4BDCE-25CD-4602-AC80-47170B6D297F}" destId="{DFFD6AE3-63F9-4A75-9A83-8CD64FEF6653}" srcOrd="1" destOrd="0" presId="urn:microsoft.com/office/officeart/2005/8/layout/list1"/>
    <dgm:cxn modelId="{E26B66D7-6A5C-4F86-ACFC-239BD176B7F8}" type="presParOf" srcId="{1F64E36D-7080-4B36-89D6-8034EEF15B13}" destId="{C41773D0-22A2-43BD-B675-161DDE2BD185}" srcOrd="1" destOrd="0" presId="urn:microsoft.com/office/officeart/2005/8/layout/list1"/>
    <dgm:cxn modelId="{D0530D7D-E0AC-47E5-8D83-1B791A23F14E}" type="presParOf" srcId="{1F64E36D-7080-4B36-89D6-8034EEF15B13}" destId="{4376D4D3-FD51-41A9-ACF2-5D45477214D4}" srcOrd="2" destOrd="0" presId="urn:microsoft.com/office/officeart/2005/8/layout/list1"/>
    <dgm:cxn modelId="{56BB3B15-6B05-440A-B3E1-BB546AA84B3E}" type="presParOf" srcId="{1F64E36D-7080-4B36-89D6-8034EEF15B13}" destId="{20B06496-CCD0-4716-99C4-A8535B765485}" srcOrd="3" destOrd="0" presId="urn:microsoft.com/office/officeart/2005/8/layout/list1"/>
    <dgm:cxn modelId="{25D2EB18-6502-45F7-8368-425863FCE326}" type="presParOf" srcId="{1F64E36D-7080-4B36-89D6-8034EEF15B13}" destId="{91F5D626-6196-44D3-B7A2-E4FB7D3F913A}" srcOrd="4" destOrd="0" presId="urn:microsoft.com/office/officeart/2005/8/layout/list1"/>
    <dgm:cxn modelId="{48AEFFE1-7787-4B6B-B7E6-3BF12D98D94C}" type="presParOf" srcId="{91F5D626-6196-44D3-B7A2-E4FB7D3F913A}" destId="{845DA8D2-2503-42A4-A39A-7E82E8ABE0BE}" srcOrd="0" destOrd="0" presId="urn:microsoft.com/office/officeart/2005/8/layout/list1"/>
    <dgm:cxn modelId="{DDC50B22-DE96-4E15-B736-800BB2E9C3A4}" type="presParOf" srcId="{91F5D626-6196-44D3-B7A2-E4FB7D3F913A}" destId="{EC48E45D-40E5-4322-928D-34AE42A1FB29}" srcOrd="1" destOrd="0" presId="urn:microsoft.com/office/officeart/2005/8/layout/list1"/>
    <dgm:cxn modelId="{40658FBB-F102-4DE5-80A0-368CCF0AA1A0}" type="presParOf" srcId="{1F64E36D-7080-4B36-89D6-8034EEF15B13}" destId="{E42B0B5A-0A9C-40AD-BB36-2E57A77F6616}" srcOrd="5" destOrd="0" presId="urn:microsoft.com/office/officeart/2005/8/layout/list1"/>
    <dgm:cxn modelId="{98172E7D-3F34-45A9-988D-EF063A5E2D69}" type="presParOf" srcId="{1F64E36D-7080-4B36-89D6-8034EEF15B13}" destId="{52AD7150-A92C-448C-8C59-ACF41DF4DBEF}" srcOrd="6" destOrd="0" presId="urn:microsoft.com/office/officeart/2005/8/layout/list1"/>
    <dgm:cxn modelId="{2C2B8C8E-126F-48A9-8DD0-3FAAA5B037D0}" type="presParOf" srcId="{1F64E36D-7080-4B36-89D6-8034EEF15B13}" destId="{A5D7412E-6095-48D4-ACF1-1F34D3C39C71}" srcOrd="7" destOrd="0" presId="urn:microsoft.com/office/officeart/2005/8/layout/list1"/>
    <dgm:cxn modelId="{12DFD656-7BB3-422D-9168-66629B17B8C7}" type="presParOf" srcId="{1F64E36D-7080-4B36-89D6-8034EEF15B13}" destId="{616C6383-1648-43D7-B9CE-228FDB6EC433}" srcOrd="8" destOrd="0" presId="urn:microsoft.com/office/officeart/2005/8/layout/list1"/>
    <dgm:cxn modelId="{891B81BA-27E7-45C3-8872-375FFBF3F263}" type="presParOf" srcId="{616C6383-1648-43D7-B9CE-228FDB6EC433}" destId="{3A5F911C-25E3-4070-B77C-8E51B0BEA101}" srcOrd="0" destOrd="0" presId="urn:microsoft.com/office/officeart/2005/8/layout/list1"/>
    <dgm:cxn modelId="{B94D14FB-86E8-4CC9-BB29-124D7DCB9ABF}" type="presParOf" srcId="{616C6383-1648-43D7-B9CE-228FDB6EC433}" destId="{540BBDBE-7E50-4476-B4EF-FADBB0B480DC}" srcOrd="1" destOrd="0" presId="urn:microsoft.com/office/officeart/2005/8/layout/list1"/>
    <dgm:cxn modelId="{E6F91352-0CBA-4BCA-BFF7-ECD40A9A9151}" type="presParOf" srcId="{1F64E36D-7080-4B36-89D6-8034EEF15B13}" destId="{6CE46181-AA14-4958-9F20-17C06F362F88}" srcOrd="9" destOrd="0" presId="urn:microsoft.com/office/officeart/2005/8/layout/list1"/>
    <dgm:cxn modelId="{A44B7679-D45C-4F01-AECC-971BFCB47399}" type="presParOf" srcId="{1F64E36D-7080-4B36-89D6-8034EEF15B13}" destId="{AD5BDF91-8551-41E1-97BD-40666B8269F7}" srcOrd="10" destOrd="0" presId="urn:microsoft.com/office/officeart/2005/8/layout/list1"/>
    <dgm:cxn modelId="{824CE555-54D9-4A65-B17E-A7061FBA2FED}" type="presParOf" srcId="{1F64E36D-7080-4B36-89D6-8034EEF15B13}" destId="{5D7CFA33-AF58-4C59-AD4C-DBC2ECBF9C79}" srcOrd="11" destOrd="0" presId="urn:microsoft.com/office/officeart/2005/8/layout/list1"/>
    <dgm:cxn modelId="{55692155-793D-41D3-9B4C-7BBE392DC327}" type="presParOf" srcId="{1F64E36D-7080-4B36-89D6-8034EEF15B13}" destId="{AAC6470F-4CF2-414A-B6C5-5D25AB8121E2}" srcOrd="12" destOrd="0" presId="urn:microsoft.com/office/officeart/2005/8/layout/list1"/>
    <dgm:cxn modelId="{2909774C-FDDE-4132-B484-465C3B3BD25F}" type="presParOf" srcId="{AAC6470F-4CF2-414A-B6C5-5D25AB8121E2}" destId="{25F88D9A-A9D1-43D1-BC0D-2E8DB5A7E034}" srcOrd="0" destOrd="0" presId="urn:microsoft.com/office/officeart/2005/8/layout/list1"/>
    <dgm:cxn modelId="{669CC5EC-7CD6-489A-B099-FF2663002C97}" type="presParOf" srcId="{AAC6470F-4CF2-414A-B6C5-5D25AB8121E2}" destId="{930B4F9A-C759-41AD-B2E6-2B460FC66676}" srcOrd="1" destOrd="0" presId="urn:microsoft.com/office/officeart/2005/8/layout/list1"/>
    <dgm:cxn modelId="{A9A00C69-93B4-4F61-AADB-B393003B8CCB}" type="presParOf" srcId="{1F64E36D-7080-4B36-89D6-8034EEF15B13}" destId="{DEA5564D-4E37-4867-BEBC-D9D344937424}" srcOrd="13" destOrd="0" presId="urn:microsoft.com/office/officeart/2005/8/layout/list1"/>
    <dgm:cxn modelId="{5786519E-B083-47DB-9D40-DE39A32A549B}" type="presParOf" srcId="{1F64E36D-7080-4B36-89D6-8034EEF15B13}" destId="{B6C418B4-489E-4A1C-9A4C-37860C0D3146}" srcOrd="14" destOrd="0" presId="urn:microsoft.com/office/officeart/2005/8/layout/list1"/>
    <dgm:cxn modelId="{8CB4215A-4EE6-4978-8E8D-C3035FB97621}" type="presParOf" srcId="{1F64E36D-7080-4B36-89D6-8034EEF15B13}" destId="{B05D12B1-8EB5-473F-A9C8-EBC326C20DEB}" srcOrd="15" destOrd="0" presId="urn:microsoft.com/office/officeart/2005/8/layout/list1"/>
    <dgm:cxn modelId="{163C2F3C-E3BC-4BD9-9A36-449CA1832152}" type="presParOf" srcId="{1F64E36D-7080-4B36-89D6-8034EEF15B13}" destId="{B59CB87E-F550-4DCC-A273-A928A2716ECA}" srcOrd="16" destOrd="0" presId="urn:microsoft.com/office/officeart/2005/8/layout/list1"/>
    <dgm:cxn modelId="{A321B918-D9D7-4131-A81F-1E5E6CB8F9CE}" type="presParOf" srcId="{B59CB87E-F550-4DCC-A273-A928A2716ECA}" destId="{3148E37A-F286-4631-B91A-0143E8EA367A}" srcOrd="0" destOrd="0" presId="urn:microsoft.com/office/officeart/2005/8/layout/list1"/>
    <dgm:cxn modelId="{91D70322-C906-4109-8119-DD660F1BEF27}" type="presParOf" srcId="{B59CB87E-F550-4DCC-A273-A928A2716ECA}" destId="{652659EB-4AE8-4ACC-A5FB-9F8FD933F9D3}" srcOrd="1" destOrd="0" presId="urn:microsoft.com/office/officeart/2005/8/layout/list1"/>
    <dgm:cxn modelId="{B7D49346-0169-4168-99BC-65E5225F2F23}" type="presParOf" srcId="{1F64E36D-7080-4B36-89D6-8034EEF15B13}" destId="{2EFA2BFD-DBDD-486B-9F42-AD107B9EFF05}" srcOrd="17" destOrd="0" presId="urn:microsoft.com/office/officeart/2005/8/layout/list1"/>
    <dgm:cxn modelId="{C09B04BF-6193-448A-8FA3-D320F6DA43C6}" type="presParOf" srcId="{1F64E36D-7080-4B36-89D6-8034EEF15B13}" destId="{951C1DB1-76AE-4BC6-8AA2-1231256EF149}" srcOrd="18" destOrd="0" presId="urn:microsoft.com/office/officeart/2005/8/layout/list1"/>
    <dgm:cxn modelId="{F4AAD6FC-2B8E-4701-97F7-B3BABCB1E6FB}" type="presParOf" srcId="{1F64E36D-7080-4B36-89D6-8034EEF15B13}" destId="{81C713B4-FF00-4B52-8E20-F4D5168CB47F}" srcOrd="19" destOrd="0" presId="urn:microsoft.com/office/officeart/2005/8/layout/list1"/>
    <dgm:cxn modelId="{D0523E76-410D-4FF9-90B7-5AE52610B0E5}" type="presParOf" srcId="{1F64E36D-7080-4B36-89D6-8034EEF15B13}" destId="{60235924-B18A-4FC4-9B48-442824D16E81}" srcOrd="20" destOrd="0" presId="urn:microsoft.com/office/officeart/2005/8/layout/list1"/>
    <dgm:cxn modelId="{517C8312-EB5D-46C1-AE79-BEC129AFAF03}" type="presParOf" srcId="{60235924-B18A-4FC4-9B48-442824D16E81}" destId="{5753927A-8D64-4DBD-88EE-4D927E9E521A}" srcOrd="0" destOrd="0" presId="urn:microsoft.com/office/officeart/2005/8/layout/list1"/>
    <dgm:cxn modelId="{10520EFE-62EA-4AFE-8D88-3F125EFDED4C}" type="presParOf" srcId="{60235924-B18A-4FC4-9B48-442824D16E81}" destId="{57BFD8FB-640B-47BB-ACDF-2D89C473007C}" srcOrd="1" destOrd="0" presId="urn:microsoft.com/office/officeart/2005/8/layout/list1"/>
    <dgm:cxn modelId="{53B716BB-9004-4D61-877C-017D677FC3D6}" type="presParOf" srcId="{1F64E36D-7080-4B36-89D6-8034EEF15B13}" destId="{FE9DB51D-79BB-4540-8077-2BFBBC57BA91}" srcOrd="21" destOrd="0" presId="urn:microsoft.com/office/officeart/2005/8/layout/list1"/>
    <dgm:cxn modelId="{BF54BC8D-F01D-4D17-AF43-B02132A998B5}" type="presParOf" srcId="{1F64E36D-7080-4B36-89D6-8034EEF15B13}" destId="{9A121D28-738D-44D9-9E68-A94258F7C32D}"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95948E-74DB-4ED6-AD1C-08E7EA6B22A7}">
      <dsp:nvSpPr>
        <dsp:cNvPr id="0" name=""/>
        <dsp:cNvSpPr/>
      </dsp:nvSpPr>
      <dsp:spPr>
        <a:xfrm>
          <a:off x="0" y="238860"/>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Loan concentrations aligned with risk appetite and </a:t>
          </a:r>
          <a:r>
            <a:rPr lang="en-US" sz="1200" kern="1200"/>
            <a:t>regulatory expectations</a:t>
          </a:r>
          <a:endParaRPr lang="en-US" sz="1200" kern="1200" dirty="0"/>
        </a:p>
      </dsp:txBody>
      <dsp:txXfrm>
        <a:off x="0" y="238860"/>
        <a:ext cx="10058399" cy="510300"/>
      </dsp:txXfrm>
    </dsp:sp>
    <dsp:sp modelId="{74265AF1-9E48-43EE-A09E-FD17C408D204}">
      <dsp:nvSpPr>
        <dsp:cNvPr id="0" name=""/>
        <dsp:cNvSpPr/>
      </dsp:nvSpPr>
      <dsp:spPr>
        <a:xfrm>
          <a:off x="502920" y="61740"/>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Balanced Credit Exposure</a:t>
          </a:r>
        </a:p>
      </dsp:txBody>
      <dsp:txXfrm>
        <a:off x="520213" y="79033"/>
        <a:ext cx="7006294" cy="319654"/>
      </dsp:txXfrm>
    </dsp:sp>
    <dsp:sp modelId="{596A5AAF-0C7F-47D0-8381-8E6D2B01F468}">
      <dsp:nvSpPr>
        <dsp:cNvPr id="0" name=""/>
        <dsp:cNvSpPr/>
      </dsp:nvSpPr>
      <dsp:spPr>
        <a:xfrm>
          <a:off x="0" y="991080"/>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No outsized exposure to a single borrower, industry, or </a:t>
          </a:r>
          <a:r>
            <a:rPr lang="en-US" sz="1200" kern="1200"/>
            <a:t>collateral type</a:t>
          </a:r>
          <a:endParaRPr lang="en-US" sz="1200" kern="1200" dirty="0"/>
        </a:p>
      </dsp:txBody>
      <dsp:txXfrm>
        <a:off x="0" y="991080"/>
        <a:ext cx="10058399" cy="510300"/>
      </dsp:txXfrm>
    </dsp:sp>
    <dsp:sp modelId="{9CA20F5F-6BCB-471D-ABC8-0FA013279DA0}">
      <dsp:nvSpPr>
        <dsp:cNvPr id="0" name=""/>
        <dsp:cNvSpPr/>
      </dsp:nvSpPr>
      <dsp:spPr>
        <a:xfrm>
          <a:off x="502920" y="813960"/>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Diversified Portfolio Mix </a:t>
          </a:r>
        </a:p>
      </dsp:txBody>
      <dsp:txXfrm>
        <a:off x="520213" y="831253"/>
        <a:ext cx="7006294" cy="319654"/>
      </dsp:txXfrm>
    </dsp:sp>
    <dsp:sp modelId="{64892DA6-2188-455C-84C9-2FAB3A62FAE7}">
      <dsp:nvSpPr>
        <dsp:cNvPr id="0" name=""/>
        <dsp:cNvSpPr/>
      </dsp:nvSpPr>
      <dsp:spPr>
        <a:xfrm>
          <a:off x="0" y="1743300"/>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Stable risk grades, low delinquency, minimal expectations</a:t>
          </a:r>
        </a:p>
      </dsp:txBody>
      <dsp:txXfrm>
        <a:off x="0" y="1743300"/>
        <a:ext cx="10058399" cy="510300"/>
      </dsp:txXfrm>
    </dsp:sp>
    <dsp:sp modelId="{A8A1D8CD-814F-4BEC-8728-009C47DE21AA}">
      <dsp:nvSpPr>
        <dsp:cNvPr id="0" name=""/>
        <dsp:cNvSpPr/>
      </dsp:nvSpPr>
      <dsp:spPr>
        <a:xfrm>
          <a:off x="502920" y="1566180"/>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Consistent Credit Quality</a:t>
          </a:r>
        </a:p>
      </dsp:txBody>
      <dsp:txXfrm>
        <a:off x="520213" y="1583473"/>
        <a:ext cx="7006294" cy="319654"/>
      </dsp:txXfrm>
    </dsp:sp>
    <dsp:sp modelId="{49E4D3CD-EE36-439A-927D-47FDD436767F}">
      <dsp:nvSpPr>
        <dsp:cNvPr id="0" name=""/>
        <dsp:cNvSpPr/>
      </dsp:nvSpPr>
      <dsp:spPr>
        <a:xfrm>
          <a:off x="0" y="2495519"/>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Stable, low – volatility funding supporting </a:t>
          </a:r>
          <a:r>
            <a:rPr lang="en-US" sz="1200" kern="1200"/>
            <a:t>loan growth</a:t>
          </a:r>
          <a:endParaRPr lang="en-US" sz="1200" kern="1200" dirty="0"/>
        </a:p>
      </dsp:txBody>
      <dsp:txXfrm>
        <a:off x="0" y="2495519"/>
        <a:ext cx="10058399" cy="510300"/>
      </dsp:txXfrm>
    </dsp:sp>
    <dsp:sp modelId="{B9B02FE8-1890-49CF-84F5-CD45189FB319}">
      <dsp:nvSpPr>
        <dsp:cNvPr id="0" name=""/>
        <dsp:cNvSpPr/>
      </dsp:nvSpPr>
      <dsp:spPr>
        <a:xfrm>
          <a:off x="502920" y="2318400"/>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Strong Core Deposit Base</a:t>
          </a:r>
        </a:p>
      </dsp:txBody>
      <dsp:txXfrm>
        <a:off x="520213" y="2335693"/>
        <a:ext cx="7006294" cy="319654"/>
      </dsp:txXfrm>
    </dsp:sp>
    <dsp:sp modelId="{113A4BA3-D4EF-4678-B911-ECA872D67FCC}">
      <dsp:nvSpPr>
        <dsp:cNvPr id="0" name=""/>
        <dsp:cNvSpPr/>
      </dsp:nvSpPr>
      <dsp:spPr>
        <a:xfrm>
          <a:off x="0" y="3247740"/>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Returns that justify capital, servicing, </a:t>
          </a:r>
          <a:r>
            <a:rPr lang="en-US" sz="1200" kern="1200"/>
            <a:t>and risk</a:t>
          </a:r>
          <a:endParaRPr lang="en-US" sz="1200" kern="1200" dirty="0"/>
        </a:p>
      </dsp:txBody>
      <dsp:txXfrm>
        <a:off x="0" y="3247740"/>
        <a:ext cx="10058399" cy="510300"/>
      </dsp:txXfrm>
    </dsp:sp>
    <dsp:sp modelId="{21D3D652-6707-4519-A9CB-3ACB70B22801}">
      <dsp:nvSpPr>
        <dsp:cNvPr id="0" name=""/>
        <dsp:cNvSpPr/>
      </dsp:nvSpPr>
      <dsp:spPr>
        <a:xfrm>
          <a:off x="502920" y="3070619"/>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Sustainable Relationship Profitability</a:t>
          </a:r>
        </a:p>
      </dsp:txBody>
      <dsp:txXfrm>
        <a:off x="520213" y="3087912"/>
        <a:ext cx="7006294" cy="319654"/>
      </dsp:txXfrm>
    </dsp:sp>
    <dsp:sp modelId="{F40B6CFE-EFB2-4320-A989-AEDAA15B6710}">
      <dsp:nvSpPr>
        <dsp:cNvPr id="0" name=""/>
        <dsp:cNvSpPr/>
      </dsp:nvSpPr>
      <dsp:spPr>
        <a:xfrm>
          <a:off x="0" y="3999959"/>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Repayment patterns that support long – </a:t>
          </a:r>
          <a:r>
            <a:rPr lang="en-US" sz="1200" kern="1200"/>
            <a:t>term stability</a:t>
          </a:r>
          <a:endParaRPr lang="en-US" sz="1200" kern="1200" dirty="0"/>
        </a:p>
      </dsp:txBody>
      <dsp:txXfrm>
        <a:off x="0" y="3999959"/>
        <a:ext cx="10058399" cy="510300"/>
      </dsp:txXfrm>
    </dsp:sp>
    <dsp:sp modelId="{27FE4332-6169-4038-8AC6-4B163C1412B3}">
      <dsp:nvSpPr>
        <dsp:cNvPr id="0" name=""/>
        <dsp:cNvSpPr/>
      </dsp:nvSpPr>
      <dsp:spPr>
        <a:xfrm>
          <a:off x="502920" y="3822840"/>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Predictable Cash Flow Performance</a:t>
          </a:r>
        </a:p>
      </dsp:txBody>
      <dsp:txXfrm>
        <a:off x="520213" y="3840133"/>
        <a:ext cx="7006294" cy="3196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3A77AD-A213-4D0E-9C4A-FD363627C615}">
      <dsp:nvSpPr>
        <dsp:cNvPr id="0" name=""/>
        <dsp:cNvSpPr/>
      </dsp:nvSpPr>
      <dsp:spPr>
        <a:xfrm>
          <a:off x="0" y="238860"/>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Deposits that meaningfully offset credit exposure</a:t>
          </a:r>
        </a:p>
      </dsp:txBody>
      <dsp:txXfrm>
        <a:off x="0" y="238860"/>
        <a:ext cx="10058399" cy="510300"/>
      </dsp:txXfrm>
    </dsp:sp>
    <dsp:sp modelId="{B531083C-A9CB-408F-940A-282110C3E9CA}">
      <dsp:nvSpPr>
        <dsp:cNvPr id="0" name=""/>
        <dsp:cNvSpPr/>
      </dsp:nvSpPr>
      <dsp:spPr>
        <a:xfrm>
          <a:off x="502920" y="61740"/>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b="0" kern="1200" dirty="0"/>
            <a:t>Deposit – Loan Balance Alignment</a:t>
          </a:r>
        </a:p>
      </dsp:txBody>
      <dsp:txXfrm>
        <a:off x="520213" y="79033"/>
        <a:ext cx="7006294" cy="319654"/>
      </dsp:txXfrm>
    </dsp:sp>
    <dsp:sp modelId="{BB16E86C-B303-43EC-B377-CC1B93874616}">
      <dsp:nvSpPr>
        <dsp:cNvPr id="0" name=""/>
        <dsp:cNvSpPr/>
      </dsp:nvSpPr>
      <dsp:spPr>
        <a:xfrm>
          <a:off x="0" y="991080"/>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No recent downgrades or emerging credit concerns</a:t>
          </a:r>
        </a:p>
      </dsp:txBody>
      <dsp:txXfrm>
        <a:off x="0" y="991080"/>
        <a:ext cx="10058399" cy="510300"/>
      </dsp:txXfrm>
    </dsp:sp>
    <dsp:sp modelId="{815AEABA-0335-410B-98EE-0DDD8D9E4E1D}">
      <dsp:nvSpPr>
        <dsp:cNvPr id="0" name=""/>
        <dsp:cNvSpPr/>
      </dsp:nvSpPr>
      <dsp:spPr>
        <a:xfrm>
          <a:off x="502920" y="813960"/>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Stable Risk Rating</a:t>
          </a:r>
        </a:p>
      </dsp:txBody>
      <dsp:txXfrm>
        <a:off x="520213" y="831253"/>
        <a:ext cx="7006294" cy="319654"/>
      </dsp:txXfrm>
    </dsp:sp>
    <dsp:sp modelId="{69822406-C649-4CB8-8A3E-092BFAECF3A4}">
      <dsp:nvSpPr>
        <dsp:cNvPr id="0" name=""/>
        <dsp:cNvSpPr/>
      </dsp:nvSpPr>
      <dsp:spPr>
        <a:xfrm>
          <a:off x="0" y="1743300"/>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Spreads, fees, and services that meet profitability targets</a:t>
          </a:r>
        </a:p>
      </dsp:txBody>
      <dsp:txXfrm>
        <a:off x="0" y="1743300"/>
        <a:ext cx="10058399" cy="510300"/>
      </dsp:txXfrm>
    </dsp:sp>
    <dsp:sp modelId="{3BFA8DFD-235A-4252-A1DF-0D60A04B657A}">
      <dsp:nvSpPr>
        <dsp:cNvPr id="0" name=""/>
        <dsp:cNvSpPr/>
      </dsp:nvSpPr>
      <dsp:spPr>
        <a:xfrm>
          <a:off x="502920" y="1566180"/>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Relationship Profitability</a:t>
          </a:r>
        </a:p>
      </dsp:txBody>
      <dsp:txXfrm>
        <a:off x="520213" y="1583473"/>
        <a:ext cx="7006294" cy="319654"/>
      </dsp:txXfrm>
    </dsp:sp>
    <dsp:sp modelId="{CF309E4E-F827-40EF-B4A7-14C8689A87D5}">
      <dsp:nvSpPr>
        <dsp:cNvPr id="0" name=""/>
        <dsp:cNvSpPr/>
      </dsp:nvSpPr>
      <dsp:spPr>
        <a:xfrm>
          <a:off x="0" y="2495519"/>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On time payments, low volatility, no recurring exceptions</a:t>
          </a:r>
        </a:p>
      </dsp:txBody>
      <dsp:txXfrm>
        <a:off x="0" y="2495519"/>
        <a:ext cx="10058399" cy="510300"/>
      </dsp:txXfrm>
    </dsp:sp>
    <dsp:sp modelId="{3A2826E3-20F4-4814-B81F-D6C0976CED65}">
      <dsp:nvSpPr>
        <dsp:cNvPr id="0" name=""/>
        <dsp:cNvSpPr/>
      </dsp:nvSpPr>
      <dsp:spPr>
        <a:xfrm>
          <a:off x="502920" y="2318400"/>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Clean payment Behavior </a:t>
          </a:r>
        </a:p>
      </dsp:txBody>
      <dsp:txXfrm>
        <a:off x="520213" y="2335693"/>
        <a:ext cx="7006294" cy="319654"/>
      </dsp:txXfrm>
    </dsp:sp>
    <dsp:sp modelId="{BB14128D-B7AE-4B3F-9393-39A541B0BA6C}">
      <dsp:nvSpPr>
        <dsp:cNvPr id="0" name=""/>
        <dsp:cNvSpPr/>
      </dsp:nvSpPr>
      <dsp:spPr>
        <a:xfrm>
          <a:off x="0" y="3247740"/>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Active accounts, treasury services, and consistent deposit flows</a:t>
          </a:r>
        </a:p>
      </dsp:txBody>
      <dsp:txXfrm>
        <a:off x="0" y="3247740"/>
        <a:ext cx="10058399" cy="510300"/>
      </dsp:txXfrm>
    </dsp:sp>
    <dsp:sp modelId="{E8F1C10B-2F53-41EF-9149-D59C09CD7C57}">
      <dsp:nvSpPr>
        <dsp:cNvPr id="0" name=""/>
        <dsp:cNvSpPr/>
      </dsp:nvSpPr>
      <dsp:spPr>
        <a:xfrm>
          <a:off x="502920" y="3070619"/>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Engagement &amp; Activity </a:t>
          </a:r>
        </a:p>
      </dsp:txBody>
      <dsp:txXfrm>
        <a:off x="520213" y="3087912"/>
        <a:ext cx="7006294" cy="319654"/>
      </dsp:txXfrm>
    </dsp:sp>
    <dsp:sp modelId="{E75B8840-1AA0-4E6F-B20F-8F9C40508D1D}">
      <dsp:nvSpPr>
        <dsp:cNvPr id="0" name=""/>
        <dsp:cNvSpPr/>
      </dsp:nvSpPr>
      <dsp:spPr>
        <a:xfrm>
          <a:off x="0" y="3999959"/>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Borrower responsiveness and proactive financial updates</a:t>
          </a:r>
        </a:p>
      </dsp:txBody>
      <dsp:txXfrm>
        <a:off x="0" y="3999959"/>
        <a:ext cx="10058399" cy="510300"/>
      </dsp:txXfrm>
    </dsp:sp>
    <dsp:sp modelId="{E0F26FFE-2D25-465F-932B-D536EA3D8066}">
      <dsp:nvSpPr>
        <dsp:cNvPr id="0" name=""/>
        <dsp:cNvSpPr/>
      </dsp:nvSpPr>
      <dsp:spPr>
        <a:xfrm>
          <a:off x="502920" y="3822840"/>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Transparent Communication</a:t>
          </a:r>
        </a:p>
      </dsp:txBody>
      <dsp:txXfrm>
        <a:off x="520213" y="3840133"/>
        <a:ext cx="7006294" cy="3196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4E0656-4ABB-41E4-B343-0F14797DDDED}">
      <dsp:nvSpPr>
        <dsp:cNvPr id="0" name=""/>
        <dsp:cNvSpPr/>
      </dsp:nvSpPr>
      <dsp:spPr>
        <a:xfrm>
          <a:off x="0" y="2322606"/>
          <a:ext cx="10934342" cy="0"/>
        </a:xfrm>
        <a:prstGeom prst="line">
          <a:avLst/>
        </a:prstGeom>
        <a:solidFill>
          <a:schemeClr val="lt1">
            <a:alpha val="90000"/>
            <a:hueOff val="0"/>
            <a:satOff val="0"/>
            <a:lumOff val="0"/>
            <a:alphaOff val="0"/>
          </a:schemeClr>
        </a:solidFill>
        <a:ln w="12700" cap="flat" cmpd="sng" algn="ctr">
          <a:solidFill>
            <a:schemeClr val="dk1">
              <a:hueOff val="0"/>
              <a:satOff val="0"/>
              <a:lumOff val="0"/>
              <a:alphaOff val="0"/>
            </a:schemeClr>
          </a:solidFill>
          <a:prstDash val="solid"/>
          <a:tailEnd type="triangle" w="lg" len="lg"/>
        </a:ln>
        <a:effectLst/>
      </dsp:spPr>
      <dsp:style>
        <a:lnRef idx="2">
          <a:scrgbClr r="0" g="0" b="0"/>
        </a:lnRef>
        <a:fillRef idx="1">
          <a:scrgbClr r="0" g="0" b="0"/>
        </a:fillRef>
        <a:effectRef idx="0">
          <a:scrgbClr r="0" g="0" b="0"/>
        </a:effectRef>
        <a:fontRef idx="minor"/>
      </dsp:style>
    </dsp:sp>
    <dsp:sp modelId="{AC35D586-EC95-4589-8E1A-5E9DE9D7E613}">
      <dsp:nvSpPr>
        <dsp:cNvPr id="0" name=""/>
        <dsp:cNvSpPr/>
      </dsp:nvSpPr>
      <dsp:spPr>
        <a:xfrm rot="8100000">
          <a:off x="76380" y="536355"/>
          <a:ext cx="339433" cy="339433"/>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DD238AC6-608D-41BC-8D85-A7F889CF755B}">
      <dsp:nvSpPr>
        <dsp:cNvPr id="0" name=""/>
        <dsp:cNvSpPr/>
      </dsp:nvSpPr>
      <dsp:spPr>
        <a:xfrm>
          <a:off x="150090" y="610066"/>
          <a:ext cx="192012" cy="192012"/>
        </a:xfrm>
        <a:prstGeom prst="ellipse">
          <a:avLst/>
        </a:prstGeom>
        <a:solidFill>
          <a:schemeClr val="accent1">
            <a:hueOff val="0"/>
            <a:satOff val="0"/>
            <a:lumOff val="0"/>
            <a:alphaOff val="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FA7BCC3-067B-4FBA-9F93-FC3D8659969B}">
      <dsp:nvSpPr>
        <dsp:cNvPr id="0" name=""/>
        <dsp:cNvSpPr/>
      </dsp:nvSpPr>
      <dsp:spPr>
        <a:xfrm>
          <a:off x="486112" y="1125999"/>
          <a:ext cx="2258681" cy="1196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8900" rIns="88900" bIns="133350" numCol="1" spcCol="1270" anchor="t" anchorCtr="0">
          <a:noAutofit/>
        </a:bodyPr>
        <a:lstStyle/>
        <a:p>
          <a:pPr marL="0" lvl="0" indent="0" algn="l" defTabSz="622300">
            <a:lnSpc>
              <a:spcPct val="90000"/>
            </a:lnSpc>
            <a:spcBef>
              <a:spcPct val="0"/>
            </a:spcBef>
            <a:spcAft>
              <a:spcPct val="35000"/>
            </a:spcAft>
            <a:buNone/>
          </a:pPr>
          <a:r>
            <a:rPr lang="en-US" sz="1400" kern="1200" dirty="0"/>
            <a:t>Extracted directly from the core platform to ensure accuracy and completeness</a:t>
          </a:r>
        </a:p>
      </dsp:txBody>
      <dsp:txXfrm>
        <a:off x="486112" y="1125999"/>
        <a:ext cx="2258681" cy="1196606"/>
      </dsp:txXfrm>
    </dsp:sp>
    <dsp:sp modelId="{7627B48B-441A-4C0A-898F-98084A44E980}">
      <dsp:nvSpPr>
        <dsp:cNvPr id="0" name=""/>
        <dsp:cNvSpPr/>
      </dsp:nvSpPr>
      <dsp:spPr>
        <a:xfrm>
          <a:off x="486112" y="464521"/>
          <a:ext cx="2258681" cy="661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14300" bIns="0" numCol="1" spcCol="1270" anchor="ctr" anchorCtr="0">
          <a:noAutofit/>
        </a:bodyPr>
        <a:lstStyle/>
        <a:p>
          <a:pPr marL="0" lvl="0" indent="0" algn="l" defTabSz="800100">
            <a:lnSpc>
              <a:spcPct val="90000"/>
            </a:lnSpc>
            <a:spcBef>
              <a:spcPct val="0"/>
            </a:spcBef>
            <a:spcAft>
              <a:spcPct val="35000"/>
            </a:spcAft>
            <a:buNone/>
            <a:defRPr b="1"/>
          </a:pPr>
          <a:r>
            <a:rPr lang="en-US" sz="1800" kern="1200" dirty="0"/>
            <a:t>Pulled Live System Data</a:t>
          </a:r>
        </a:p>
      </dsp:txBody>
      <dsp:txXfrm>
        <a:off x="486112" y="464521"/>
        <a:ext cx="2258681" cy="661478"/>
      </dsp:txXfrm>
    </dsp:sp>
    <dsp:sp modelId="{A7C35CF9-4488-4EC8-AD93-E29BC058E69E}">
      <dsp:nvSpPr>
        <dsp:cNvPr id="0" name=""/>
        <dsp:cNvSpPr/>
      </dsp:nvSpPr>
      <dsp:spPr>
        <a:xfrm>
          <a:off x="246097" y="851003"/>
          <a:ext cx="0" cy="1471603"/>
        </a:xfrm>
        <a:prstGeom prst="line">
          <a:avLst/>
        </a:prstGeom>
        <a:noFill/>
        <a:ln w="12700" cap="flat" cmpd="sng" algn="ctr">
          <a:solidFill>
            <a:schemeClr val="dk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1A949A9-DAD4-467C-96B7-78CB699DFE37}">
      <dsp:nvSpPr>
        <dsp:cNvPr id="0" name=""/>
        <dsp:cNvSpPr/>
      </dsp:nvSpPr>
      <dsp:spPr>
        <a:xfrm>
          <a:off x="204429" y="2279127"/>
          <a:ext cx="86405" cy="86958"/>
        </a:xfrm>
        <a:prstGeom prst="ellipse">
          <a:avLst/>
        </a:prstGeom>
        <a:solidFill>
          <a:schemeClr val="dk1">
            <a:hueOff val="0"/>
            <a:satOff val="0"/>
            <a:lumOff val="0"/>
            <a:alphaOff val="0"/>
          </a:schemeClr>
        </a:solidFill>
        <a:ln w="63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28ECE3-BF53-4883-8D30-E9D0B0E01DCC}">
      <dsp:nvSpPr>
        <dsp:cNvPr id="0" name=""/>
        <dsp:cNvSpPr/>
      </dsp:nvSpPr>
      <dsp:spPr>
        <a:xfrm rot="18900000">
          <a:off x="1440291" y="3769423"/>
          <a:ext cx="339433" cy="339433"/>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26F05367-601C-4A06-AC7A-0A89B609F78A}">
      <dsp:nvSpPr>
        <dsp:cNvPr id="0" name=""/>
        <dsp:cNvSpPr/>
      </dsp:nvSpPr>
      <dsp:spPr>
        <a:xfrm>
          <a:off x="1514002" y="3843134"/>
          <a:ext cx="192012" cy="192012"/>
        </a:xfrm>
        <a:prstGeom prst="ellipse">
          <a:avLst/>
        </a:prstGeom>
        <a:solidFill>
          <a:schemeClr val="accent1">
            <a:hueOff val="0"/>
            <a:satOff val="0"/>
            <a:lumOff val="0"/>
            <a:alphaOff val="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224C07-90F7-4460-9986-0B0E207219BD}">
      <dsp:nvSpPr>
        <dsp:cNvPr id="0" name=""/>
        <dsp:cNvSpPr/>
      </dsp:nvSpPr>
      <dsp:spPr>
        <a:xfrm>
          <a:off x="1850023" y="3169893"/>
          <a:ext cx="2258681" cy="1010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3350" rIns="0" bIns="88900" numCol="1" spcCol="1270" anchor="t" anchorCtr="0">
          <a:noAutofit/>
        </a:bodyPr>
        <a:lstStyle/>
        <a:p>
          <a:pPr marL="0" lvl="0" indent="0" algn="l" defTabSz="622300">
            <a:lnSpc>
              <a:spcPct val="90000"/>
            </a:lnSpc>
            <a:spcBef>
              <a:spcPct val="0"/>
            </a:spcBef>
            <a:spcAft>
              <a:spcPct val="35000"/>
            </a:spcAft>
            <a:buNone/>
          </a:pPr>
          <a:r>
            <a:rPr lang="en-US" sz="1400" kern="1200" dirty="0"/>
            <a:t>Checked for correctness, consistency, and alignment with expected business rules</a:t>
          </a:r>
        </a:p>
      </dsp:txBody>
      <dsp:txXfrm>
        <a:off x="1850023" y="3169893"/>
        <a:ext cx="2258681" cy="1010798"/>
      </dsp:txXfrm>
    </dsp:sp>
    <dsp:sp modelId="{8E054BE1-390C-4083-AD0C-7969FA391F43}">
      <dsp:nvSpPr>
        <dsp:cNvPr id="0" name=""/>
        <dsp:cNvSpPr/>
      </dsp:nvSpPr>
      <dsp:spPr>
        <a:xfrm>
          <a:off x="1850023" y="2508415"/>
          <a:ext cx="2258681" cy="661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14300" bIns="0" numCol="1" spcCol="1270" anchor="ctr" anchorCtr="0">
          <a:noAutofit/>
        </a:bodyPr>
        <a:lstStyle/>
        <a:p>
          <a:pPr marL="0" lvl="0" indent="0" algn="l" defTabSz="800100">
            <a:lnSpc>
              <a:spcPct val="90000"/>
            </a:lnSpc>
            <a:spcBef>
              <a:spcPct val="0"/>
            </a:spcBef>
            <a:spcAft>
              <a:spcPct val="35000"/>
            </a:spcAft>
            <a:buNone/>
            <a:defRPr b="1"/>
          </a:pPr>
          <a:r>
            <a:rPr lang="en-US" sz="1800" kern="1200" dirty="0"/>
            <a:t>Validated all Fields</a:t>
          </a:r>
        </a:p>
      </dsp:txBody>
      <dsp:txXfrm>
        <a:off x="1850023" y="2508415"/>
        <a:ext cx="2258681" cy="661478"/>
      </dsp:txXfrm>
    </dsp:sp>
    <dsp:sp modelId="{C5115633-C49F-4669-BA0D-2CC4DE697265}">
      <dsp:nvSpPr>
        <dsp:cNvPr id="0" name=""/>
        <dsp:cNvSpPr/>
      </dsp:nvSpPr>
      <dsp:spPr>
        <a:xfrm>
          <a:off x="1610008" y="2322606"/>
          <a:ext cx="0" cy="1449306"/>
        </a:xfrm>
        <a:prstGeom prst="line">
          <a:avLst/>
        </a:prstGeom>
        <a:noFill/>
        <a:ln w="12700" cap="flat" cmpd="sng" algn="ctr">
          <a:solidFill>
            <a:schemeClr val="dk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021AA33-67FA-438F-B2B4-C2112E589BB8}">
      <dsp:nvSpPr>
        <dsp:cNvPr id="0" name=""/>
        <dsp:cNvSpPr/>
      </dsp:nvSpPr>
      <dsp:spPr>
        <a:xfrm>
          <a:off x="1568340" y="2279127"/>
          <a:ext cx="86405" cy="86958"/>
        </a:xfrm>
        <a:prstGeom prst="ellipse">
          <a:avLst/>
        </a:prstGeom>
        <a:solidFill>
          <a:schemeClr val="dk1">
            <a:hueOff val="0"/>
            <a:satOff val="0"/>
            <a:lumOff val="0"/>
            <a:alphaOff val="0"/>
          </a:schemeClr>
        </a:solidFill>
        <a:ln w="63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857E835-2DBD-4F23-95D9-5763D1059152}">
      <dsp:nvSpPr>
        <dsp:cNvPr id="0" name=""/>
        <dsp:cNvSpPr/>
      </dsp:nvSpPr>
      <dsp:spPr>
        <a:xfrm rot="8100000">
          <a:off x="2804202" y="536355"/>
          <a:ext cx="339433" cy="339433"/>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B75983BB-94FA-4DC8-B12C-67D94C8385D7}">
      <dsp:nvSpPr>
        <dsp:cNvPr id="0" name=""/>
        <dsp:cNvSpPr/>
      </dsp:nvSpPr>
      <dsp:spPr>
        <a:xfrm>
          <a:off x="2877913" y="610066"/>
          <a:ext cx="192012" cy="192012"/>
        </a:xfrm>
        <a:prstGeom prst="ellipse">
          <a:avLst/>
        </a:prstGeom>
        <a:solidFill>
          <a:schemeClr val="accent1">
            <a:hueOff val="0"/>
            <a:satOff val="0"/>
            <a:lumOff val="0"/>
            <a:alphaOff val="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2788E05-9D96-4C19-8052-D9616BF87F1A}">
      <dsp:nvSpPr>
        <dsp:cNvPr id="0" name=""/>
        <dsp:cNvSpPr/>
      </dsp:nvSpPr>
      <dsp:spPr>
        <a:xfrm>
          <a:off x="3213935" y="1125999"/>
          <a:ext cx="2258681" cy="1196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8900" rIns="88900" bIns="133350" numCol="1" spcCol="1270" anchor="t" anchorCtr="0">
          <a:noAutofit/>
        </a:bodyPr>
        <a:lstStyle/>
        <a:p>
          <a:pPr marL="0" lvl="0" indent="0" algn="l" defTabSz="622300">
            <a:lnSpc>
              <a:spcPct val="90000"/>
            </a:lnSpc>
            <a:spcBef>
              <a:spcPct val="0"/>
            </a:spcBef>
            <a:spcAft>
              <a:spcPct val="35000"/>
            </a:spcAft>
            <a:buNone/>
          </a:pPr>
          <a:r>
            <a:rPr lang="en-US" sz="1400" kern="1200" dirty="0"/>
            <a:t>Standardized formats across reports and support clean analysis</a:t>
          </a:r>
        </a:p>
      </dsp:txBody>
      <dsp:txXfrm>
        <a:off x="3213935" y="1125999"/>
        <a:ext cx="2258681" cy="1196606"/>
      </dsp:txXfrm>
    </dsp:sp>
    <dsp:sp modelId="{A87B4622-09C2-4AC5-8D99-BA4EB9016D1E}">
      <dsp:nvSpPr>
        <dsp:cNvPr id="0" name=""/>
        <dsp:cNvSpPr/>
      </dsp:nvSpPr>
      <dsp:spPr>
        <a:xfrm>
          <a:off x="3213935" y="464521"/>
          <a:ext cx="2258681" cy="661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14300" bIns="0" numCol="1" spcCol="1270" anchor="ctr" anchorCtr="0">
          <a:noAutofit/>
        </a:bodyPr>
        <a:lstStyle/>
        <a:p>
          <a:pPr marL="0" lvl="0" indent="0" algn="l" defTabSz="800100">
            <a:lnSpc>
              <a:spcPct val="90000"/>
            </a:lnSpc>
            <a:spcBef>
              <a:spcPct val="0"/>
            </a:spcBef>
            <a:spcAft>
              <a:spcPct val="35000"/>
            </a:spcAft>
            <a:buNone/>
            <a:defRPr b="1"/>
          </a:pPr>
          <a:r>
            <a:rPr lang="en-US" sz="1800" kern="1200" dirty="0"/>
            <a:t>Corrected Data Types</a:t>
          </a:r>
        </a:p>
      </dsp:txBody>
      <dsp:txXfrm>
        <a:off x="3213935" y="464521"/>
        <a:ext cx="2258681" cy="661478"/>
      </dsp:txXfrm>
    </dsp:sp>
    <dsp:sp modelId="{49E3425B-84C9-4386-B318-6275F82226D8}">
      <dsp:nvSpPr>
        <dsp:cNvPr id="0" name=""/>
        <dsp:cNvSpPr/>
      </dsp:nvSpPr>
      <dsp:spPr>
        <a:xfrm>
          <a:off x="2973919" y="851003"/>
          <a:ext cx="0" cy="1471603"/>
        </a:xfrm>
        <a:prstGeom prst="line">
          <a:avLst/>
        </a:prstGeom>
        <a:noFill/>
        <a:ln w="12700" cap="flat" cmpd="sng" algn="ctr">
          <a:solidFill>
            <a:schemeClr val="dk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DCAA90F-5043-488E-8172-846BAACF242E}">
      <dsp:nvSpPr>
        <dsp:cNvPr id="0" name=""/>
        <dsp:cNvSpPr/>
      </dsp:nvSpPr>
      <dsp:spPr>
        <a:xfrm>
          <a:off x="2932252" y="2279127"/>
          <a:ext cx="86405" cy="86958"/>
        </a:xfrm>
        <a:prstGeom prst="ellipse">
          <a:avLst/>
        </a:prstGeom>
        <a:solidFill>
          <a:schemeClr val="dk1">
            <a:hueOff val="0"/>
            <a:satOff val="0"/>
            <a:lumOff val="0"/>
            <a:alphaOff val="0"/>
          </a:schemeClr>
        </a:solidFill>
        <a:ln w="63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7E1D26-CD3B-4C26-A679-75B109F835DD}">
      <dsp:nvSpPr>
        <dsp:cNvPr id="0" name=""/>
        <dsp:cNvSpPr/>
      </dsp:nvSpPr>
      <dsp:spPr>
        <a:xfrm rot="18900000">
          <a:off x="4168114" y="3769423"/>
          <a:ext cx="339433" cy="339433"/>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75BBD415-93DB-4B2B-8613-D901BB954296}">
      <dsp:nvSpPr>
        <dsp:cNvPr id="0" name=""/>
        <dsp:cNvSpPr/>
      </dsp:nvSpPr>
      <dsp:spPr>
        <a:xfrm>
          <a:off x="4241824" y="3843134"/>
          <a:ext cx="192012" cy="192012"/>
        </a:xfrm>
        <a:prstGeom prst="ellipse">
          <a:avLst/>
        </a:prstGeom>
        <a:solidFill>
          <a:schemeClr val="accent1">
            <a:hueOff val="0"/>
            <a:satOff val="0"/>
            <a:lumOff val="0"/>
            <a:alphaOff val="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B667006-D143-4D73-AE06-590C35069935}">
      <dsp:nvSpPr>
        <dsp:cNvPr id="0" name=""/>
        <dsp:cNvSpPr/>
      </dsp:nvSpPr>
      <dsp:spPr>
        <a:xfrm>
          <a:off x="4577846" y="3169893"/>
          <a:ext cx="2258681" cy="1010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3350" rIns="0" bIns="88900" numCol="1" spcCol="1270" anchor="t" anchorCtr="0">
          <a:noAutofit/>
        </a:bodyPr>
        <a:lstStyle/>
        <a:p>
          <a:pPr marL="0" lvl="0" indent="0" algn="l" defTabSz="622300">
            <a:lnSpc>
              <a:spcPct val="90000"/>
            </a:lnSpc>
            <a:spcBef>
              <a:spcPct val="0"/>
            </a:spcBef>
            <a:spcAft>
              <a:spcPct val="35000"/>
            </a:spcAft>
            <a:buNone/>
          </a:pPr>
          <a:r>
            <a:rPr lang="en-US" sz="1400" kern="1200"/>
            <a:t>Eliminated whitespace issues that impact validation, joins, filters, and grouping logic</a:t>
          </a:r>
          <a:endParaRPr lang="en-US" sz="1400" kern="1200" dirty="0"/>
        </a:p>
      </dsp:txBody>
      <dsp:txXfrm>
        <a:off x="4577846" y="3169893"/>
        <a:ext cx="2258681" cy="1010798"/>
      </dsp:txXfrm>
    </dsp:sp>
    <dsp:sp modelId="{5BB66E30-2210-4EE0-956D-FE01E5F89BEE}">
      <dsp:nvSpPr>
        <dsp:cNvPr id="0" name=""/>
        <dsp:cNvSpPr/>
      </dsp:nvSpPr>
      <dsp:spPr>
        <a:xfrm>
          <a:off x="4577846" y="2508415"/>
          <a:ext cx="2258681" cy="661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14300" bIns="0" numCol="1" spcCol="1270" anchor="ctr" anchorCtr="0">
          <a:noAutofit/>
        </a:bodyPr>
        <a:lstStyle/>
        <a:p>
          <a:pPr marL="0" lvl="0" indent="0" algn="l" defTabSz="800100">
            <a:lnSpc>
              <a:spcPct val="90000"/>
            </a:lnSpc>
            <a:spcBef>
              <a:spcPct val="0"/>
            </a:spcBef>
            <a:spcAft>
              <a:spcPct val="35000"/>
            </a:spcAft>
            <a:buNone/>
            <a:defRPr b="1"/>
          </a:pPr>
          <a:r>
            <a:rPr lang="en-US" sz="1800" kern="1200" dirty="0"/>
            <a:t>Removed Trailing &amp; Leading Spaces</a:t>
          </a:r>
        </a:p>
      </dsp:txBody>
      <dsp:txXfrm>
        <a:off x="4577846" y="2508415"/>
        <a:ext cx="2258681" cy="661478"/>
      </dsp:txXfrm>
    </dsp:sp>
    <dsp:sp modelId="{93037C82-6213-424F-AD17-A9E9EF998C1B}">
      <dsp:nvSpPr>
        <dsp:cNvPr id="0" name=""/>
        <dsp:cNvSpPr/>
      </dsp:nvSpPr>
      <dsp:spPr>
        <a:xfrm>
          <a:off x="4337830" y="2322606"/>
          <a:ext cx="0" cy="1449306"/>
        </a:xfrm>
        <a:prstGeom prst="line">
          <a:avLst/>
        </a:prstGeom>
        <a:noFill/>
        <a:ln w="12700" cap="flat" cmpd="sng" algn="ctr">
          <a:solidFill>
            <a:schemeClr val="dk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E08EE77-2F99-4729-A509-0B7DFA1E86A6}">
      <dsp:nvSpPr>
        <dsp:cNvPr id="0" name=""/>
        <dsp:cNvSpPr/>
      </dsp:nvSpPr>
      <dsp:spPr>
        <a:xfrm>
          <a:off x="4296163" y="2279127"/>
          <a:ext cx="86405" cy="86958"/>
        </a:xfrm>
        <a:prstGeom prst="ellipse">
          <a:avLst/>
        </a:prstGeom>
        <a:solidFill>
          <a:schemeClr val="dk1">
            <a:hueOff val="0"/>
            <a:satOff val="0"/>
            <a:lumOff val="0"/>
            <a:alphaOff val="0"/>
          </a:schemeClr>
        </a:solidFill>
        <a:ln w="63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BE4325-42E6-4682-93B7-74B439A878B4}">
      <dsp:nvSpPr>
        <dsp:cNvPr id="0" name=""/>
        <dsp:cNvSpPr/>
      </dsp:nvSpPr>
      <dsp:spPr>
        <a:xfrm rot="8100000">
          <a:off x="5532025" y="536355"/>
          <a:ext cx="339433" cy="339433"/>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4A5658B8-C812-44A6-A012-0BD3AD88FDF8}">
      <dsp:nvSpPr>
        <dsp:cNvPr id="0" name=""/>
        <dsp:cNvSpPr/>
      </dsp:nvSpPr>
      <dsp:spPr>
        <a:xfrm>
          <a:off x="5605735" y="610066"/>
          <a:ext cx="192012" cy="192012"/>
        </a:xfrm>
        <a:prstGeom prst="ellipse">
          <a:avLst/>
        </a:prstGeom>
        <a:solidFill>
          <a:schemeClr val="accent1">
            <a:hueOff val="0"/>
            <a:satOff val="0"/>
            <a:lumOff val="0"/>
            <a:alphaOff val="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37F985D-0715-441E-97C8-F43AC8446995}">
      <dsp:nvSpPr>
        <dsp:cNvPr id="0" name=""/>
        <dsp:cNvSpPr/>
      </dsp:nvSpPr>
      <dsp:spPr>
        <a:xfrm>
          <a:off x="5941757" y="1125999"/>
          <a:ext cx="2258681" cy="1196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8900" rIns="88900" bIns="133350" numCol="1" spcCol="1270" anchor="t" anchorCtr="0">
          <a:noAutofit/>
        </a:bodyPr>
        <a:lstStyle/>
        <a:p>
          <a:pPr marL="0" lvl="0" indent="0" algn="l" defTabSz="622300">
            <a:lnSpc>
              <a:spcPct val="90000"/>
            </a:lnSpc>
            <a:spcBef>
              <a:spcPct val="0"/>
            </a:spcBef>
            <a:spcAft>
              <a:spcPct val="35000"/>
            </a:spcAft>
            <a:buNone/>
          </a:pPr>
          <a:r>
            <a:rPr lang="en-US" sz="1400" kern="1200" dirty="0"/>
            <a:t>Applied formula based de-identification for Borrowers, Officers, Branches, and Account Information</a:t>
          </a:r>
        </a:p>
      </dsp:txBody>
      <dsp:txXfrm>
        <a:off x="5941757" y="1125999"/>
        <a:ext cx="2258681" cy="1196606"/>
      </dsp:txXfrm>
    </dsp:sp>
    <dsp:sp modelId="{62520346-2754-453D-AB0B-982216DF8BC4}">
      <dsp:nvSpPr>
        <dsp:cNvPr id="0" name=""/>
        <dsp:cNvSpPr/>
      </dsp:nvSpPr>
      <dsp:spPr>
        <a:xfrm>
          <a:off x="5941757" y="464521"/>
          <a:ext cx="2258681" cy="661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14300" bIns="0" numCol="1" spcCol="1270" anchor="ctr" anchorCtr="0">
          <a:noAutofit/>
        </a:bodyPr>
        <a:lstStyle/>
        <a:p>
          <a:pPr marL="0" lvl="0" indent="0" algn="l" defTabSz="800100">
            <a:lnSpc>
              <a:spcPct val="90000"/>
            </a:lnSpc>
            <a:spcBef>
              <a:spcPct val="0"/>
            </a:spcBef>
            <a:spcAft>
              <a:spcPct val="35000"/>
            </a:spcAft>
            <a:buNone/>
            <a:defRPr b="1"/>
          </a:pPr>
          <a:r>
            <a:rPr lang="en-US" sz="1800" kern="1200" dirty="0"/>
            <a:t>Anonymized Sensitive Information</a:t>
          </a:r>
        </a:p>
      </dsp:txBody>
      <dsp:txXfrm>
        <a:off x="5941757" y="464521"/>
        <a:ext cx="2258681" cy="661478"/>
      </dsp:txXfrm>
    </dsp:sp>
    <dsp:sp modelId="{5DDB6DB4-5DF5-41E1-B621-5CA6F9D32762}">
      <dsp:nvSpPr>
        <dsp:cNvPr id="0" name=""/>
        <dsp:cNvSpPr/>
      </dsp:nvSpPr>
      <dsp:spPr>
        <a:xfrm>
          <a:off x="5701741" y="851003"/>
          <a:ext cx="0" cy="1471603"/>
        </a:xfrm>
        <a:prstGeom prst="line">
          <a:avLst/>
        </a:prstGeom>
        <a:noFill/>
        <a:ln w="12700" cap="flat" cmpd="sng" algn="ctr">
          <a:solidFill>
            <a:schemeClr val="dk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3DF0671-2D18-49F4-A0EE-F5A4C82B0F57}">
      <dsp:nvSpPr>
        <dsp:cNvPr id="0" name=""/>
        <dsp:cNvSpPr/>
      </dsp:nvSpPr>
      <dsp:spPr>
        <a:xfrm>
          <a:off x="5660074" y="2279127"/>
          <a:ext cx="86405" cy="86958"/>
        </a:xfrm>
        <a:prstGeom prst="ellipse">
          <a:avLst/>
        </a:prstGeom>
        <a:solidFill>
          <a:schemeClr val="dk1">
            <a:hueOff val="0"/>
            <a:satOff val="0"/>
            <a:lumOff val="0"/>
            <a:alphaOff val="0"/>
          </a:schemeClr>
        </a:solidFill>
        <a:ln w="63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38667E-55F1-45E0-B0CC-8C1A13F7E235}">
      <dsp:nvSpPr>
        <dsp:cNvPr id="0" name=""/>
        <dsp:cNvSpPr/>
      </dsp:nvSpPr>
      <dsp:spPr>
        <a:xfrm rot="18900000">
          <a:off x="6895936" y="3769423"/>
          <a:ext cx="339433" cy="339433"/>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A2BDCA71-43AB-4F81-AC84-8DB3B334557B}">
      <dsp:nvSpPr>
        <dsp:cNvPr id="0" name=""/>
        <dsp:cNvSpPr/>
      </dsp:nvSpPr>
      <dsp:spPr>
        <a:xfrm>
          <a:off x="6969646" y="3843134"/>
          <a:ext cx="192012" cy="192012"/>
        </a:xfrm>
        <a:prstGeom prst="ellipse">
          <a:avLst/>
        </a:prstGeom>
        <a:solidFill>
          <a:schemeClr val="accent1">
            <a:hueOff val="0"/>
            <a:satOff val="0"/>
            <a:lumOff val="0"/>
            <a:alphaOff val="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8FD845C-61FC-4B0F-ADC2-24EF1781C016}">
      <dsp:nvSpPr>
        <dsp:cNvPr id="0" name=""/>
        <dsp:cNvSpPr/>
      </dsp:nvSpPr>
      <dsp:spPr>
        <a:xfrm>
          <a:off x="7305668" y="3169893"/>
          <a:ext cx="2258681" cy="1010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3350" rIns="0" bIns="88900" numCol="1" spcCol="1270" anchor="t" anchorCtr="0">
          <a:noAutofit/>
        </a:bodyPr>
        <a:lstStyle/>
        <a:p>
          <a:pPr marL="0" lvl="0" indent="0" algn="l" defTabSz="622300">
            <a:lnSpc>
              <a:spcPct val="90000"/>
            </a:lnSpc>
            <a:spcBef>
              <a:spcPct val="0"/>
            </a:spcBef>
            <a:spcAft>
              <a:spcPct val="35000"/>
            </a:spcAft>
            <a:buNone/>
          </a:pPr>
          <a:r>
            <a:rPr lang="en-US" sz="1400" kern="1200" dirty="0"/>
            <a:t>Verified and anonymized any data that could not be safely transformed through automation methods</a:t>
          </a:r>
        </a:p>
      </dsp:txBody>
      <dsp:txXfrm>
        <a:off x="7305668" y="3169893"/>
        <a:ext cx="2258681" cy="1010798"/>
      </dsp:txXfrm>
    </dsp:sp>
    <dsp:sp modelId="{40AB1371-A0C5-4199-B6B6-EACF138C7EC6}">
      <dsp:nvSpPr>
        <dsp:cNvPr id="0" name=""/>
        <dsp:cNvSpPr/>
      </dsp:nvSpPr>
      <dsp:spPr>
        <a:xfrm>
          <a:off x="7305668" y="2508415"/>
          <a:ext cx="2258681" cy="661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14300" bIns="0" numCol="1" spcCol="1270" anchor="ctr" anchorCtr="0">
          <a:noAutofit/>
        </a:bodyPr>
        <a:lstStyle/>
        <a:p>
          <a:pPr marL="0" lvl="0" indent="0" algn="l" defTabSz="800100">
            <a:lnSpc>
              <a:spcPct val="90000"/>
            </a:lnSpc>
            <a:spcBef>
              <a:spcPct val="0"/>
            </a:spcBef>
            <a:spcAft>
              <a:spcPct val="35000"/>
            </a:spcAft>
            <a:buNone/>
            <a:defRPr b="1"/>
          </a:pPr>
          <a:r>
            <a:rPr lang="en-US" sz="1800" kern="1200" dirty="0"/>
            <a:t>Manual Reviewed Remaining Fields</a:t>
          </a:r>
        </a:p>
      </dsp:txBody>
      <dsp:txXfrm>
        <a:off x="7305668" y="2508415"/>
        <a:ext cx="2258681" cy="661478"/>
      </dsp:txXfrm>
    </dsp:sp>
    <dsp:sp modelId="{E957F676-8304-46FB-8A08-83D50DBFCD6E}">
      <dsp:nvSpPr>
        <dsp:cNvPr id="0" name=""/>
        <dsp:cNvSpPr/>
      </dsp:nvSpPr>
      <dsp:spPr>
        <a:xfrm>
          <a:off x="7065653" y="2322606"/>
          <a:ext cx="0" cy="1449306"/>
        </a:xfrm>
        <a:prstGeom prst="line">
          <a:avLst/>
        </a:prstGeom>
        <a:noFill/>
        <a:ln w="12700" cap="flat" cmpd="sng" algn="ctr">
          <a:solidFill>
            <a:schemeClr val="dk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5F8EDE6-4AB7-4C89-9742-916026655A13}">
      <dsp:nvSpPr>
        <dsp:cNvPr id="0" name=""/>
        <dsp:cNvSpPr/>
      </dsp:nvSpPr>
      <dsp:spPr>
        <a:xfrm>
          <a:off x="7023985" y="2279127"/>
          <a:ext cx="86405" cy="86958"/>
        </a:xfrm>
        <a:prstGeom prst="ellipse">
          <a:avLst/>
        </a:prstGeom>
        <a:solidFill>
          <a:schemeClr val="dk1">
            <a:hueOff val="0"/>
            <a:satOff val="0"/>
            <a:lumOff val="0"/>
            <a:alphaOff val="0"/>
          </a:schemeClr>
        </a:solidFill>
        <a:ln w="63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6F4EFF-F81D-44C7-BC28-1B88206CA183}">
      <dsp:nvSpPr>
        <dsp:cNvPr id="0" name=""/>
        <dsp:cNvSpPr/>
      </dsp:nvSpPr>
      <dsp:spPr>
        <a:xfrm rot="8100000">
          <a:off x="8259847" y="536355"/>
          <a:ext cx="339433" cy="339433"/>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5B1F13F3-2491-44EC-835D-F9A0C806F3E0}">
      <dsp:nvSpPr>
        <dsp:cNvPr id="0" name=""/>
        <dsp:cNvSpPr/>
      </dsp:nvSpPr>
      <dsp:spPr>
        <a:xfrm>
          <a:off x="8333558" y="610066"/>
          <a:ext cx="192012" cy="192012"/>
        </a:xfrm>
        <a:prstGeom prst="ellipse">
          <a:avLst/>
        </a:prstGeom>
        <a:solidFill>
          <a:schemeClr val="accent1">
            <a:hueOff val="0"/>
            <a:satOff val="0"/>
            <a:lumOff val="0"/>
            <a:alphaOff val="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53DDCC9-1525-477B-80BD-002A9B8061E6}">
      <dsp:nvSpPr>
        <dsp:cNvPr id="0" name=""/>
        <dsp:cNvSpPr/>
      </dsp:nvSpPr>
      <dsp:spPr>
        <a:xfrm>
          <a:off x="8669580" y="1125999"/>
          <a:ext cx="2258681" cy="1196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8900" rIns="88900" bIns="133350" numCol="1" spcCol="1270" anchor="t" anchorCtr="0">
          <a:noAutofit/>
        </a:bodyPr>
        <a:lstStyle/>
        <a:p>
          <a:pPr marL="0" lvl="0" indent="0" algn="l" defTabSz="622300">
            <a:lnSpc>
              <a:spcPct val="90000"/>
            </a:lnSpc>
            <a:spcBef>
              <a:spcPct val="0"/>
            </a:spcBef>
            <a:spcAft>
              <a:spcPct val="35000"/>
            </a:spcAft>
            <a:buNone/>
          </a:pPr>
          <a:r>
            <a:rPr lang="en-US" sz="1400" kern="1200" dirty="0"/>
            <a:t>Using completed files, SQLite database was created for analysis within SQL and </a:t>
          </a:r>
          <a:r>
            <a:rPr lang="en-US" sz="1400" kern="1200" dirty="0" err="1"/>
            <a:t>Jupyter</a:t>
          </a:r>
          <a:r>
            <a:rPr lang="en-US" sz="1400" kern="1200" dirty="0"/>
            <a:t> Notebook</a:t>
          </a:r>
        </a:p>
      </dsp:txBody>
      <dsp:txXfrm>
        <a:off x="8669580" y="1125999"/>
        <a:ext cx="2258681" cy="1196606"/>
      </dsp:txXfrm>
    </dsp:sp>
    <dsp:sp modelId="{6C8A7E69-3CFF-4D25-9929-0458566094E6}">
      <dsp:nvSpPr>
        <dsp:cNvPr id="0" name=""/>
        <dsp:cNvSpPr/>
      </dsp:nvSpPr>
      <dsp:spPr>
        <a:xfrm>
          <a:off x="8669580" y="464521"/>
          <a:ext cx="2258681" cy="661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14300" bIns="0" numCol="1" spcCol="1270" anchor="ctr" anchorCtr="0">
          <a:noAutofit/>
        </a:bodyPr>
        <a:lstStyle/>
        <a:p>
          <a:pPr marL="0" lvl="0" indent="0" algn="l" defTabSz="800100">
            <a:lnSpc>
              <a:spcPct val="90000"/>
            </a:lnSpc>
            <a:spcBef>
              <a:spcPct val="0"/>
            </a:spcBef>
            <a:spcAft>
              <a:spcPct val="35000"/>
            </a:spcAft>
            <a:buNone/>
            <a:defRPr b="1"/>
          </a:pPr>
          <a:r>
            <a:rPr lang="en-US" sz="1800" kern="1200" dirty="0"/>
            <a:t>Database Creation</a:t>
          </a:r>
        </a:p>
      </dsp:txBody>
      <dsp:txXfrm>
        <a:off x="8669580" y="464521"/>
        <a:ext cx="2258681" cy="661478"/>
      </dsp:txXfrm>
    </dsp:sp>
    <dsp:sp modelId="{A48CE3AC-C714-422D-AC53-270FFB6F71A3}">
      <dsp:nvSpPr>
        <dsp:cNvPr id="0" name=""/>
        <dsp:cNvSpPr/>
      </dsp:nvSpPr>
      <dsp:spPr>
        <a:xfrm>
          <a:off x="8429564" y="851003"/>
          <a:ext cx="0" cy="1471603"/>
        </a:xfrm>
        <a:prstGeom prst="line">
          <a:avLst/>
        </a:prstGeom>
        <a:noFill/>
        <a:ln w="12700" cap="flat" cmpd="sng" algn="ctr">
          <a:solidFill>
            <a:schemeClr val="dk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B82835F-D33B-4B67-A4E8-A1F0C9162B93}">
      <dsp:nvSpPr>
        <dsp:cNvPr id="0" name=""/>
        <dsp:cNvSpPr/>
      </dsp:nvSpPr>
      <dsp:spPr>
        <a:xfrm>
          <a:off x="8387897" y="2279127"/>
          <a:ext cx="86405" cy="86958"/>
        </a:xfrm>
        <a:prstGeom prst="ellipse">
          <a:avLst/>
        </a:prstGeom>
        <a:solidFill>
          <a:schemeClr val="dk1">
            <a:hueOff val="0"/>
            <a:satOff val="0"/>
            <a:lumOff val="0"/>
            <a:alphaOff val="0"/>
          </a:schemeClr>
        </a:solidFill>
        <a:ln w="63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14EC6B-1CDF-48FC-9F33-8031CE99B0DA}">
      <dsp:nvSpPr>
        <dsp:cNvPr id="0" name=""/>
        <dsp:cNvSpPr/>
      </dsp:nvSpPr>
      <dsp:spPr>
        <a:xfrm rot="16200000">
          <a:off x="-1478344" y="2260168"/>
          <a:ext cx="3436879" cy="3565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14417" bIns="0" numCol="1" spcCol="1270" anchor="t" anchorCtr="0">
          <a:noAutofit/>
        </a:bodyPr>
        <a:lstStyle/>
        <a:p>
          <a:pPr marL="0" lvl="0" indent="0" algn="r" defTabSz="844550">
            <a:lnSpc>
              <a:spcPct val="90000"/>
            </a:lnSpc>
            <a:spcBef>
              <a:spcPct val="0"/>
            </a:spcBef>
            <a:spcAft>
              <a:spcPct val="35000"/>
            </a:spcAft>
            <a:buNone/>
          </a:pPr>
          <a:r>
            <a:rPr lang="en-US" sz="1900" kern="1200" dirty="0"/>
            <a:t>Table 1 - Customer Information</a:t>
          </a:r>
        </a:p>
      </dsp:txBody>
      <dsp:txXfrm>
        <a:off x="-1478344" y="2260168"/>
        <a:ext cx="3436879" cy="356504"/>
      </dsp:txXfrm>
    </dsp:sp>
    <dsp:sp modelId="{0119F701-02EA-45BC-83A1-8F184F0B1F4A}">
      <dsp:nvSpPr>
        <dsp:cNvPr id="0" name=""/>
        <dsp:cNvSpPr/>
      </dsp:nvSpPr>
      <dsp:spPr>
        <a:xfrm>
          <a:off x="418347" y="719980"/>
          <a:ext cx="1775768" cy="3436879"/>
        </a:xfrm>
        <a:prstGeom prst="rect">
          <a:avLst/>
        </a:prstGeom>
        <a:gradFill rotWithShape="0">
          <a:gsLst>
            <a:gs pos="0">
              <a:schemeClr val="accent2">
                <a:hueOff val="0"/>
                <a:satOff val="0"/>
                <a:lumOff val="0"/>
                <a:alphaOff val="0"/>
                <a:tint val="65000"/>
                <a:shade val="92000"/>
                <a:satMod val="130000"/>
              </a:schemeClr>
            </a:gs>
            <a:gs pos="45000">
              <a:schemeClr val="accent2">
                <a:hueOff val="0"/>
                <a:satOff val="0"/>
                <a:lumOff val="0"/>
                <a:alphaOff val="0"/>
                <a:tint val="60000"/>
                <a:shade val="99000"/>
                <a:satMod val="120000"/>
              </a:schemeClr>
            </a:gs>
            <a:gs pos="100000">
              <a:schemeClr val="accent2">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314417" rIns="128016" bIns="128016" numCol="1" spcCol="1270" anchor="t" anchorCtr="0">
          <a:noAutofit/>
        </a:bodyPr>
        <a:lstStyle/>
        <a:p>
          <a:pPr marL="114300" lvl="1" indent="-114300" algn="l" defTabSz="622300">
            <a:lnSpc>
              <a:spcPct val="100000"/>
            </a:lnSpc>
            <a:spcBef>
              <a:spcPct val="0"/>
            </a:spcBef>
            <a:spcAft>
              <a:spcPct val="15000"/>
            </a:spcAft>
            <a:buChar char="•"/>
          </a:pPr>
          <a:r>
            <a:rPr lang="en-US" sz="1400" b="1" kern="1200" dirty="0"/>
            <a:t>Data Size</a:t>
          </a:r>
        </a:p>
        <a:p>
          <a:pPr marL="228600" lvl="2" indent="-114300" algn="l" defTabSz="622300">
            <a:lnSpc>
              <a:spcPct val="100000"/>
            </a:lnSpc>
            <a:spcBef>
              <a:spcPct val="0"/>
            </a:spcBef>
            <a:spcAft>
              <a:spcPct val="15000"/>
            </a:spcAft>
            <a:buChar char="•"/>
          </a:pPr>
          <a:r>
            <a:rPr lang="en-US" sz="1400" kern="1200" dirty="0"/>
            <a:t>20,426 Rows</a:t>
          </a:r>
        </a:p>
        <a:p>
          <a:pPr marL="228600" lvl="2" indent="-114300" algn="l" defTabSz="622300">
            <a:lnSpc>
              <a:spcPct val="100000"/>
            </a:lnSpc>
            <a:spcBef>
              <a:spcPct val="0"/>
            </a:spcBef>
            <a:spcAft>
              <a:spcPct val="15000"/>
            </a:spcAft>
            <a:buChar char="•"/>
          </a:pPr>
          <a:r>
            <a:rPr lang="en-US" sz="1400" kern="1200" dirty="0"/>
            <a:t>8 Columns</a:t>
          </a:r>
        </a:p>
        <a:p>
          <a:pPr marL="114300" lvl="1" indent="-114300" algn="l" defTabSz="622300">
            <a:lnSpc>
              <a:spcPct val="150000"/>
            </a:lnSpc>
            <a:spcBef>
              <a:spcPct val="0"/>
            </a:spcBef>
            <a:spcAft>
              <a:spcPct val="15000"/>
            </a:spcAft>
            <a:buChar char="•"/>
          </a:pPr>
          <a:r>
            <a:rPr lang="en-US" sz="1400" b="1" kern="1200" dirty="0"/>
            <a:t>Anonymization</a:t>
          </a:r>
        </a:p>
        <a:p>
          <a:pPr marL="228600" lvl="2" indent="-114300" algn="l" defTabSz="622300">
            <a:lnSpc>
              <a:spcPct val="100000"/>
            </a:lnSpc>
            <a:spcBef>
              <a:spcPct val="0"/>
            </a:spcBef>
            <a:spcAft>
              <a:spcPct val="15000"/>
            </a:spcAft>
            <a:buChar char="•"/>
          </a:pPr>
          <a:r>
            <a:rPr lang="en-US" sz="1400" kern="1200" dirty="0"/>
            <a:t>Customer Name</a:t>
          </a:r>
        </a:p>
        <a:p>
          <a:pPr marL="228600" lvl="2" indent="-114300" algn="l" defTabSz="622300">
            <a:lnSpc>
              <a:spcPct val="100000"/>
            </a:lnSpc>
            <a:spcBef>
              <a:spcPct val="0"/>
            </a:spcBef>
            <a:spcAft>
              <a:spcPct val="15000"/>
            </a:spcAft>
            <a:buChar char="•"/>
          </a:pPr>
          <a:r>
            <a:rPr lang="en-US" sz="1400" kern="1200" dirty="0"/>
            <a:t>Officer</a:t>
          </a:r>
        </a:p>
        <a:p>
          <a:pPr marL="228600" lvl="2" indent="-114300" algn="l" defTabSz="622300">
            <a:lnSpc>
              <a:spcPct val="100000"/>
            </a:lnSpc>
            <a:spcBef>
              <a:spcPct val="0"/>
            </a:spcBef>
            <a:spcAft>
              <a:spcPct val="15000"/>
            </a:spcAft>
            <a:buChar char="•"/>
          </a:pPr>
          <a:r>
            <a:rPr lang="en-US" sz="1400" kern="1200" dirty="0"/>
            <a:t>Branch</a:t>
          </a:r>
        </a:p>
      </dsp:txBody>
      <dsp:txXfrm>
        <a:off x="418347" y="719980"/>
        <a:ext cx="1775768" cy="3436879"/>
      </dsp:txXfrm>
    </dsp:sp>
    <dsp:sp modelId="{6437222D-8352-40CB-A564-858EC2575B69}">
      <dsp:nvSpPr>
        <dsp:cNvPr id="0" name=""/>
        <dsp:cNvSpPr/>
      </dsp:nvSpPr>
      <dsp:spPr>
        <a:xfrm>
          <a:off x="61843" y="249395"/>
          <a:ext cx="713008" cy="713008"/>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6CF82E27-E488-466A-9029-EA0F9563085D}">
      <dsp:nvSpPr>
        <dsp:cNvPr id="0" name=""/>
        <dsp:cNvSpPr/>
      </dsp:nvSpPr>
      <dsp:spPr>
        <a:xfrm rot="16200000">
          <a:off x="1122468" y="2260168"/>
          <a:ext cx="3436879" cy="3565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14417" bIns="0" numCol="1" spcCol="1270" anchor="t" anchorCtr="0">
          <a:noAutofit/>
        </a:bodyPr>
        <a:lstStyle/>
        <a:p>
          <a:pPr marL="0" lvl="0" indent="0" algn="r" defTabSz="844550">
            <a:lnSpc>
              <a:spcPct val="90000"/>
            </a:lnSpc>
            <a:spcBef>
              <a:spcPct val="0"/>
            </a:spcBef>
            <a:spcAft>
              <a:spcPct val="35000"/>
            </a:spcAft>
            <a:buNone/>
          </a:pPr>
          <a:r>
            <a:rPr lang="en-US" sz="1900" kern="1200" dirty="0"/>
            <a:t>Table 2 - Collateral</a:t>
          </a:r>
        </a:p>
      </dsp:txBody>
      <dsp:txXfrm>
        <a:off x="1122468" y="2260168"/>
        <a:ext cx="3436879" cy="356504"/>
      </dsp:txXfrm>
    </dsp:sp>
    <dsp:sp modelId="{57E0BF0A-547F-4D0A-B7B8-A5280F4E3B11}">
      <dsp:nvSpPr>
        <dsp:cNvPr id="0" name=""/>
        <dsp:cNvSpPr/>
      </dsp:nvSpPr>
      <dsp:spPr>
        <a:xfrm>
          <a:off x="3019160" y="719980"/>
          <a:ext cx="1775768" cy="3436879"/>
        </a:xfrm>
        <a:prstGeom prst="rect">
          <a:avLst/>
        </a:prstGeom>
        <a:gradFill rotWithShape="0">
          <a:gsLst>
            <a:gs pos="0">
              <a:schemeClr val="accent2">
                <a:hueOff val="0"/>
                <a:satOff val="0"/>
                <a:lumOff val="0"/>
                <a:alphaOff val="0"/>
                <a:tint val="65000"/>
                <a:shade val="92000"/>
                <a:satMod val="130000"/>
              </a:schemeClr>
            </a:gs>
            <a:gs pos="45000">
              <a:schemeClr val="accent2">
                <a:hueOff val="0"/>
                <a:satOff val="0"/>
                <a:lumOff val="0"/>
                <a:alphaOff val="0"/>
                <a:tint val="60000"/>
                <a:shade val="99000"/>
                <a:satMod val="120000"/>
              </a:schemeClr>
            </a:gs>
            <a:gs pos="100000">
              <a:schemeClr val="accent2">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314417" rIns="128016" bIns="128016" numCol="1" spcCol="1270" anchor="t" anchorCtr="0">
          <a:noAutofit/>
        </a:bodyPr>
        <a:lstStyle/>
        <a:p>
          <a:pPr marL="114300" lvl="1" indent="-114300" algn="l" defTabSz="622300">
            <a:lnSpc>
              <a:spcPct val="90000"/>
            </a:lnSpc>
            <a:spcBef>
              <a:spcPct val="0"/>
            </a:spcBef>
            <a:spcAft>
              <a:spcPct val="15000"/>
            </a:spcAft>
            <a:buChar char="•"/>
          </a:pPr>
          <a:r>
            <a:rPr lang="en-US" sz="1400" b="1" kern="1200" dirty="0"/>
            <a:t>Data Size</a:t>
          </a:r>
        </a:p>
        <a:p>
          <a:pPr marL="228600" lvl="2" indent="-114300" algn="l" defTabSz="622300">
            <a:lnSpc>
              <a:spcPct val="100000"/>
            </a:lnSpc>
            <a:spcBef>
              <a:spcPct val="0"/>
            </a:spcBef>
            <a:spcAft>
              <a:spcPct val="15000"/>
            </a:spcAft>
            <a:buChar char="•"/>
          </a:pPr>
          <a:r>
            <a:rPr lang="en-US" sz="1400" kern="1200" dirty="0"/>
            <a:t>1,408 Rows</a:t>
          </a:r>
        </a:p>
        <a:p>
          <a:pPr marL="228600" lvl="2" indent="-114300" algn="l" defTabSz="622300">
            <a:lnSpc>
              <a:spcPct val="100000"/>
            </a:lnSpc>
            <a:spcBef>
              <a:spcPct val="0"/>
            </a:spcBef>
            <a:spcAft>
              <a:spcPct val="15000"/>
            </a:spcAft>
            <a:buChar char="•"/>
          </a:pPr>
          <a:r>
            <a:rPr lang="en-US" sz="1400" kern="1200" dirty="0"/>
            <a:t>11 Columns</a:t>
          </a:r>
        </a:p>
        <a:p>
          <a:pPr marL="114300" lvl="1" indent="-114300" algn="l" defTabSz="622300">
            <a:lnSpc>
              <a:spcPct val="150000"/>
            </a:lnSpc>
            <a:spcBef>
              <a:spcPct val="0"/>
            </a:spcBef>
            <a:spcAft>
              <a:spcPct val="15000"/>
            </a:spcAft>
            <a:buChar char="•"/>
          </a:pPr>
          <a:r>
            <a:rPr lang="en-US" sz="1400" b="1" kern="1200" dirty="0"/>
            <a:t>Anonymization</a:t>
          </a:r>
        </a:p>
        <a:p>
          <a:pPr marL="228600" lvl="2" indent="-114300" algn="l" defTabSz="622300">
            <a:lnSpc>
              <a:spcPct val="90000"/>
            </a:lnSpc>
            <a:spcBef>
              <a:spcPct val="0"/>
            </a:spcBef>
            <a:spcAft>
              <a:spcPct val="15000"/>
            </a:spcAft>
            <a:buChar char="•"/>
          </a:pPr>
          <a:r>
            <a:rPr lang="en-US" sz="1400" kern="1200" dirty="0"/>
            <a:t>Loan Number</a:t>
          </a:r>
        </a:p>
      </dsp:txBody>
      <dsp:txXfrm>
        <a:off x="3019160" y="719980"/>
        <a:ext cx="1775768" cy="3436879"/>
      </dsp:txXfrm>
    </dsp:sp>
    <dsp:sp modelId="{A36DA21F-0B2E-41FB-9197-731A39237F65}">
      <dsp:nvSpPr>
        <dsp:cNvPr id="0" name=""/>
        <dsp:cNvSpPr/>
      </dsp:nvSpPr>
      <dsp:spPr>
        <a:xfrm>
          <a:off x="2662656" y="249395"/>
          <a:ext cx="713008" cy="713008"/>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D63D998F-714F-4C7E-8897-A90880B6F4CA}">
      <dsp:nvSpPr>
        <dsp:cNvPr id="0" name=""/>
        <dsp:cNvSpPr/>
      </dsp:nvSpPr>
      <dsp:spPr>
        <a:xfrm rot="16200000">
          <a:off x="3723282" y="2260168"/>
          <a:ext cx="3436879" cy="3565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14417" bIns="0" numCol="1" spcCol="1270" anchor="t" anchorCtr="0">
          <a:noAutofit/>
        </a:bodyPr>
        <a:lstStyle/>
        <a:p>
          <a:pPr marL="0" lvl="0" indent="0" algn="r" defTabSz="844550">
            <a:lnSpc>
              <a:spcPct val="90000"/>
            </a:lnSpc>
            <a:spcBef>
              <a:spcPct val="0"/>
            </a:spcBef>
            <a:spcAft>
              <a:spcPct val="35000"/>
            </a:spcAft>
            <a:buNone/>
          </a:pPr>
          <a:r>
            <a:rPr lang="en-US" sz="1900" kern="1200" dirty="0"/>
            <a:t>Table 3 – Loan Portfolio</a:t>
          </a:r>
        </a:p>
      </dsp:txBody>
      <dsp:txXfrm>
        <a:off x="3723282" y="2260168"/>
        <a:ext cx="3436879" cy="356504"/>
      </dsp:txXfrm>
    </dsp:sp>
    <dsp:sp modelId="{F6A0A161-1961-463D-8DEC-AF8C20F3ACB6}">
      <dsp:nvSpPr>
        <dsp:cNvPr id="0" name=""/>
        <dsp:cNvSpPr/>
      </dsp:nvSpPr>
      <dsp:spPr>
        <a:xfrm>
          <a:off x="5619974" y="719980"/>
          <a:ext cx="1775768" cy="3436879"/>
        </a:xfrm>
        <a:prstGeom prst="rect">
          <a:avLst/>
        </a:prstGeom>
        <a:gradFill rotWithShape="0">
          <a:gsLst>
            <a:gs pos="0">
              <a:schemeClr val="accent2">
                <a:hueOff val="0"/>
                <a:satOff val="0"/>
                <a:lumOff val="0"/>
                <a:alphaOff val="0"/>
                <a:tint val="65000"/>
                <a:shade val="92000"/>
                <a:satMod val="130000"/>
              </a:schemeClr>
            </a:gs>
            <a:gs pos="45000">
              <a:schemeClr val="accent2">
                <a:hueOff val="0"/>
                <a:satOff val="0"/>
                <a:lumOff val="0"/>
                <a:alphaOff val="0"/>
                <a:tint val="60000"/>
                <a:shade val="99000"/>
                <a:satMod val="120000"/>
              </a:schemeClr>
            </a:gs>
            <a:gs pos="100000">
              <a:schemeClr val="accent2">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314417" rIns="128016" bIns="128016" numCol="1" spcCol="1270" anchor="t" anchorCtr="0">
          <a:noAutofit/>
        </a:bodyPr>
        <a:lstStyle/>
        <a:p>
          <a:pPr marL="114300" lvl="1" indent="-114300" algn="l" defTabSz="622300">
            <a:lnSpc>
              <a:spcPct val="90000"/>
            </a:lnSpc>
            <a:spcBef>
              <a:spcPct val="0"/>
            </a:spcBef>
            <a:spcAft>
              <a:spcPct val="15000"/>
            </a:spcAft>
            <a:buChar char="•"/>
          </a:pPr>
          <a:r>
            <a:rPr lang="en-US" sz="1400" b="1" kern="1200" dirty="0"/>
            <a:t>Data Size</a:t>
          </a:r>
        </a:p>
        <a:p>
          <a:pPr marL="228600" lvl="2" indent="-114300" algn="l" defTabSz="622300">
            <a:lnSpc>
              <a:spcPct val="90000"/>
            </a:lnSpc>
            <a:spcBef>
              <a:spcPct val="0"/>
            </a:spcBef>
            <a:spcAft>
              <a:spcPct val="15000"/>
            </a:spcAft>
            <a:buChar char="•"/>
          </a:pPr>
          <a:r>
            <a:rPr lang="en-US" sz="1400" kern="1200"/>
            <a:t>2,381 Rows</a:t>
          </a:r>
          <a:endParaRPr lang="en-US" sz="1400" kern="1200" dirty="0"/>
        </a:p>
        <a:p>
          <a:pPr marL="342900" lvl="3" indent="-114300" algn="l" defTabSz="622300">
            <a:lnSpc>
              <a:spcPct val="90000"/>
            </a:lnSpc>
            <a:spcBef>
              <a:spcPct val="0"/>
            </a:spcBef>
            <a:spcAft>
              <a:spcPct val="15000"/>
            </a:spcAft>
            <a:buChar char="•"/>
          </a:pPr>
          <a:r>
            <a:rPr lang="en-US" sz="1400" kern="1200"/>
            <a:t>1,144 Closed Loans</a:t>
          </a:r>
          <a:endParaRPr lang="en-US" sz="1400" kern="1200" dirty="0"/>
        </a:p>
        <a:p>
          <a:pPr marL="342900" lvl="3" indent="-114300" algn="l" defTabSz="622300">
            <a:lnSpc>
              <a:spcPct val="100000"/>
            </a:lnSpc>
            <a:spcBef>
              <a:spcPct val="0"/>
            </a:spcBef>
            <a:spcAft>
              <a:spcPct val="15000"/>
            </a:spcAft>
            <a:buChar char="•"/>
          </a:pPr>
          <a:r>
            <a:rPr lang="en-US" sz="1400" kern="1200" dirty="0"/>
            <a:t>1,237 Open Loans</a:t>
          </a:r>
        </a:p>
        <a:p>
          <a:pPr marL="228600" lvl="2" indent="-114300" algn="l" defTabSz="622300">
            <a:lnSpc>
              <a:spcPct val="100000"/>
            </a:lnSpc>
            <a:spcBef>
              <a:spcPct val="0"/>
            </a:spcBef>
            <a:spcAft>
              <a:spcPct val="15000"/>
            </a:spcAft>
            <a:buChar char="•"/>
          </a:pPr>
          <a:r>
            <a:rPr lang="en-US" sz="1400" kern="1200" dirty="0"/>
            <a:t>135 Columns</a:t>
          </a:r>
        </a:p>
        <a:p>
          <a:pPr marL="114300" lvl="1" indent="-114300" algn="l" defTabSz="622300">
            <a:lnSpc>
              <a:spcPct val="150000"/>
            </a:lnSpc>
            <a:spcBef>
              <a:spcPct val="0"/>
            </a:spcBef>
            <a:spcAft>
              <a:spcPct val="15000"/>
            </a:spcAft>
            <a:buChar char="•"/>
          </a:pPr>
          <a:r>
            <a:rPr lang="en-US" sz="1400" b="1" kern="1200" dirty="0"/>
            <a:t>Anonymization</a:t>
          </a:r>
        </a:p>
        <a:p>
          <a:pPr marL="228600" lvl="2" indent="-114300" algn="l" defTabSz="622300">
            <a:lnSpc>
              <a:spcPct val="90000"/>
            </a:lnSpc>
            <a:spcBef>
              <a:spcPct val="0"/>
            </a:spcBef>
            <a:spcAft>
              <a:spcPct val="15000"/>
            </a:spcAft>
            <a:buChar char="•"/>
          </a:pPr>
          <a:r>
            <a:rPr lang="en-US" sz="1400" b="0" kern="1200" dirty="0"/>
            <a:t>Customer Name</a:t>
          </a:r>
        </a:p>
        <a:p>
          <a:pPr marL="228600" lvl="2" indent="-114300" algn="l" defTabSz="622300">
            <a:lnSpc>
              <a:spcPct val="90000"/>
            </a:lnSpc>
            <a:spcBef>
              <a:spcPct val="0"/>
            </a:spcBef>
            <a:spcAft>
              <a:spcPct val="15000"/>
            </a:spcAft>
            <a:buChar char="•"/>
          </a:pPr>
          <a:r>
            <a:rPr lang="en-US" sz="1400" b="0" kern="1200"/>
            <a:t>Loan Number</a:t>
          </a:r>
          <a:endParaRPr lang="en-US" sz="1400" b="0" kern="1200" dirty="0"/>
        </a:p>
        <a:p>
          <a:pPr marL="228600" lvl="2" indent="-114300" algn="l" defTabSz="622300">
            <a:lnSpc>
              <a:spcPct val="90000"/>
            </a:lnSpc>
            <a:spcBef>
              <a:spcPct val="0"/>
            </a:spcBef>
            <a:spcAft>
              <a:spcPct val="15000"/>
            </a:spcAft>
            <a:buChar char="•"/>
          </a:pPr>
          <a:r>
            <a:rPr lang="en-US" sz="1400" b="0" kern="1200"/>
            <a:t>Officer</a:t>
          </a:r>
          <a:endParaRPr lang="en-US" sz="1400" b="0" kern="1200" dirty="0"/>
        </a:p>
        <a:p>
          <a:pPr marL="228600" lvl="2" indent="-114300" algn="l" defTabSz="622300">
            <a:lnSpc>
              <a:spcPct val="90000"/>
            </a:lnSpc>
            <a:spcBef>
              <a:spcPct val="0"/>
            </a:spcBef>
            <a:spcAft>
              <a:spcPct val="15000"/>
            </a:spcAft>
            <a:buChar char="•"/>
          </a:pPr>
          <a:r>
            <a:rPr lang="en-US" sz="1400" b="0" kern="1200"/>
            <a:t>Branch</a:t>
          </a:r>
          <a:endParaRPr lang="en-US" sz="1400" b="0" kern="1200" dirty="0"/>
        </a:p>
      </dsp:txBody>
      <dsp:txXfrm>
        <a:off x="5619974" y="719980"/>
        <a:ext cx="1775768" cy="3436879"/>
      </dsp:txXfrm>
    </dsp:sp>
    <dsp:sp modelId="{A74B0647-CBE3-4CAE-B99B-7A0F9FA6DC5E}">
      <dsp:nvSpPr>
        <dsp:cNvPr id="0" name=""/>
        <dsp:cNvSpPr/>
      </dsp:nvSpPr>
      <dsp:spPr>
        <a:xfrm>
          <a:off x="5263470" y="249395"/>
          <a:ext cx="713008" cy="713008"/>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32AB00F9-96C6-4536-B234-08321A96F533}">
      <dsp:nvSpPr>
        <dsp:cNvPr id="0" name=""/>
        <dsp:cNvSpPr/>
      </dsp:nvSpPr>
      <dsp:spPr>
        <a:xfrm rot="16200000">
          <a:off x="6324096" y="2260168"/>
          <a:ext cx="3436879" cy="3565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14417" bIns="0" numCol="1" spcCol="1270" anchor="t" anchorCtr="0">
          <a:noAutofit/>
        </a:bodyPr>
        <a:lstStyle/>
        <a:p>
          <a:pPr marL="0" lvl="0" indent="0" algn="r" defTabSz="844550">
            <a:lnSpc>
              <a:spcPct val="90000"/>
            </a:lnSpc>
            <a:spcBef>
              <a:spcPct val="0"/>
            </a:spcBef>
            <a:spcAft>
              <a:spcPct val="35000"/>
            </a:spcAft>
            <a:buNone/>
          </a:pPr>
          <a:r>
            <a:rPr lang="en-US" sz="1900" kern="1200" dirty="0"/>
            <a:t>Table 4 – Deposit Portfolio</a:t>
          </a:r>
        </a:p>
      </dsp:txBody>
      <dsp:txXfrm>
        <a:off x="6324096" y="2260168"/>
        <a:ext cx="3436879" cy="356504"/>
      </dsp:txXfrm>
    </dsp:sp>
    <dsp:sp modelId="{B467A525-E9C0-468C-9197-FA6E899C559F}">
      <dsp:nvSpPr>
        <dsp:cNvPr id="0" name=""/>
        <dsp:cNvSpPr/>
      </dsp:nvSpPr>
      <dsp:spPr>
        <a:xfrm>
          <a:off x="8220788" y="719980"/>
          <a:ext cx="1775768" cy="3436879"/>
        </a:xfrm>
        <a:prstGeom prst="rect">
          <a:avLst/>
        </a:prstGeom>
        <a:gradFill rotWithShape="0">
          <a:gsLst>
            <a:gs pos="0">
              <a:schemeClr val="accent2">
                <a:hueOff val="0"/>
                <a:satOff val="0"/>
                <a:lumOff val="0"/>
                <a:alphaOff val="0"/>
                <a:tint val="65000"/>
                <a:shade val="92000"/>
                <a:satMod val="130000"/>
              </a:schemeClr>
            </a:gs>
            <a:gs pos="45000">
              <a:schemeClr val="accent2">
                <a:hueOff val="0"/>
                <a:satOff val="0"/>
                <a:lumOff val="0"/>
                <a:alphaOff val="0"/>
                <a:tint val="60000"/>
                <a:shade val="99000"/>
                <a:satMod val="120000"/>
              </a:schemeClr>
            </a:gs>
            <a:gs pos="100000">
              <a:schemeClr val="accent2">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314417" rIns="99568" bIns="99568" numCol="1" spcCol="1270" anchor="t" anchorCtr="0">
          <a:noAutofit/>
        </a:bodyPr>
        <a:lstStyle/>
        <a:p>
          <a:pPr marL="114300" lvl="1" indent="-114300" algn="l" defTabSz="622300">
            <a:lnSpc>
              <a:spcPct val="100000"/>
            </a:lnSpc>
            <a:spcBef>
              <a:spcPct val="0"/>
            </a:spcBef>
            <a:spcAft>
              <a:spcPct val="15000"/>
            </a:spcAft>
            <a:buChar char="•"/>
          </a:pPr>
          <a:r>
            <a:rPr lang="en-US" sz="1400" b="1" kern="1200" dirty="0"/>
            <a:t>Data Size</a:t>
          </a:r>
        </a:p>
        <a:p>
          <a:pPr marL="228600" lvl="2" indent="-114300" algn="l" defTabSz="622300">
            <a:lnSpc>
              <a:spcPct val="100000"/>
            </a:lnSpc>
            <a:spcBef>
              <a:spcPct val="0"/>
            </a:spcBef>
            <a:spcAft>
              <a:spcPct val="15000"/>
            </a:spcAft>
            <a:buChar char="•"/>
          </a:pPr>
          <a:r>
            <a:rPr lang="en-US" sz="1400" kern="1200" dirty="0"/>
            <a:t>11,762 Rows</a:t>
          </a:r>
        </a:p>
        <a:p>
          <a:pPr marL="228600" lvl="2" indent="-114300" algn="l" defTabSz="622300">
            <a:lnSpc>
              <a:spcPct val="100000"/>
            </a:lnSpc>
            <a:spcBef>
              <a:spcPct val="0"/>
            </a:spcBef>
            <a:spcAft>
              <a:spcPct val="15000"/>
            </a:spcAft>
            <a:buChar char="•"/>
          </a:pPr>
          <a:r>
            <a:rPr lang="en-US" sz="1400" kern="1200" dirty="0"/>
            <a:t>62 Columns</a:t>
          </a:r>
        </a:p>
        <a:p>
          <a:pPr marL="114300" lvl="1" indent="-114300" algn="l" defTabSz="622300">
            <a:lnSpc>
              <a:spcPct val="150000"/>
            </a:lnSpc>
            <a:spcBef>
              <a:spcPct val="0"/>
            </a:spcBef>
            <a:spcAft>
              <a:spcPct val="15000"/>
            </a:spcAft>
            <a:buChar char="•"/>
          </a:pPr>
          <a:r>
            <a:rPr lang="en-US" sz="1400" b="1" kern="1200" dirty="0"/>
            <a:t>Anonymization</a:t>
          </a:r>
        </a:p>
        <a:p>
          <a:pPr marL="228600" lvl="2" indent="-114300" algn="l" defTabSz="622300">
            <a:lnSpc>
              <a:spcPct val="90000"/>
            </a:lnSpc>
            <a:spcBef>
              <a:spcPct val="0"/>
            </a:spcBef>
            <a:spcAft>
              <a:spcPct val="15000"/>
            </a:spcAft>
            <a:buChar char="•"/>
          </a:pPr>
          <a:r>
            <a:rPr lang="en-US" sz="1400" kern="1200" dirty="0"/>
            <a:t>Customer Name</a:t>
          </a:r>
        </a:p>
        <a:p>
          <a:pPr marL="228600" lvl="2" indent="-114300" algn="l" defTabSz="622300">
            <a:lnSpc>
              <a:spcPct val="90000"/>
            </a:lnSpc>
            <a:spcBef>
              <a:spcPct val="0"/>
            </a:spcBef>
            <a:spcAft>
              <a:spcPct val="15000"/>
            </a:spcAft>
            <a:buChar char="•"/>
          </a:pPr>
          <a:r>
            <a:rPr lang="en-US" sz="1400" kern="1200"/>
            <a:t>Account Number</a:t>
          </a:r>
          <a:endParaRPr lang="en-US" sz="1400" kern="1200" dirty="0"/>
        </a:p>
        <a:p>
          <a:pPr marL="228600" lvl="2" indent="-114300" algn="l" defTabSz="622300">
            <a:lnSpc>
              <a:spcPct val="90000"/>
            </a:lnSpc>
            <a:spcBef>
              <a:spcPct val="0"/>
            </a:spcBef>
            <a:spcAft>
              <a:spcPct val="15000"/>
            </a:spcAft>
            <a:buChar char="•"/>
          </a:pPr>
          <a:r>
            <a:rPr lang="en-US" sz="1400" kern="1200"/>
            <a:t>Officer</a:t>
          </a:r>
          <a:endParaRPr lang="en-US" sz="1400" kern="1200" dirty="0"/>
        </a:p>
        <a:p>
          <a:pPr marL="228600" lvl="2" indent="-114300" algn="l" defTabSz="622300">
            <a:lnSpc>
              <a:spcPct val="90000"/>
            </a:lnSpc>
            <a:spcBef>
              <a:spcPct val="0"/>
            </a:spcBef>
            <a:spcAft>
              <a:spcPct val="15000"/>
            </a:spcAft>
            <a:buChar char="•"/>
          </a:pPr>
          <a:r>
            <a:rPr lang="en-US" sz="1400" kern="1200"/>
            <a:t>Branch</a:t>
          </a:r>
          <a:endParaRPr lang="en-US" sz="1400" kern="1200" dirty="0"/>
        </a:p>
      </dsp:txBody>
      <dsp:txXfrm>
        <a:off x="8220788" y="719980"/>
        <a:ext cx="1775768" cy="3436879"/>
      </dsp:txXfrm>
    </dsp:sp>
    <dsp:sp modelId="{FE5C88B5-F48F-4698-8916-CA9ADF459CFA}">
      <dsp:nvSpPr>
        <dsp:cNvPr id="0" name=""/>
        <dsp:cNvSpPr/>
      </dsp:nvSpPr>
      <dsp:spPr>
        <a:xfrm>
          <a:off x="7864283" y="249395"/>
          <a:ext cx="713008" cy="713008"/>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76D4D3-FD51-41A9-ACF2-5D45477214D4}">
      <dsp:nvSpPr>
        <dsp:cNvPr id="0" name=""/>
        <dsp:cNvSpPr/>
      </dsp:nvSpPr>
      <dsp:spPr>
        <a:xfrm>
          <a:off x="0" y="238860"/>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Analysis reflects one point in time; no ability to observe trends or seasonality</a:t>
          </a:r>
        </a:p>
      </dsp:txBody>
      <dsp:txXfrm>
        <a:off x="0" y="238860"/>
        <a:ext cx="10058399" cy="510300"/>
      </dsp:txXfrm>
    </dsp:sp>
    <dsp:sp modelId="{DFFD6AE3-63F9-4A75-9A83-8CD64FEF6653}">
      <dsp:nvSpPr>
        <dsp:cNvPr id="0" name=""/>
        <dsp:cNvSpPr/>
      </dsp:nvSpPr>
      <dsp:spPr>
        <a:xfrm>
          <a:off x="502920" y="61740"/>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Single Point Data</a:t>
          </a:r>
        </a:p>
      </dsp:txBody>
      <dsp:txXfrm>
        <a:off x="520213" y="79033"/>
        <a:ext cx="7006294" cy="319654"/>
      </dsp:txXfrm>
    </dsp:sp>
    <dsp:sp modelId="{52AD7150-A92C-448C-8C59-ACF41DF4DBEF}">
      <dsp:nvSpPr>
        <dsp:cNvPr id="0" name=""/>
        <dsp:cNvSpPr/>
      </dsp:nvSpPr>
      <dsp:spPr>
        <a:xfrm>
          <a:off x="0" y="991080"/>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Unable to validate changes, updates, or corrections made after data extraction</a:t>
          </a:r>
        </a:p>
      </dsp:txBody>
      <dsp:txXfrm>
        <a:off x="0" y="991080"/>
        <a:ext cx="10058399" cy="510300"/>
      </dsp:txXfrm>
    </dsp:sp>
    <dsp:sp modelId="{EC48E45D-40E5-4322-928D-34AE42A1FB29}">
      <dsp:nvSpPr>
        <dsp:cNvPr id="0" name=""/>
        <dsp:cNvSpPr/>
      </dsp:nvSpPr>
      <dsp:spPr>
        <a:xfrm>
          <a:off x="502920" y="813960"/>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No Recurring System Access</a:t>
          </a:r>
        </a:p>
      </dsp:txBody>
      <dsp:txXfrm>
        <a:off x="520213" y="831253"/>
        <a:ext cx="7006294" cy="319654"/>
      </dsp:txXfrm>
    </dsp:sp>
    <dsp:sp modelId="{AD5BDF91-8551-41E1-97BD-40666B8269F7}">
      <dsp:nvSpPr>
        <dsp:cNvPr id="0" name=""/>
        <dsp:cNvSpPr/>
      </dsp:nvSpPr>
      <dsp:spPr>
        <a:xfrm>
          <a:off x="0" y="1743300"/>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a:t>Cannot measure borrower activity patterns, deposit volatility, or payment consistency over time</a:t>
          </a:r>
          <a:endParaRPr lang="en-US" sz="1200" kern="1200" dirty="0"/>
        </a:p>
      </dsp:txBody>
      <dsp:txXfrm>
        <a:off x="0" y="1743300"/>
        <a:ext cx="10058399" cy="510300"/>
      </dsp:txXfrm>
    </dsp:sp>
    <dsp:sp modelId="{540BBDBE-7E50-4476-B4EF-FADBB0B480DC}">
      <dsp:nvSpPr>
        <dsp:cNvPr id="0" name=""/>
        <dsp:cNvSpPr/>
      </dsp:nvSpPr>
      <dsp:spPr>
        <a:xfrm>
          <a:off x="502920" y="1566180"/>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Limited Behavioral System Access</a:t>
          </a:r>
        </a:p>
      </dsp:txBody>
      <dsp:txXfrm>
        <a:off x="520213" y="1583473"/>
        <a:ext cx="7006294" cy="319654"/>
      </dsp:txXfrm>
    </dsp:sp>
    <dsp:sp modelId="{B6C418B4-489E-4A1C-9A4C-37860C0D3146}">
      <dsp:nvSpPr>
        <dsp:cNvPr id="0" name=""/>
        <dsp:cNvSpPr/>
      </dsp:nvSpPr>
      <dsp:spPr>
        <a:xfrm>
          <a:off x="0" y="2495519"/>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a:t>Risk grades, collateral values, and exceptions cannot be trended or monitored for movement</a:t>
          </a:r>
          <a:endParaRPr lang="en-US" sz="1200" kern="1200" dirty="0"/>
        </a:p>
      </dsp:txBody>
      <dsp:txXfrm>
        <a:off x="0" y="2495519"/>
        <a:ext cx="10058399" cy="510300"/>
      </dsp:txXfrm>
    </dsp:sp>
    <dsp:sp modelId="{930B4F9A-C759-41AD-B2E6-2B460FC66676}">
      <dsp:nvSpPr>
        <dsp:cNvPr id="0" name=""/>
        <dsp:cNvSpPr/>
      </dsp:nvSpPr>
      <dsp:spPr>
        <a:xfrm>
          <a:off x="502920" y="2318400"/>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Static Credit Indicators</a:t>
          </a:r>
        </a:p>
      </dsp:txBody>
      <dsp:txXfrm>
        <a:off x="520213" y="2335693"/>
        <a:ext cx="7006294" cy="319654"/>
      </dsp:txXfrm>
    </dsp:sp>
    <dsp:sp modelId="{951C1DB1-76AE-4BC6-8AA2-1231256EF149}">
      <dsp:nvSpPr>
        <dsp:cNvPr id="0" name=""/>
        <dsp:cNvSpPr/>
      </dsp:nvSpPr>
      <dsp:spPr>
        <a:xfrm>
          <a:off x="0" y="3247740"/>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t>Fee income, treasury usage, and yield contribution cannot be evaluated longitudinally</a:t>
          </a:r>
        </a:p>
      </dsp:txBody>
      <dsp:txXfrm>
        <a:off x="0" y="3247740"/>
        <a:ext cx="10058399" cy="510300"/>
      </dsp:txXfrm>
    </dsp:sp>
    <dsp:sp modelId="{652659EB-4AE8-4ACC-A5FB-9F8FD933F9D3}">
      <dsp:nvSpPr>
        <dsp:cNvPr id="0" name=""/>
        <dsp:cNvSpPr/>
      </dsp:nvSpPr>
      <dsp:spPr>
        <a:xfrm>
          <a:off x="502920" y="3070619"/>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Incomplete </a:t>
          </a:r>
          <a:r>
            <a:rPr lang="en-US" sz="1400" kern="1200" dirty="0" err="1"/>
            <a:t>Profitabillity</a:t>
          </a:r>
          <a:r>
            <a:rPr lang="en-US" sz="1400" kern="1200" dirty="0"/>
            <a:t> Picture</a:t>
          </a:r>
        </a:p>
      </dsp:txBody>
      <dsp:txXfrm>
        <a:off x="520213" y="3087912"/>
        <a:ext cx="7006294" cy="319654"/>
      </dsp:txXfrm>
    </dsp:sp>
    <dsp:sp modelId="{9A121D28-738D-44D9-9E68-A94258F7C32D}">
      <dsp:nvSpPr>
        <dsp:cNvPr id="0" name=""/>
        <dsp:cNvSpPr/>
      </dsp:nvSpPr>
      <dsp:spPr>
        <a:xfrm>
          <a:off x="0" y="3999959"/>
          <a:ext cx="10058399" cy="5103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49936" rIns="7806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a:t>Snapshot limits the ability to assess emerging concentrations or shifts in portfolio mix</a:t>
          </a:r>
          <a:endParaRPr lang="en-US" sz="1200" kern="1200" dirty="0"/>
        </a:p>
      </dsp:txBody>
      <dsp:txXfrm>
        <a:off x="0" y="3999959"/>
        <a:ext cx="10058399" cy="510300"/>
      </dsp:txXfrm>
    </dsp:sp>
    <dsp:sp modelId="{57BFD8FB-640B-47BB-ACDF-2D89C473007C}">
      <dsp:nvSpPr>
        <dsp:cNvPr id="0" name=""/>
        <dsp:cNvSpPr/>
      </dsp:nvSpPr>
      <dsp:spPr>
        <a:xfrm>
          <a:off x="502920" y="3822840"/>
          <a:ext cx="7040880" cy="3542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US" sz="1400" kern="1200" dirty="0"/>
            <a:t>Concentration Exposure Boundaries</a:t>
          </a:r>
        </a:p>
      </dsp:txBody>
      <dsp:txXfrm>
        <a:off x="520213" y="3840133"/>
        <a:ext cx="7006294" cy="31965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24/3/layout/BulletTimelineDefaultVariant">
  <dgm:title val="Bullet Timeline"/>
  <dgm:desc val="Displays bulleted events in chronological order. Each event should have a date or name up to medium length and the option to add a description that can be medium or a bit longer in length."/>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270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78"/>
                        <dgm:constr type="b" for="ch" forName="L2TextContainer1" refType="h" fact="0.5"/>
                        <dgm:constr type="w" for="ch" forName="L1TextContainer1" refType="w" fact="0.83"/>
                        <dgm:constr type="l" for="ch" forName="L1TextContainer1" refType="r" refFor="ch" refForName="DropPinPlaceHolder1"/>
                        <dgm:constr type="b" for="ch" forName="L1TextContainer1" refType="h" fact="0.178"/>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8"/>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t" for="ch" forName="L1TextContainer1" refType="h" fact="0.55"/>
                        <dgm:constr type="b" for="ch" forName="L1TextContainer1" refType="h" fact="0.728"/>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72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fact="0.89"/>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78"/>
                        <dgm:constr type="b" for="ch" forName="L2TextContainer1" refType="h" fact="0.5"/>
                        <dgm:constr type="w" for="ch" forName="L1TextContainer1" refType="w" fact="0.83"/>
                        <dgm:constr type="l" for="ch" forName="L1TextContainer1" refType="r" refFor="ch" refForName="DropPinPlaceHolder1"/>
                        <dgm:constr type="b" for="ch" forName="L1TextContainer1" refType="h" fact="0.178"/>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8"/>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t" for="ch" forName="L1TextContainer1" refType="h" fact="0.55"/>
                        <dgm:constr type="b" for="ch" forName="L1TextContainer1" refType="h" fact="0.728"/>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72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fact="0.89"/>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4"/>
                  <dgm:constr type="h" for="ch" forName="Ellipse1" refType="w" refFor="ch" refForName="DropPin1" fact="0.4"/>
                  <dgm:constr type="ctrX" for="ch" forName="Ellipse1" refType="ctrX" refFor="ch" refForName="DropPin1"/>
                  <dgm:constr type="ctrY" for="ch" forName="Ellipse1" refType="ctrY" refFor="ch" refForName="DropPin1"/>
                </dgm:constrLst>
                <dgm:layoutNode name="DropPin1" styleLbl="revTx">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node2"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5" fact="NaN" max="NaN"/>
                </dgm:ruleLst>
              </dgm:layoutNode>
              <dgm:layoutNode name="ConnectLine1" styleLbl="sibTrans1D1">
                <dgm:alg type="sp"/>
                <dgm:shape xmlns:r="http://schemas.openxmlformats.org/officeDocument/2006/relationships" type="line" r:blip="">
                  <dgm:adj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78"/>
                        <dgm:constr type="b" for="ch" forName="L2TextContainer" refType="h" fact="0.5"/>
                        <dgm:constr type="w" for="ch" forName="L1TextContainer" refType="w" fact="0.83"/>
                        <dgm:constr type="l" for="ch" forName="L1TextContainer" refType="r" refFor="ch" refForName="DropPinPlaceHolder"/>
                        <dgm:constr type="b" for="ch" forName="L1TextContainer" refType="h" fact="0.178"/>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fact="0.8"/>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t" for="ch" forName="L1TextContainer" refType="h" fact="0.55"/>
                        <dgm:constr type="b" for="ch" forName="L1TextContainer" refType="h" fact="0.728"/>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72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fact="0.89"/>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78"/>
                        <dgm:constr type="b" for="ch" forName="L2TextContainer" refType="h" fact="0.5"/>
                        <dgm:constr type="w" for="ch" forName="L1TextContainer" refType="w" fact="0.83"/>
                        <dgm:constr type="l" for="ch" forName="L1TextContainer" refType="r" refFor="ch" refForName="DropPinPlaceHolder"/>
                        <dgm:constr type="b" for="ch" forName="L1TextContainer" refType="h" fact="0.178"/>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fact="0.8"/>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t" for="ch" forName="L1TextContainer" refType="h" fact="0.55"/>
                        <dgm:constr type="b" for="ch" forName="L1TextContainer" refType="h" fact="0.728"/>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72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fact="0.89"/>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4"/>
                  <dgm:constr type="h" for="ch" forName="Ellipse" refType="w" refFor="ch" refForName="DropPin" fact="0.4"/>
                  <dgm:constr type="ctrX" for="ch" forName="Ellipse" refType="ctrX" refFor="ch" refForName="DropPin"/>
                  <dgm:constr type="ctrY" for="ch" forName="Ellipse" refType="ctrY" refFor="ch" refForName="DropPin"/>
                </dgm:constrLst>
                <dgm:layoutNode name="DropPin" styleLbl="revTx">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node2"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5" fact="NaN" max="NaN"/>
                </dgm:ruleLst>
              </dgm:layoutNode>
              <dgm:layoutNode name="ConnectLine" styleLbl="sibTrans1D1">
                <dgm:alg type="sp"/>
                <dgm:shape xmlns:r="http://schemas.openxmlformats.org/officeDocument/2006/relationships" type="line" r:blip="">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FDA876-B6C5-4CAD-BF39-3264EF24F63D}" type="datetimeFigureOut">
              <a:rPr lang="en-US" smtClean="0"/>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6B3749-3DD0-4FEA-A700-EA3B183B0AC3}" type="slidenum">
              <a:rPr lang="en-US" smtClean="0"/>
              <a:t>‹#›</a:t>
            </a:fld>
            <a:endParaRPr lang="en-US"/>
          </a:p>
        </p:txBody>
      </p:sp>
    </p:spTree>
    <p:extLst>
      <p:ext uri="{BB962C8B-B14F-4D97-AF65-F5344CB8AC3E}">
        <p14:creationId xmlns:p14="http://schemas.microsoft.com/office/powerpoint/2010/main" val="3024972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i="0" dirty="0"/>
              <a:t>Hello, my name is Stephanie Dues, and today I’m sharing The Architecture of a Healthy Portfolio: Turning Raw Bank Data into Executive‑Ready Insight. I work for a mid‑sized community commercial lending bank in Oregon, and I’m building an analytical framework our institution can rely on as we move toward a more data‑driven model. For this project, I used single‑point, anonymized operational data to show how raw system extracts can be shaped into meaningful, decision‑ready intelligence.</a:t>
            </a:r>
            <a:endParaRPr lang="en-US" sz="1600" b="0" i="0" dirty="0"/>
          </a:p>
        </p:txBody>
      </p:sp>
      <p:sp>
        <p:nvSpPr>
          <p:cNvPr id="4" name="Slide Number Placeholder 3"/>
          <p:cNvSpPr>
            <a:spLocks noGrp="1"/>
          </p:cNvSpPr>
          <p:nvPr>
            <p:ph type="sldNum" sz="quarter" idx="5"/>
          </p:nvPr>
        </p:nvSpPr>
        <p:spPr/>
        <p:txBody>
          <a:bodyPr/>
          <a:lstStyle/>
          <a:p>
            <a:fld id="{256B3749-3DD0-4FEA-A700-EA3B183B0AC3}" type="slidenum">
              <a:rPr lang="en-US" smtClean="0"/>
              <a:t>1</a:t>
            </a:fld>
            <a:endParaRPr lang="en-US"/>
          </a:p>
        </p:txBody>
      </p:sp>
    </p:spTree>
    <p:extLst>
      <p:ext uri="{BB962C8B-B14F-4D97-AF65-F5344CB8AC3E}">
        <p14:creationId xmlns:p14="http://schemas.microsoft.com/office/powerpoint/2010/main" val="3117541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this work is simple: to create a scalable, reliable way to assess portfolio health using the data we already have. What I’ll walk through are the things that can be measured confidently today, where our current data limits deeper analysis, and how this framework lays the groundwork for a modern reporting structure that can grow with the bank’s needs.</a:t>
            </a:r>
          </a:p>
        </p:txBody>
      </p:sp>
      <p:sp>
        <p:nvSpPr>
          <p:cNvPr id="4" name="Slide Number Placeholder 3"/>
          <p:cNvSpPr>
            <a:spLocks noGrp="1"/>
          </p:cNvSpPr>
          <p:nvPr>
            <p:ph type="sldNum" sz="quarter" idx="5"/>
          </p:nvPr>
        </p:nvSpPr>
        <p:spPr/>
        <p:txBody>
          <a:bodyPr/>
          <a:lstStyle/>
          <a:p>
            <a:fld id="{256B3749-3DD0-4FEA-A700-EA3B183B0AC3}" type="slidenum">
              <a:rPr lang="en-US" smtClean="0"/>
              <a:t>2</a:t>
            </a:fld>
            <a:endParaRPr lang="en-US"/>
          </a:p>
        </p:txBody>
      </p:sp>
    </p:spTree>
    <p:extLst>
      <p:ext uri="{BB962C8B-B14F-4D97-AF65-F5344CB8AC3E}">
        <p14:creationId xmlns:p14="http://schemas.microsoft.com/office/powerpoint/2010/main" val="21110973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6CB15-06BA-27F5-F381-E170C1EF3F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417A1-A834-28B8-F23C-B856B7DE14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A849EF-7DD0-36D3-7346-ECD7D6D0FF70}"/>
              </a:ext>
            </a:extLst>
          </p:cNvPr>
          <p:cNvSpPr>
            <a:spLocks noGrp="1"/>
          </p:cNvSpPr>
          <p:nvPr>
            <p:ph type="body" idx="1"/>
          </p:nvPr>
        </p:nvSpPr>
        <p:spPr/>
        <p:txBody>
          <a:bodyPr/>
          <a:lstStyle/>
          <a:p>
            <a:r>
              <a:rPr lang="en-US" dirty="0"/>
              <a:t>When we think of a healthy portfolio we look for one that shows balance, resilience, and long‑term stability. You find that in diversified credit exposure, a balanced product and collateral mix, consistent credit quality, and low delinquency. You also see it in a stable deposit base, sustainable relationship profitability, and predictable cash‑flow behavior. When these elements work together, they tell us not only how the portfolio is performing right now, but how well it’s positioned to stay stable as conditions shift.</a:t>
            </a:r>
          </a:p>
        </p:txBody>
      </p:sp>
      <p:sp>
        <p:nvSpPr>
          <p:cNvPr id="4" name="Slide Number Placeholder 3">
            <a:extLst>
              <a:ext uri="{FF2B5EF4-FFF2-40B4-BE49-F238E27FC236}">
                <a16:creationId xmlns:a16="http://schemas.microsoft.com/office/drawing/2014/main" id="{48E57F5D-E262-ACB4-3FE3-BBD7A52C053E}"/>
              </a:ext>
            </a:extLst>
          </p:cNvPr>
          <p:cNvSpPr>
            <a:spLocks noGrp="1"/>
          </p:cNvSpPr>
          <p:nvPr>
            <p:ph type="sldNum" sz="quarter" idx="5"/>
          </p:nvPr>
        </p:nvSpPr>
        <p:spPr/>
        <p:txBody>
          <a:bodyPr/>
          <a:lstStyle/>
          <a:p>
            <a:fld id="{256B3749-3DD0-4FEA-A700-EA3B183B0AC3}" type="slidenum">
              <a:rPr lang="en-US" smtClean="0"/>
              <a:t>3</a:t>
            </a:fld>
            <a:endParaRPr lang="en-US"/>
          </a:p>
        </p:txBody>
      </p:sp>
    </p:spTree>
    <p:extLst>
      <p:ext uri="{BB962C8B-B14F-4D97-AF65-F5344CB8AC3E}">
        <p14:creationId xmlns:p14="http://schemas.microsoft.com/office/powerpoint/2010/main" val="1790703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portfolio health always comes back to the strength of each individual relationship. At that level, we look for alignment between deposits and loans, stable risk ratings, and profitability that meets expectations. Beyond the numbers, healthy relationships also show clean payment behavior, active engagement, and transparent communication. When these qualities are present, they signal borrowers who are reliable, responsive, and set up for long‑term success with the bank.</a:t>
            </a:r>
          </a:p>
          <a:p>
            <a:endParaRPr lang="en-US" dirty="0"/>
          </a:p>
        </p:txBody>
      </p:sp>
      <p:sp>
        <p:nvSpPr>
          <p:cNvPr id="4" name="Slide Number Placeholder 3"/>
          <p:cNvSpPr>
            <a:spLocks noGrp="1"/>
          </p:cNvSpPr>
          <p:nvPr>
            <p:ph type="sldNum" sz="quarter" idx="5"/>
          </p:nvPr>
        </p:nvSpPr>
        <p:spPr/>
        <p:txBody>
          <a:bodyPr/>
          <a:lstStyle/>
          <a:p>
            <a:fld id="{256B3749-3DD0-4FEA-A700-EA3B183B0AC3}" type="slidenum">
              <a:rPr lang="en-US" smtClean="0"/>
              <a:t>4</a:t>
            </a:fld>
            <a:endParaRPr lang="en-US"/>
          </a:p>
        </p:txBody>
      </p:sp>
    </p:spTree>
    <p:extLst>
      <p:ext uri="{BB962C8B-B14F-4D97-AF65-F5344CB8AC3E}">
        <p14:creationId xmlns:p14="http://schemas.microsoft.com/office/powerpoint/2010/main" val="2695157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support this analysis, I started by defining a clear approach for how each metric would be evaluated. All data was pulled as single‑point extracts from the live core system, where it was first checked for accuracy and consistency. After extraction, I standardized the data, cleaned it, and anonymized every identifying field—first through formula‑based processes, and then through manual review for anything that couldn’t be anonymized automatically. After that, all extracted reports were used to create a database to be queried against.</a:t>
            </a:r>
            <a:endParaRPr lang="en-US" b="0" dirty="0"/>
          </a:p>
        </p:txBody>
      </p:sp>
      <p:sp>
        <p:nvSpPr>
          <p:cNvPr id="4" name="Slide Number Placeholder 3"/>
          <p:cNvSpPr>
            <a:spLocks noGrp="1"/>
          </p:cNvSpPr>
          <p:nvPr>
            <p:ph type="sldNum" sz="quarter" idx="5"/>
          </p:nvPr>
        </p:nvSpPr>
        <p:spPr/>
        <p:txBody>
          <a:bodyPr/>
          <a:lstStyle/>
          <a:p>
            <a:fld id="{256B3749-3DD0-4FEA-A700-EA3B183B0AC3}" type="slidenum">
              <a:rPr lang="en-US" smtClean="0"/>
              <a:t>5</a:t>
            </a:fld>
            <a:endParaRPr lang="en-US"/>
          </a:p>
        </p:txBody>
      </p:sp>
    </p:spTree>
    <p:extLst>
      <p:ext uri="{BB962C8B-B14F-4D97-AF65-F5344CB8AC3E}">
        <p14:creationId xmlns:p14="http://schemas.microsoft.com/office/powerpoint/2010/main" val="1507897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Four reports formed the foundation of the dataset: the Customer Information Report, which anchored the anonymization; the Collateral Report; the Loan Portfolio Report, which was reduced by more than a thousand rows which represented closed loans that were not used in this analysis; and the Deposit Portfolio Report. Together, these created a clean, unified dataset for analysis. This analysis was completed completely in a SQLite data base and visualizations were created through Python</a:t>
            </a:r>
          </a:p>
        </p:txBody>
      </p:sp>
      <p:sp>
        <p:nvSpPr>
          <p:cNvPr id="4" name="Slide Number Placeholder 3"/>
          <p:cNvSpPr>
            <a:spLocks noGrp="1"/>
          </p:cNvSpPr>
          <p:nvPr>
            <p:ph type="sldNum" sz="quarter" idx="5"/>
          </p:nvPr>
        </p:nvSpPr>
        <p:spPr/>
        <p:txBody>
          <a:bodyPr/>
          <a:lstStyle/>
          <a:p>
            <a:fld id="{256B3749-3DD0-4FEA-A700-EA3B183B0AC3}" type="slidenum">
              <a:rPr lang="en-US" smtClean="0"/>
              <a:t>6</a:t>
            </a:fld>
            <a:endParaRPr lang="en-US"/>
          </a:p>
        </p:txBody>
      </p:sp>
    </p:spTree>
    <p:extLst>
      <p:ext uri="{BB962C8B-B14F-4D97-AF65-F5344CB8AC3E}">
        <p14:creationId xmlns:p14="http://schemas.microsoft.com/office/powerpoint/2010/main" val="1776107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this data is based on a single snapshot, we can evaluate the portfolio at one moment in time, but we can’t observe trends or seasonality. Without recurring system access, we cannot validate updates or corrections, and have a limited visibility into borrower behavior, deposit volatility, or payment consistency. These limitations define what we can measure today and highlight the need for time‑lapse data to support future modeling.</a:t>
            </a:r>
          </a:p>
        </p:txBody>
      </p:sp>
      <p:sp>
        <p:nvSpPr>
          <p:cNvPr id="4" name="Slide Number Placeholder 3"/>
          <p:cNvSpPr>
            <a:spLocks noGrp="1"/>
          </p:cNvSpPr>
          <p:nvPr>
            <p:ph type="sldNum" sz="quarter" idx="5"/>
          </p:nvPr>
        </p:nvSpPr>
        <p:spPr/>
        <p:txBody>
          <a:bodyPr/>
          <a:lstStyle/>
          <a:p>
            <a:fld id="{256B3749-3DD0-4FEA-A700-EA3B183B0AC3}" type="slidenum">
              <a:rPr lang="en-US" smtClean="0"/>
              <a:t>7</a:t>
            </a:fld>
            <a:endParaRPr lang="en-US"/>
          </a:p>
        </p:txBody>
      </p:sp>
    </p:spTree>
    <p:extLst>
      <p:ext uri="{BB962C8B-B14F-4D97-AF65-F5344CB8AC3E}">
        <p14:creationId xmlns:p14="http://schemas.microsoft.com/office/powerpoint/2010/main" val="3422552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dirty="0">
                <a:effectLst/>
                <a:latin typeface="+mj-lt"/>
              </a:rPr>
              <a:t>Portfolio composition is central to understanding the health of any financial institution. At its core, it’s the balance between assets and liabilities within each customer relationship. To make that assessment we look at the direction money flows. Assets are accounts that generate income for the bank. When we lend money, the principal we commit—our </a:t>
            </a:r>
            <a:r>
              <a:rPr lang="en-US" sz="1800" b="0" i="1" dirty="0">
                <a:effectLst/>
                <a:latin typeface="+mj-lt"/>
              </a:rPr>
              <a:t>exposure</a:t>
            </a:r>
            <a:r>
              <a:rPr lang="en-US" sz="1800" b="0" dirty="0">
                <a:effectLst/>
                <a:latin typeface="+mj-lt"/>
              </a:rPr>
              <a:t>—is money out the door, and it carries the possibility of not being returned. The interest a borrower pays each month, and any fees associated with open accounts, however, are income and therefore an asset. Liabilities, on the other hand, are accounts that cost the bank money. Deposits held with us require the bank to pay interest back to the customer, which creates an outgoing expense. Understanding this mix—how much we’ve put at risk versus how much we’re paying out—is essential to evaluating the strength of the portfolio and the overall risk posture of the institution.</a:t>
            </a:r>
            <a:endParaRPr lang="en-US" sz="1800" b="0" dirty="0">
              <a:latin typeface="+mj-lt"/>
            </a:endParaRPr>
          </a:p>
        </p:txBody>
      </p:sp>
      <p:sp>
        <p:nvSpPr>
          <p:cNvPr id="4" name="Slide Number Placeholder 3"/>
          <p:cNvSpPr>
            <a:spLocks noGrp="1"/>
          </p:cNvSpPr>
          <p:nvPr>
            <p:ph type="sldNum" sz="quarter" idx="5"/>
          </p:nvPr>
        </p:nvSpPr>
        <p:spPr/>
        <p:txBody>
          <a:bodyPr/>
          <a:lstStyle/>
          <a:p>
            <a:fld id="{256B3749-3DD0-4FEA-A700-EA3B183B0AC3}" type="slidenum">
              <a:rPr lang="en-US" smtClean="0"/>
              <a:t>8</a:t>
            </a:fld>
            <a:endParaRPr lang="en-US"/>
          </a:p>
        </p:txBody>
      </p:sp>
    </p:spTree>
    <p:extLst>
      <p:ext uri="{BB962C8B-B14F-4D97-AF65-F5344CB8AC3E}">
        <p14:creationId xmlns:p14="http://schemas.microsoft.com/office/powerpoint/2010/main" val="32230982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the institution is managing more than twelve hundred active loans totaling about six hundred seventy‑six million dollars in exposure. The mix spans agriculture, commercial and industrial, consumer, and real estate lending, which helps stabilize earnings and reduce concentration risk. On the deposit side, nearly twelve thousand accounts hold roughly four hundred eighty‑five million dollars. These deposits form the funding base that allows us to lend and directly influence our cost of funds. Together, these two sides give us the foundation for evaluating long‑term sustainability.</a:t>
            </a:r>
            <a:endParaRPr lang="en-US" b="0" dirty="0"/>
          </a:p>
        </p:txBody>
      </p:sp>
      <p:sp>
        <p:nvSpPr>
          <p:cNvPr id="4" name="Slide Number Placeholder 3"/>
          <p:cNvSpPr>
            <a:spLocks noGrp="1"/>
          </p:cNvSpPr>
          <p:nvPr>
            <p:ph type="sldNum" sz="quarter" idx="5"/>
          </p:nvPr>
        </p:nvSpPr>
        <p:spPr/>
        <p:txBody>
          <a:bodyPr/>
          <a:lstStyle/>
          <a:p>
            <a:fld id="{256B3749-3DD0-4FEA-A700-EA3B183B0AC3}" type="slidenum">
              <a:rPr lang="en-US" smtClean="0"/>
              <a:t>9</a:t>
            </a:fld>
            <a:endParaRPr lang="en-US"/>
          </a:p>
        </p:txBody>
      </p:sp>
    </p:spTree>
    <p:extLst>
      <p:ext uri="{BB962C8B-B14F-4D97-AF65-F5344CB8AC3E}">
        <p14:creationId xmlns:p14="http://schemas.microsoft.com/office/powerpoint/2010/main" val="2820205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During a portfolio review, assessing the borrower’s risk profile and the strength of their overall relationship with the bank is essential, because it tells us how much risk the institution carries on any given customer and how that exposure aligns with our broader stability goals. Excessive exposure to a high‑risk borrower increases the likelihood of losses and weakens portfolio resilience, so understanding where each relationship sits on the spectrum matters. In this dataset, the risk distribution forms a rough bell curve centered in the Acceptable Quality grades, which is generally a sign of a healthy portfolio. A small number of loans lack assigned risk ratings and need follow‑up, high‑quality loans make up only a very small portion of exposure, and poor‑quality loans represent less than two percent. The overwhelming majority sits in the middle, indicating a portfolio anchored in stable, moderate‑risk lending with limited exposure at the extremes.</a:t>
            </a:r>
          </a:p>
        </p:txBody>
      </p:sp>
      <p:sp>
        <p:nvSpPr>
          <p:cNvPr id="4" name="Slide Number Placeholder 3"/>
          <p:cNvSpPr>
            <a:spLocks noGrp="1"/>
          </p:cNvSpPr>
          <p:nvPr>
            <p:ph type="sldNum" sz="quarter" idx="5"/>
          </p:nvPr>
        </p:nvSpPr>
        <p:spPr/>
        <p:txBody>
          <a:bodyPr/>
          <a:lstStyle/>
          <a:p>
            <a:fld id="{256B3749-3DD0-4FEA-A700-EA3B183B0AC3}" type="slidenum">
              <a:rPr lang="en-US" smtClean="0"/>
              <a:t>10</a:t>
            </a:fld>
            <a:endParaRPr lang="en-US"/>
          </a:p>
        </p:txBody>
      </p:sp>
    </p:spTree>
    <p:extLst>
      <p:ext uri="{BB962C8B-B14F-4D97-AF65-F5344CB8AC3E}">
        <p14:creationId xmlns:p14="http://schemas.microsoft.com/office/powerpoint/2010/main" val="2077370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C1B8B-193E-7412-50C2-50F66A2FBD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332C6-5517-DF43-1314-E0E7B8D8B9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0EE185-B61E-7B37-C6CA-CD8E83C40574}"/>
              </a:ext>
            </a:extLst>
          </p:cNvPr>
          <p:cNvSpPr>
            <a:spLocks noGrp="1"/>
          </p:cNvSpPr>
          <p:nvPr>
            <p:ph type="body" idx="1"/>
          </p:nvPr>
        </p:nvSpPr>
        <p:spPr/>
        <p:txBody>
          <a:bodyPr/>
          <a:lstStyle/>
          <a:p>
            <a:r>
              <a:rPr lang="en-US" b="0" dirty="0"/>
              <a:t>In reviewing the lowest‑risk categories, we note 17 loans with no assigned risk rating, which warrants follow‑up to ensure accurate portfolio classification. However, among these loans that </a:t>
            </a:r>
            <a:r>
              <a:rPr lang="en-US" b="0" i="1" dirty="0"/>
              <a:t>are</a:t>
            </a:r>
            <a:r>
              <a:rPr lang="en-US" b="0" dirty="0"/>
              <a:t> properly rated within the High‑Quality / Low‑Risk range, there are 9 loans, representing 0.20% of total exposure at $1,625,613.57. If we were to include the loans that are not assigned a risk rating, there are 26 loans, representing 3.20% of total exposure in the amount of $1,645,913.57</a:t>
            </a:r>
          </a:p>
        </p:txBody>
      </p:sp>
      <p:sp>
        <p:nvSpPr>
          <p:cNvPr id="4" name="Slide Number Placeholder 3">
            <a:extLst>
              <a:ext uri="{FF2B5EF4-FFF2-40B4-BE49-F238E27FC236}">
                <a16:creationId xmlns:a16="http://schemas.microsoft.com/office/drawing/2014/main" id="{B9CBF2EB-75C7-7EA0-AFF1-DDAECFDD35F9}"/>
              </a:ext>
            </a:extLst>
          </p:cNvPr>
          <p:cNvSpPr>
            <a:spLocks noGrp="1"/>
          </p:cNvSpPr>
          <p:nvPr>
            <p:ph type="sldNum" sz="quarter" idx="5"/>
          </p:nvPr>
        </p:nvSpPr>
        <p:spPr/>
        <p:txBody>
          <a:bodyPr/>
          <a:lstStyle/>
          <a:p>
            <a:fld id="{256B3749-3DD0-4FEA-A700-EA3B183B0AC3}" type="slidenum">
              <a:rPr lang="en-US" smtClean="0"/>
              <a:t>11</a:t>
            </a:fld>
            <a:endParaRPr lang="en-US"/>
          </a:p>
        </p:txBody>
      </p:sp>
    </p:spTree>
    <p:extLst>
      <p:ext uri="{BB962C8B-B14F-4D97-AF65-F5344CB8AC3E}">
        <p14:creationId xmlns:p14="http://schemas.microsoft.com/office/powerpoint/2010/main" val="5877706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6AB36-A385-6FC5-22C6-FA6D700BCF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F71CE-D606-4631-DF0E-D88F33233B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C1F01E-A796-4AE3-5545-7641E9C7570E}"/>
              </a:ext>
            </a:extLst>
          </p:cNvPr>
          <p:cNvSpPr>
            <a:spLocks noGrp="1"/>
          </p:cNvSpPr>
          <p:nvPr>
            <p:ph type="body" idx="1"/>
          </p:nvPr>
        </p:nvSpPr>
        <p:spPr/>
        <p:txBody>
          <a:bodyPr/>
          <a:lstStyle/>
          <a:p>
            <a:r>
              <a:rPr lang="en-US" b="0" dirty="0"/>
              <a:t>Additionally, 24 loans fall within the Poor Quality range, representing 1.8% of total loan exposure in the amount of $12,026,930.33. </a:t>
            </a:r>
          </a:p>
        </p:txBody>
      </p:sp>
      <p:sp>
        <p:nvSpPr>
          <p:cNvPr id="4" name="Slide Number Placeholder 3">
            <a:extLst>
              <a:ext uri="{FF2B5EF4-FFF2-40B4-BE49-F238E27FC236}">
                <a16:creationId xmlns:a16="http://schemas.microsoft.com/office/drawing/2014/main" id="{1FAFD9E7-CF69-C599-38CA-88FF32A093E8}"/>
              </a:ext>
            </a:extLst>
          </p:cNvPr>
          <p:cNvSpPr>
            <a:spLocks noGrp="1"/>
          </p:cNvSpPr>
          <p:nvPr>
            <p:ph type="sldNum" sz="quarter" idx="5"/>
          </p:nvPr>
        </p:nvSpPr>
        <p:spPr/>
        <p:txBody>
          <a:bodyPr/>
          <a:lstStyle/>
          <a:p>
            <a:fld id="{256B3749-3DD0-4FEA-A700-EA3B183B0AC3}" type="slidenum">
              <a:rPr lang="en-US" smtClean="0"/>
              <a:t>12</a:t>
            </a:fld>
            <a:endParaRPr lang="en-US"/>
          </a:p>
        </p:txBody>
      </p:sp>
    </p:spTree>
    <p:extLst>
      <p:ext uri="{BB962C8B-B14F-4D97-AF65-F5344CB8AC3E}">
        <p14:creationId xmlns:p14="http://schemas.microsoft.com/office/powerpoint/2010/main" val="38470616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8BEB-7D8B-8ECA-2481-D6B17270AA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BD38AC-4458-C231-42BA-6E3F034714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726E2B-D825-3452-4922-7D7C732A13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In comparison, most of the lending portfolio is concentrated in the Acceptable Quality range, with 1,187 loans representing 95% of total exposure in the amount of $642,725,550.21. </a:t>
            </a:r>
            <a:r>
              <a:rPr lang="en-US" b="0" dirty="0">
                <a:effectLst/>
              </a:rPr>
              <a:t>Taken together, the distribution shows a portfolio anchored in mid‑range, Acceptable Quality risk grades, with limited exposure at the extremes and minimal concentration in Poor Quality loans</a:t>
            </a:r>
          </a:p>
        </p:txBody>
      </p:sp>
      <p:sp>
        <p:nvSpPr>
          <p:cNvPr id="4" name="Slide Number Placeholder 3">
            <a:extLst>
              <a:ext uri="{FF2B5EF4-FFF2-40B4-BE49-F238E27FC236}">
                <a16:creationId xmlns:a16="http://schemas.microsoft.com/office/drawing/2014/main" id="{FA7AD89F-E280-1563-985C-245CF2DB52A4}"/>
              </a:ext>
            </a:extLst>
          </p:cNvPr>
          <p:cNvSpPr>
            <a:spLocks noGrp="1"/>
          </p:cNvSpPr>
          <p:nvPr>
            <p:ph type="sldNum" sz="quarter" idx="5"/>
          </p:nvPr>
        </p:nvSpPr>
        <p:spPr/>
        <p:txBody>
          <a:bodyPr/>
          <a:lstStyle/>
          <a:p>
            <a:fld id="{256B3749-3DD0-4FEA-A700-EA3B183B0AC3}" type="slidenum">
              <a:rPr lang="en-US" smtClean="0"/>
              <a:t>13</a:t>
            </a:fld>
            <a:endParaRPr lang="en-US"/>
          </a:p>
        </p:txBody>
      </p:sp>
    </p:spTree>
    <p:extLst>
      <p:ext uri="{BB962C8B-B14F-4D97-AF65-F5344CB8AC3E}">
        <p14:creationId xmlns:p14="http://schemas.microsoft.com/office/powerpoint/2010/main" val="17264439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256B3749-3DD0-4FEA-A700-EA3B183B0AC3}" type="slidenum">
              <a:rPr lang="en-US" smtClean="0"/>
              <a:t>14</a:t>
            </a:fld>
            <a:endParaRPr lang="en-US"/>
          </a:p>
        </p:txBody>
      </p:sp>
    </p:spTree>
    <p:extLst>
      <p:ext uri="{BB962C8B-B14F-4D97-AF65-F5344CB8AC3E}">
        <p14:creationId xmlns:p14="http://schemas.microsoft.com/office/powerpoint/2010/main" val="26001135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BF77E-0615-327D-A26A-AD82149C34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053BF9-5A87-026D-510E-8A7F480440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CEB349-A0A4-8D33-C57F-9200F3671E74}"/>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4B98D51A-F3EA-B568-C2E6-7DCED3DCBC42}"/>
              </a:ext>
            </a:extLst>
          </p:cNvPr>
          <p:cNvSpPr>
            <a:spLocks noGrp="1"/>
          </p:cNvSpPr>
          <p:nvPr>
            <p:ph type="sldNum" sz="quarter" idx="5"/>
          </p:nvPr>
        </p:nvSpPr>
        <p:spPr/>
        <p:txBody>
          <a:bodyPr/>
          <a:lstStyle/>
          <a:p>
            <a:fld id="{256B3749-3DD0-4FEA-A700-EA3B183B0AC3}" type="slidenum">
              <a:rPr lang="en-US" smtClean="0"/>
              <a:t>16</a:t>
            </a:fld>
            <a:endParaRPr lang="en-US"/>
          </a:p>
        </p:txBody>
      </p:sp>
    </p:spTree>
    <p:extLst>
      <p:ext uri="{BB962C8B-B14F-4D97-AF65-F5344CB8AC3E}">
        <p14:creationId xmlns:p14="http://schemas.microsoft.com/office/powerpoint/2010/main" val="32592202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we look at total fees, not all fees are currently trackable based on the way data was extracted from the system. Looking at fees refunded on the deposit side, we see that we have increased our refunded deposit fee total year over year. This highlights a meaningful shift in customer activity. Last year, we refunded just over $5,000 in trackable total fees. Through the data pull date, that number has increased, across several types of fee types. </a:t>
            </a:r>
            <a:r>
              <a:rPr lang="en-US" dirty="0"/>
              <a:t>High refund activity can signal customer friction or opportunities to adjust fee structures, strengthen education, or refine account tools. </a:t>
            </a:r>
          </a:p>
        </p:txBody>
      </p:sp>
      <p:sp>
        <p:nvSpPr>
          <p:cNvPr id="4" name="Slide Number Placeholder 3"/>
          <p:cNvSpPr>
            <a:spLocks noGrp="1"/>
          </p:cNvSpPr>
          <p:nvPr>
            <p:ph type="sldNum" sz="quarter" idx="5"/>
          </p:nvPr>
        </p:nvSpPr>
        <p:spPr/>
        <p:txBody>
          <a:bodyPr/>
          <a:lstStyle/>
          <a:p>
            <a:fld id="{256B3749-3DD0-4FEA-A700-EA3B183B0AC3}" type="slidenum">
              <a:rPr lang="en-US" smtClean="0"/>
              <a:t>17</a:t>
            </a:fld>
            <a:endParaRPr lang="en-US"/>
          </a:p>
        </p:txBody>
      </p:sp>
    </p:spTree>
    <p:extLst>
      <p:ext uri="{BB962C8B-B14F-4D97-AF65-F5344CB8AC3E}">
        <p14:creationId xmlns:p14="http://schemas.microsoft.com/office/powerpoint/2010/main" val="7405793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 the loan side, there are several types of fees collected through the life of a loan, and together they help us understand where revenue is being generated and where customers may be running into challenges. So far this year, we’ve collected a roughly 7 thousand dollars in late charges, but we’ve also waived roughly half that amount in late charges as well. That balance between what’s paid and what’s refunded offers insight into how consistently borrowers are meeting their obligations and how often we’re stepping in with discretion. Overall, this snapshot helps us balance two priorities: maintaining fair, transparent fee practices while also protecting the institution’s revenue integrity.</a:t>
            </a:r>
            <a:endParaRPr lang="en-US" dirty="0"/>
          </a:p>
        </p:txBody>
      </p:sp>
      <p:sp>
        <p:nvSpPr>
          <p:cNvPr id="4" name="Slide Number Placeholder 3"/>
          <p:cNvSpPr>
            <a:spLocks noGrp="1"/>
          </p:cNvSpPr>
          <p:nvPr>
            <p:ph type="sldNum" sz="quarter" idx="5"/>
          </p:nvPr>
        </p:nvSpPr>
        <p:spPr/>
        <p:txBody>
          <a:bodyPr/>
          <a:lstStyle/>
          <a:p>
            <a:fld id="{256B3749-3DD0-4FEA-A700-EA3B183B0AC3}" type="slidenum">
              <a:rPr lang="en-US" smtClean="0"/>
              <a:t>18</a:t>
            </a:fld>
            <a:endParaRPr lang="en-US"/>
          </a:p>
        </p:txBody>
      </p:sp>
    </p:spTree>
    <p:extLst>
      <p:ext uri="{BB962C8B-B14F-4D97-AF65-F5344CB8AC3E}">
        <p14:creationId xmlns:p14="http://schemas.microsoft.com/office/powerpoint/2010/main" val="5505903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Looking at interest income and liability, the total interest accrued this year reflects the strength and stability of our earning assets. Conversely, last year’s interest paid to this year’s amount helps us understand how funding costs are shifting and how our balance‑sheet mix is evolving. Together, these figures show how effectively we’re managing both sides of the interest equation, balancing revenue generation with the cost of maintaining customer deposits and other funding sources.</a:t>
            </a:r>
          </a:p>
        </p:txBody>
      </p:sp>
      <p:sp>
        <p:nvSpPr>
          <p:cNvPr id="4" name="Slide Number Placeholder 3"/>
          <p:cNvSpPr>
            <a:spLocks noGrp="1"/>
          </p:cNvSpPr>
          <p:nvPr>
            <p:ph type="sldNum" sz="quarter" idx="5"/>
          </p:nvPr>
        </p:nvSpPr>
        <p:spPr/>
        <p:txBody>
          <a:bodyPr/>
          <a:lstStyle/>
          <a:p>
            <a:fld id="{256B3749-3DD0-4FEA-A700-EA3B183B0AC3}" type="slidenum">
              <a:rPr lang="en-US" smtClean="0"/>
              <a:t>19</a:t>
            </a:fld>
            <a:endParaRPr lang="en-US"/>
          </a:p>
        </p:txBody>
      </p:sp>
    </p:spTree>
    <p:extLst>
      <p:ext uri="{BB962C8B-B14F-4D97-AF65-F5344CB8AC3E}">
        <p14:creationId xmlns:p14="http://schemas.microsoft.com/office/powerpoint/2010/main" val="18209111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Clearly define objective. State findings for next steps or recommendations or insights</a:t>
            </a:r>
          </a:p>
          <a:p>
            <a:r>
              <a:rPr lang="en-US" dirty="0"/>
              <a:t>Solution oriented ending</a:t>
            </a:r>
          </a:p>
          <a:p>
            <a:endParaRPr lang="en-US" dirty="0"/>
          </a:p>
          <a:p>
            <a:r>
              <a:rPr lang="en-US" dirty="0"/>
              <a:t>End </a:t>
            </a:r>
            <a:r>
              <a:rPr lang="en-US"/>
              <a:t>with officer snapshot</a:t>
            </a:r>
            <a:endParaRPr lang="en-US" dirty="0"/>
          </a:p>
        </p:txBody>
      </p:sp>
      <p:sp>
        <p:nvSpPr>
          <p:cNvPr id="4" name="Slide Number Placeholder 3"/>
          <p:cNvSpPr>
            <a:spLocks noGrp="1"/>
          </p:cNvSpPr>
          <p:nvPr>
            <p:ph type="sldNum" sz="quarter" idx="5"/>
          </p:nvPr>
        </p:nvSpPr>
        <p:spPr/>
        <p:txBody>
          <a:bodyPr/>
          <a:lstStyle/>
          <a:p>
            <a:fld id="{256B3749-3DD0-4FEA-A700-EA3B183B0AC3}" type="slidenum">
              <a:rPr lang="en-US" smtClean="0"/>
              <a:t>20</a:t>
            </a:fld>
            <a:endParaRPr lang="en-US"/>
          </a:p>
        </p:txBody>
      </p:sp>
    </p:spTree>
    <p:extLst>
      <p:ext uri="{BB962C8B-B14F-4D97-AF65-F5344CB8AC3E}">
        <p14:creationId xmlns:p14="http://schemas.microsoft.com/office/powerpoint/2010/main" val="18849833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t>Once we understand the portfolio as a whole, we can look at how these dynamics appear at the officer level. I have created an officer scorecard that takes four measurements to create an overall portfolio measurement from 1 - 100. </a:t>
            </a:r>
            <a:r>
              <a:rPr lang="en-US" b="0" i="0" dirty="0">
                <a:effectLst/>
              </a:rPr>
              <a:t>The portfolio score looks at whether an officer is maintaining meaningful activity across both loans and deposits, giving us a quick read on relationship depth. The risk score complements that by evaluating the overall credit health of the loans they manage, highlighting how effectively risk is being monitored and controlled. Together, these two metrics create the baseline for understanding an officer’s overall performance, grounding the rest of the scorecard in both activity and asset quality.</a:t>
            </a:r>
            <a:endParaRPr lang="en-US" b="0" i="0" dirty="0"/>
          </a:p>
        </p:txBody>
      </p:sp>
      <p:sp>
        <p:nvSpPr>
          <p:cNvPr id="4" name="Slide Number Placeholder 3"/>
          <p:cNvSpPr>
            <a:spLocks noGrp="1"/>
          </p:cNvSpPr>
          <p:nvPr>
            <p:ph type="sldNum" sz="quarter" idx="5"/>
          </p:nvPr>
        </p:nvSpPr>
        <p:spPr/>
        <p:txBody>
          <a:bodyPr/>
          <a:lstStyle/>
          <a:p>
            <a:fld id="{256B3749-3DD0-4FEA-A700-EA3B183B0AC3}" type="slidenum">
              <a:rPr lang="en-US" smtClean="0"/>
              <a:t>21</a:t>
            </a:fld>
            <a:endParaRPr lang="en-US"/>
          </a:p>
        </p:txBody>
      </p:sp>
    </p:spTree>
    <p:extLst>
      <p:ext uri="{BB962C8B-B14F-4D97-AF65-F5344CB8AC3E}">
        <p14:creationId xmlns:p14="http://schemas.microsoft.com/office/powerpoint/2010/main" val="16555929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scorecard expands further when we look at two additional dimensions of officer performance: deposit strength and operational discipline. The deposit score reflects the stability and depth of an officer’s funding base, giving us a sense of how consistently they maintain healthy balance levels across their portfolio. Operational discipline captures the behavioral side—how often fees are being refunded and what that reveals about day‑to‑day decision‑making. Together, these metrics help us understand not just the financial outcomes officers generate, but the operational habits driving those outcomes, creating a more complete and balanced view of performance.</a:t>
            </a:r>
          </a:p>
        </p:txBody>
      </p:sp>
      <p:sp>
        <p:nvSpPr>
          <p:cNvPr id="4" name="Slide Number Placeholder 3"/>
          <p:cNvSpPr>
            <a:spLocks noGrp="1"/>
          </p:cNvSpPr>
          <p:nvPr>
            <p:ph type="sldNum" sz="quarter" idx="5"/>
          </p:nvPr>
        </p:nvSpPr>
        <p:spPr/>
        <p:txBody>
          <a:bodyPr/>
          <a:lstStyle/>
          <a:p>
            <a:fld id="{256B3749-3DD0-4FEA-A700-EA3B183B0AC3}" type="slidenum">
              <a:rPr lang="en-US" smtClean="0"/>
              <a:t>22</a:t>
            </a:fld>
            <a:endParaRPr lang="en-US"/>
          </a:p>
        </p:txBody>
      </p:sp>
    </p:spTree>
    <p:extLst>
      <p:ext uri="{BB962C8B-B14F-4D97-AF65-F5344CB8AC3E}">
        <p14:creationId xmlns:p14="http://schemas.microsoft.com/office/powerpoint/2010/main" val="32087153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Except for the Portfolio Score, all metrics were normalized to create a consistent basis for comparing one officer’s performance against another. This ensures that individual portfolios—each a small part of the institution’s overall book—can be evaluated on an equal footing. After normalization, a final weighted score was calculated using the assigned importance values, providing a balanced and consistent measure of overall performance.</a:t>
            </a:r>
          </a:p>
        </p:txBody>
      </p:sp>
      <p:sp>
        <p:nvSpPr>
          <p:cNvPr id="4" name="Slide Number Placeholder 3"/>
          <p:cNvSpPr>
            <a:spLocks noGrp="1"/>
          </p:cNvSpPr>
          <p:nvPr>
            <p:ph type="sldNum" sz="quarter" idx="5"/>
          </p:nvPr>
        </p:nvSpPr>
        <p:spPr/>
        <p:txBody>
          <a:bodyPr/>
          <a:lstStyle/>
          <a:p>
            <a:fld id="{256B3749-3DD0-4FEA-A700-EA3B183B0AC3}" type="slidenum">
              <a:rPr lang="en-US" smtClean="0"/>
              <a:t>23</a:t>
            </a:fld>
            <a:endParaRPr lang="en-US"/>
          </a:p>
        </p:txBody>
      </p:sp>
    </p:spTree>
    <p:extLst>
      <p:ext uri="{BB962C8B-B14F-4D97-AF65-F5344CB8AC3E}">
        <p14:creationId xmlns:p14="http://schemas.microsoft.com/office/powerpoint/2010/main" val="20974268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effectLst/>
              </a:rPr>
              <a:t>With these four performance metrics calculated individually, the final scorecard unifies every dimension of officer effectiveness into a single, coherent view. Together, these measures capture not only outcomes but also the underlying behaviors that shape long‑term relationship management. Each metric highlights a different facet of the officer’s approach, and when viewed collectively, they reveal meaningful patterns: who maintains stable, well‑rounded relationships, who manages risk with discipline, and where operational habits may be strengthening or weakening overall performance.</a:t>
            </a:r>
            <a:endParaRPr lang="en-US" b="0" dirty="0"/>
          </a:p>
          <a:p>
            <a:r>
              <a:rPr lang="en-US" b="0" dirty="0">
                <a:effectLst/>
              </a:rPr>
              <a:t>This consolidated perspective transforms the scorecard from a simple measurement tool into a diagnostic lens. It surfaces standout strengths, pinpoints areas where coaching or support may be needed, and clarifies how individual decisions scale into broader portfolio impact. In doing so, it provides a clearer understanding of the discipline, judgment, and relationship‑building practices that drive sustainable portfolio health.</a:t>
            </a:r>
            <a:endParaRPr lang="en-US" b="0" dirty="0"/>
          </a:p>
          <a:p>
            <a:r>
              <a:rPr lang="en-US" b="0" dirty="0">
                <a:effectLst/>
              </a:rPr>
              <a:t>Looking at a filtered view of the scorecard, the officers shown currently fall between 45% and 87%, indicating meaningful room for improvement. Each portfolio can now be evaluated holistically through the final score and individually through each previously calculated pillar, enabling more precise and consistent performance conversations.</a:t>
            </a:r>
            <a:endParaRPr lang="en-US" b="0" dirty="0"/>
          </a:p>
        </p:txBody>
      </p:sp>
      <p:sp>
        <p:nvSpPr>
          <p:cNvPr id="4" name="Slide Number Placeholder 3"/>
          <p:cNvSpPr>
            <a:spLocks noGrp="1"/>
          </p:cNvSpPr>
          <p:nvPr>
            <p:ph type="sldNum" sz="quarter" idx="5"/>
          </p:nvPr>
        </p:nvSpPr>
        <p:spPr/>
        <p:txBody>
          <a:bodyPr/>
          <a:lstStyle/>
          <a:p>
            <a:fld id="{256B3749-3DD0-4FEA-A700-EA3B183B0AC3}" type="slidenum">
              <a:rPr lang="en-US" smtClean="0"/>
              <a:t>24</a:t>
            </a:fld>
            <a:endParaRPr lang="en-US"/>
          </a:p>
        </p:txBody>
      </p:sp>
    </p:spTree>
    <p:extLst>
      <p:ext uri="{BB962C8B-B14F-4D97-AF65-F5344CB8AC3E}">
        <p14:creationId xmlns:p14="http://schemas.microsoft.com/office/powerpoint/2010/main" val="12034448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the question becomes: what do we do next? Strengthening core data practices—standardizing naming conventions, aligning address information, and creating consistent fee‑waiver tracking will reduces noise, improve reliability, and allows for a broader view of activity. Ongoing accuracy audits will also ensure that the information we rely on stays clean and actionable. These foundational improvements support both performance evaluation and customer‑impact visibility.</a:t>
            </a:r>
          </a:p>
        </p:txBody>
      </p:sp>
      <p:sp>
        <p:nvSpPr>
          <p:cNvPr id="4" name="Slide Number Placeholder 3"/>
          <p:cNvSpPr>
            <a:spLocks noGrp="1"/>
          </p:cNvSpPr>
          <p:nvPr>
            <p:ph type="sldNum" sz="quarter" idx="5"/>
          </p:nvPr>
        </p:nvSpPr>
        <p:spPr/>
        <p:txBody>
          <a:bodyPr/>
          <a:lstStyle/>
          <a:p>
            <a:fld id="{256B3749-3DD0-4FEA-A700-EA3B183B0AC3}" type="slidenum">
              <a:rPr lang="en-US" smtClean="0"/>
              <a:t>25</a:t>
            </a:fld>
            <a:endParaRPr lang="en-US"/>
          </a:p>
        </p:txBody>
      </p:sp>
    </p:spTree>
    <p:extLst>
      <p:ext uri="{BB962C8B-B14F-4D97-AF65-F5344CB8AC3E}">
        <p14:creationId xmlns:p14="http://schemas.microsoft.com/office/powerpoint/2010/main" val="29742116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gain access to richer data, this analysis can grow significantly. Adding transaction history, additional collateral details, and time‑lapse trend modeling we can deepen our understanding of portfolio behavior at both the relationship and officer levels. Tracking interest income relative to liabilities, monitoring </a:t>
            </a:r>
            <a:r>
              <a:rPr lang="en-US" dirty="0" err="1"/>
              <a:t>partialyl</a:t>
            </a:r>
            <a:r>
              <a:rPr lang="en-US" dirty="0"/>
              <a:t> collected or waived fees, and modeling changes over time will allow us to identify emerging risks earlier and build a more dynamic, forward‑looking view of performance. Strengthening our core data practices and expanding our analytical capabilities positions the bank for a more modern, scalable reporting architecture. By building clean, consistent, and actionable data foundations today, we create the structure needed for deeper insights, stronger performance evaluation, and a more resilient portfolio tomorrow.</a:t>
            </a:r>
          </a:p>
        </p:txBody>
      </p:sp>
      <p:sp>
        <p:nvSpPr>
          <p:cNvPr id="4" name="Slide Number Placeholder 3"/>
          <p:cNvSpPr>
            <a:spLocks noGrp="1"/>
          </p:cNvSpPr>
          <p:nvPr>
            <p:ph type="sldNum" sz="quarter" idx="5"/>
          </p:nvPr>
        </p:nvSpPr>
        <p:spPr/>
        <p:txBody>
          <a:bodyPr/>
          <a:lstStyle/>
          <a:p>
            <a:fld id="{256B3749-3DD0-4FEA-A700-EA3B183B0AC3}" type="slidenum">
              <a:rPr lang="en-US" smtClean="0"/>
              <a:t>26</a:t>
            </a:fld>
            <a:endParaRPr lang="en-US"/>
          </a:p>
        </p:txBody>
      </p:sp>
    </p:spTree>
    <p:extLst>
      <p:ext uri="{BB962C8B-B14F-4D97-AF65-F5344CB8AC3E}">
        <p14:creationId xmlns:p14="http://schemas.microsoft.com/office/powerpoint/2010/main" val="1531394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bring everything together, what becomes clear is that strong portfolio management isn’t just about the numbers—it’s about the structure behind them. By building a framework that unifies balance, credit quality, deposit strength, and operational discipline, we’re creating a foundation that supports clearer decisions, stronger relationships, and a more resilient institution. The work we’ve done here shows what becomes possible when clean data, thoughtful design, and consistent evaluation come together. And as we continue expanding our data access and refining our practices, this framework will only grow more powerful. It positions us not just to understand where we stand today, but to anticipate where we’re headed and to guide the portfolio with greater confidence and clarity. Thank you.</a:t>
            </a:r>
          </a:p>
        </p:txBody>
      </p:sp>
      <p:sp>
        <p:nvSpPr>
          <p:cNvPr id="4" name="Slide Number Placeholder 3"/>
          <p:cNvSpPr>
            <a:spLocks noGrp="1"/>
          </p:cNvSpPr>
          <p:nvPr>
            <p:ph type="sldNum" sz="quarter" idx="5"/>
          </p:nvPr>
        </p:nvSpPr>
        <p:spPr/>
        <p:txBody>
          <a:bodyPr/>
          <a:lstStyle/>
          <a:p>
            <a:fld id="{256B3749-3DD0-4FEA-A700-EA3B183B0AC3}" type="slidenum">
              <a:rPr lang="en-US" smtClean="0"/>
              <a:t>27</a:t>
            </a:fld>
            <a:endParaRPr lang="en-US"/>
          </a:p>
        </p:txBody>
      </p:sp>
    </p:spTree>
    <p:extLst>
      <p:ext uri="{BB962C8B-B14F-4D97-AF65-F5344CB8AC3E}">
        <p14:creationId xmlns:p14="http://schemas.microsoft.com/office/powerpoint/2010/main" val="1035904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9126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22811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0204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187287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5/24/2026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69400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5/24/2026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8059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46CE7D5-CF57-46EF-B807-FDD0502418D4}" type="datetimeFigureOut">
              <a:rPr lang="en-US" smtClean="0"/>
              <a:t>5/24/2026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099676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46CE7D5-CF57-46EF-B807-FDD0502418D4}" type="datetimeFigureOut">
              <a:rPr lang="en-US" smtClean="0"/>
              <a:t>5/24/2026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1802430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634868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00562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255853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46CE7D5-CF57-46EF-B807-FDD0502418D4}" type="datetimeFigureOut">
              <a:rPr lang="en-US" smtClean="0"/>
              <a:t>5/24/2026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30EA680-D336-4FF7-8B7A-9848BB0A1C3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4807613"/>
      </p:ext>
    </p:extLst>
  </p:cSld>
  <p:clrMap bg1="lt1" tx1="dk1" bg2="lt2" tx2="dk2" accent1="accent1" accent2="accent2" accent3="accent3" accent4="accent4" accent5="accent5" accent6="accent6" hlink="hlink" folHlink="folHlink"/>
  <p:sldLayoutIdLst>
    <p:sldLayoutId id="2147483938" r:id="rId1"/>
    <p:sldLayoutId id="2147483939" r:id="rId2"/>
    <p:sldLayoutId id="2147483940" r:id="rId3"/>
    <p:sldLayoutId id="2147483941" r:id="rId4"/>
    <p:sldLayoutId id="2147483942" r:id="rId5"/>
    <p:sldLayoutId id="2147483943" r:id="rId6"/>
    <p:sldLayoutId id="2147483944" r:id="rId7"/>
    <p:sldLayoutId id="2147483945" r:id="rId8"/>
    <p:sldLayoutId id="2147483946" r:id="rId9"/>
    <p:sldLayoutId id="2147483947" r:id="rId10"/>
    <p:sldLayoutId id="214748394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2E_E3960DA0.xm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140_D17AFEC1.xml"/><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microsoft.com/office/2018/10/relationships/comments" Target="../comments/modernComment_13F_7E5B1CC4.xml"/><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chart" Target="../charts/char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13B_BFDE7E34.xml"/><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linkedin.com/in/stephaniejdues/"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20948"/>
          </a:xfrm>
        </p:spPr>
        <p:txBody>
          <a:bodyPr anchor="b">
            <a:normAutofit/>
          </a:bodyPr>
          <a:lstStyle/>
          <a:p>
            <a:pPr algn="ctr"/>
            <a:r>
              <a:rPr lang="en-US" sz="7200" dirty="0"/>
              <a:t>The Architecture of a Healthy Portfolio</a:t>
            </a:r>
          </a:p>
        </p:txBody>
      </p:sp>
      <p:sp>
        <p:nvSpPr>
          <p:cNvPr id="3" name="Subtitle 2"/>
          <p:cNvSpPr>
            <a:spLocks noGrp="1"/>
          </p:cNvSpPr>
          <p:nvPr>
            <p:ph type="subTitle" idx="1"/>
          </p:nvPr>
        </p:nvSpPr>
        <p:spPr>
          <a:xfrm>
            <a:off x="1097280" y="4755340"/>
            <a:ext cx="10058400" cy="1143000"/>
          </a:xfrm>
        </p:spPr>
        <p:txBody>
          <a:bodyPr>
            <a:normAutofit/>
          </a:bodyPr>
          <a:lstStyle/>
          <a:p>
            <a:pPr algn="ctr"/>
            <a:r>
              <a:rPr lang="en-US" dirty="0">
                <a:solidFill>
                  <a:schemeClr val="tx1">
                    <a:lumMod val="75000"/>
                    <a:lumOff val="25000"/>
                  </a:schemeClr>
                </a:solidFill>
              </a:rPr>
              <a:t>Turning Raw Bank data into executive ready insight</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7C742D-3700-C2AC-E589-584EC11AFA3E}"/>
              </a:ext>
            </a:extLst>
          </p:cNvPr>
          <p:cNvSpPr>
            <a:spLocks noGrp="1"/>
          </p:cNvSpPr>
          <p:nvPr>
            <p:ph type="title"/>
          </p:nvPr>
        </p:nvSpPr>
        <p:spPr>
          <a:xfrm>
            <a:off x="542628" y="2286000"/>
            <a:ext cx="3200400" cy="2286000"/>
          </a:xfrm>
        </p:spPr>
        <p:txBody>
          <a:bodyPr anchor="ctr">
            <a:normAutofit fontScale="90000"/>
          </a:bodyPr>
          <a:lstStyle/>
          <a:p>
            <a:pPr algn="ctr"/>
            <a:r>
              <a:rPr lang="en-US" sz="6000" dirty="0">
                <a:solidFill>
                  <a:schemeClr val="tx1"/>
                </a:solidFill>
              </a:rPr>
              <a:t>Intent</a:t>
            </a:r>
            <a:br>
              <a:rPr lang="en-US" sz="6000" dirty="0">
                <a:solidFill>
                  <a:schemeClr val="tx1"/>
                </a:solidFill>
              </a:rPr>
            </a:br>
            <a:r>
              <a:rPr lang="en-US" sz="6000" dirty="0">
                <a:solidFill>
                  <a:schemeClr val="tx1"/>
                </a:solidFill>
              </a:rPr>
              <a:t>&amp; Direction</a:t>
            </a:r>
          </a:p>
        </p:txBody>
      </p:sp>
      <p:sp>
        <p:nvSpPr>
          <p:cNvPr id="5" name="Content Placeholder 4">
            <a:extLst>
              <a:ext uri="{FF2B5EF4-FFF2-40B4-BE49-F238E27FC236}">
                <a16:creationId xmlns:a16="http://schemas.microsoft.com/office/drawing/2014/main" id="{827D79B6-9716-B33F-5225-7A0DAA075D06}"/>
              </a:ext>
            </a:extLst>
          </p:cNvPr>
          <p:cNvSpPr>
            <a:spLocks noGrp="1"/>
          </p:cNvSpPr>
          <p:nvPr>
            <p:ph idx="1"/>
          </p:nvPr>
        </p:nvSpPr>
        <p:spPr/>
        <p:txBody>
          <a:bodyPr anchor="ctr">
            <a:normAutofit/>
          </a:bodyPr>
          <a:lstStyle/>
          <a:p>
            <a:r>
              <a:rPr lang="en-US" sz="2400" dirty="0"/>
              <a:t>The objective of this project is to build a scalable, executive-ready framework for assessing portfolio health using single point data. It also outlines enhancements required to support future trend analysis and deeper relationship insights.</a:t>
            </a:r>
          </a:p>
        </p:txBody>
      </p:sp>
      <p:pic>
        <p:nvPicPr>
          <p:cNvPr id="20" name="Picture 20"/>
          <p:cNvPicPr>
            <a:picLocks noChangeAspect="1"/>
          </p:cNvPicPr>
          <p:nvPr/>
        </p:nvPicPr>
        <p:blipFill>
          <a:blip r:embed="rId3">
            <a:alphaModFix amt="20000"/>
          </a:blip>
          <a:srcRect t="13348" b="5918"/>
          <a:stretch>
            <a:fillRect/>
          </a:stretch>
        </p:blipFill>
        <p:spPr>
          <a:xfrm>
            <a:off x="4095552" y="0"/>
            <a:ext cx="8087921" cy="6858000"/>
          </a:xfrm>
          <a:prstGeom prst="rect">
            <a:avLst/>
          </a:prstGeom>
        </p:spPr>
      </p:pic>
    </p:spTree>
    <p:extLst>
      <p:ext uri="{BB962C8B-B14F-4D97-AF65-F5344CB8AC3E}">
        <p14:creationId xmlns:p14="http://schemas.microsoft.com/office/powerpoint/2010/main" val="3164743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79380-2AEA-2215-9E29-E952482E20D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90CABB7-7487-A0FB-EA1B-927905F6E88D}"/>
              </a:ext>
            </a:extLst>
          </p:cNvPr>
          <p:cNvSpPr>
            <a:spLocks noGrp="1"/>
          </p:cNvSpPr>
          <p:nvPr>
            <p:ph type="title"/>
          </p:nvPr>
        </p:nvSpPr>
        <p:spPr/>
        <p:txBody>
          <a:bodyPr anchor="ctr">
            <a:normAutofit/>
          </a:bodyPr>
          <a:lstStyle/>
          <a:p>
            <a:r>
              <a:rPr lang="en-US" sz="6000" dirty="0"/>
              <a:t>Healthy Portfolio Overview</a:t>
            </a:r>
          </a:p>
        </p:txBody>
      </p:sp>
      <p:graphicFrame>
        <p:nvGraphicFramePr>
          <p:cNvPr id="6" name="Content Placeholder 5">
            <a:extLst>
              <a:ext uri="{FF2B5EF4-FFF2-40B4-BE49-F238E27FC236}">
                <a16:creationId xmlns:a16="http://schemas.microsoft.com/office/drawing/2014/main" id="{60970957-1D57-C636-148E-2545BD459F92}"/>
              </a:ext>
            </a:extLst>
          </p:cNvPr>
          <p:cNvGraphicFramePr>
            <a:graphicFrameLocks noGrp="1"/>
          </p:cNvGraphicFramePr>
          <p:nvPr>
            <p:ph idx="1"/>
            <p:extLst>
              <p:ext uri="{D42A27DB-BD31-4B8C-83A1-F6EECF244321}">
                <p14:modId xmlns:p14="http://schemas.microsoft.com/office/powerpoint/2010/main" val="4125202442"/>
              </p:ext>
            </p:extLst>
          </p:nvPr>
        </p:nvGraphicFramePr>
        <p:xfrm>
          <a:off x="1096963" y="1731962"/>
          <a:ext cx="100584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02827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8FB4F-1395-0200-2725-26DA4AC06E8C}"/>
              </a:ext>
            </a:extLst>
          </p:cNvPr>
          <p:cNvSpPr>
            <a:spLocks noGrp="1"/>
          </p:cNvSpPr>
          <p:nvPr>
            <p:ph type="title"/>
          </p:nvPr>
        </p:nvSpPr>
        <p:spPr/>
        <p:txBody>
          <a:bodyPr anchor="ctr">
            <a:normAutofit/>
          </a:bodyPr>
          <a:lstStyle/>
          <a:p>
            <a:r>
              <a:rPr lang="en-US" dirty="0"/>
              <a:t>Healthy Borrower Lender Relationship</a:t>
            </a:r>
          </a:p>
        </p:txBody>
      </p:sp>
      <p:graphicFrame>
        <p:nvGraphicFramePr>
          <p:cNvPr id="7" name="Content Placeholder 6">
            <a:extLst>
              <a:ext uri="{FF2B5EF4-FFF2-40B4-BE49-F238E27FC236}">
                <a16:creationId xmlns:a16="http://schemas.microsoft.com/office/drawing/2014/main" id="{C3433032-11E0-054A-18CF-9CFB30151518}"/>
              </a:ext>
            </a:extLst>
          </p:cNvPr>
          <p:cNvGraphicFramePr>
            <a:graphicFrameLocks noGrp="1"/>
          </p:cNvGraphicFramePr>
          <p:nvPr>
            <p:ph idx="1"/>
            <p:extLst>
              <p:ext uri="{D42A27DB-BD31-4B8C-83A1-F6EECF244321}">
                <p14:modId xmlns:p14="http://schemas.microsoft.com/office/powerpoint/2010/main" val="1482091348"/>
              </p:ext>
            </p:extLst>
          </p:nvPr>
        </p:nvGraphicFramePr>
        <p:xfrm>
          <a:off x="1096963" y="1731962"/>
          <a:ext cx="100584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0445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080B9-FD08-F898-BC3D-684BAA70C09D}"/>
              </a:ext>
            </a:extLst>
          </p:cNvPr>
          <p:cNvSpPr>
            <a:spLocks noGrp="1"/>
          </p:cNvSpPr>
          <p:nvPr>
            <p:ph type="title"/>
          </p:nvPr>
        </p:nvSpPr>
        <p:spPr>
          <a:xfrm>
            <a:off x="1066799" y="592036"/>
            <a:ext cx="10058400" cy="1028715"/>
          </a:xfrm>
        </p:spPr>
        <p:txBody>
          <a:bodyPr>
            <a:normAutofit/>
          </a:bodyPr>
          <a:lstStyle/>
          <a:p>
            <a:pPr algn="ctr"/>
            <a:r>
              <a:rPr lang="en-US" sz="6000" dirty="0"/>
              <a:t>Data Intake &amp; Privacy Integrity</a:t>
            </a:r>
          </a:p>
        </p:txBody>
      </p:sp>
      <p:graphicFrame>
        <p:nvGraphicFramePr>
          <p:cNvPr id="4" name="Content Placeholder 4">
            <a:extLst>
              <a:ext uri="{FF2B5EF4-FFF2-40B4-BE49-F238E27FC236}">
                <a16:creationId xmlns:a16="http://schemas.microsoft.com/office/drawing/2014/main" id="{183B0F42-92AC-4283-B0F0-3256B2C32336}"/>
              </a:ext>
            </a:extLst>
          </p:cNvPr>
          <p:cNvGraphicFramePr>
            <a:graphicFrameLocks noGrp="1"/>
          </p:cNvGraphicFramePr>
          <p:nvPr>
            <p:ph idx="1"/>
            <p:extLst>
              <p:ext uri="{D42A27DB-BD31-4B8C-83A1-F6EECF244321}">
                <p14:modId xmlns:p14="http://schemas.microsoft.com/office/powerpoint/2010/main" val="3469553595"/>
              </p:ext>
              <p:ext uri="{E7BDC344-281C-4309-B0C6-D0EE65EED2A8}">
                <p202:designPr xmlns:p202="http://schemas.microsoft.com/office/powerpoint/2020/02/main">
                  <p202:designTagLst>
                    <p202:designTag name="ARCH:1:CLS" val="SmartArt"/>
                    <p202:designTag name="ARCH:1:VSVAR" val="Timeline"/>
                  </p202:designTagLst>
                </p202:designPr>
              </p:ext>
            </p:extLst>
          </p:nvPr>
        </p:nvGraphicFramePr>
        <p:xfrm>
          <a:off x="628827" y="1620750"/>
          <a:ext cx="10934343" cy="46452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6154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EB664-08F4-E115-9BBF-9A7DFF16F72C}"/>
              </a:ext>
            </a:extLst>
          </p:cNvPr>
          <p:cNvSpPr>
            <a:spLocks noGrp="1"/>
          </p:cNvSpPr>
          <p:nvPr>
            <p:ph type="title"/>
          </p:nvPr>
        </p:nvSpPr>
        <p:spPr/>
        <p:txBody>
          <a:bodyPr>
            <a:normAutofit/>
          </a:bodyPr>
          <a:lstStyle/>
          <a:p>
            <a:r>
              <a:rPr lang="en-US" sz="6000" dirty="0"/>
              <a:t>Core System Extracts</a:t>
            </a:r>
          </a:p>
        </p:txBody>
      </p:sp>
      <p:graphicFrame>
        <p:nvGraphicFramePr>
          <p:cNvPr id="4" name="Content Placeholder 3">
            <a:extLst>
              <a:ext uri="{FF2B5EF4-FFF2-40B4-BE49-F238E27FC236}">
                <a16:creationId xmlns:a16="http://schemas.microsoft.com/office/drawing/2014/main" id="{472120B5-6DDE-7F7F-2B3D-F43EB30A9009}"/>
              </a:ext>
            </a:extLst>
          </p:cNvPr>
          <p:cNvGraphicFramePr>
            <a:graphicFrameLocks noGrp="1"/>
          </p:cNvGraphicFramePr>
          <p:nvPr>
            <p:ph idx="1"/>
            <p:extLst>
              <p:ext uri="{D42A27DB-BD31-4B8C-83A1-F6EECF244321}">
                <p14:modId xmlns:p14="http://schemas.microsoft.com/office/powerpoint/2010/main" val="1519691838"/>
              </p:ext>
            </p:extLst>
          </p:nvPr>
        </p:nvGraphicFramePr>
        <p:xfrm>
          <a:off x="1097280" y="1737360"/>
          <a:ext cx="10058400" cy="4406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1970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E4027-1137-917D-A6C7-7E19E16C904D}"/>
              </a:ext>
            </a:extLst>
          </p:cNvPr>
          <p:cNvSpPr>
            <a:spLocks noGrp="1"/>
          </p:cNvSpPr>
          <p:nvPr>
            <p:ph type="title"/>
          </p:nvPr>
        </p:nvSpPr>
        <p:spPr/>
        <p:txBody>
          <a:bodyPr anchor="ctr">
            <a:noAutofit/>
          </a:bodyPr>
          <a:lstStyle/>
          <a:p>
            <a:r>
              <a:rPr lang="en-US" sz="5400" dirty="0"/>
              <a:t>Constraints of Single – Point Data</a:t>
            </a:r>
          </a:p>
        </p:txBody>
      </p:sp>
      <p:graphicFrame>
        <p:nvGraphicFramePr>
          <p:cNvPr id="6" name="Content Placeholder 5">
            <a:extLst>
              <a:ext uri="{FF2B5EF4-FFF2-40B4-BE49-F238E27FC236}">
                <a16:creationId xmlns:a16="http://schemas.microsoft.com/office/drawing/2014/main" id="{77E86897-8FE4-27A9-48A0-41CE51A450A2}"/>
              </a:ext>
            </a:extLst>
          </p:cNvPr>
          <p:cNvGraphicFramePr>
            <a:graphicFrameLocks noGrp="1"/>
          </p:cNvGraphicFramePr>
          <p:nvPr>
            <p:ph idx="1"/>
            <p:extLst>
              <p:ext uri="{D42A27DB-BD31-4B8C-83A1-F6EECF244321}">
                <p14:modId xmlns:p14="http://schemas.microsoft.com/office/powerpoint/2010/main" val="924361578"/>
              </p:ext>
            </p:extLst>
          </p:nvPr>
        </p:nvGraphicFramePr>
        <p:xfrm>
          <a:off x="1096963" y="1731962"/>
          <a:ext cx="100584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8334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C16B-C80D-55A6-AF87-7179875CD2C2}"/>
              </a:ext>
            </a:extLst>
          </p:cNvPr>
          <p:cNvSpPr>
            <a:spLocks noGrp="1"/>
          </p:cNvSpPr>
          <p:nvPr>
            <p:ph type="title"/>
          </p:nvPr>
        </p:nvSpPr>
        <p:spPr/>
        <p:txBody>
          <a:bodyPr vert="horz" lIns="91440" tIns="45720" rIns="91440" bIns="45720" rtlCol="0" anchor="b">
            <a:normAutofit/>
          </a:bodyPr>
          <a:lstStyle/>
          <a:p>
            <a:pPr algn="ctr"/>
            <a:r>
              <a:rPr lang="en-US" sz="4400" dirty="0">
                <a:solidFill>
                  <a:schemeClr val="bg1"/>
                </a:solidFill>
              </a:rPr>
              <a:t>Portfolio Composition</a:t>
            </a:r>
          </a:p>
        </p:txBody>
      </p:sp>
      <p:sp>
        <p:nvSpPr>
          <p:cNvPr id="3" name="Text Placeholder 2">
            <a:extLst>
              <a:ext uri="{FF2B5EF4-FFF2-40B4-BE49-F238E27FC236}">
                <a16:creationId xmlns:a16="http://schemas.microsoft.com/office/drawing/2014/main" id="{66A6C993-F2A4-45D2-551C-94CD22FE9D1A}"/>
              </a:ext>
            </a:extLst>
          </p:cNvPr>
          <p:cNvSpPr>
            <a:spLocks noGrp="1"/>
          </p:cNvSpPr>
          <p:nvPr>
            <p:ph type="body" sz="half" idx="2"/>
          </p:nvPr>
        </p:nvSpPr>
        <p:spPr/>
        <p:txBody>
          <a:bodyPr vert="horz" lIns="91440" tIns="45720" rIns="91440" bIns="45720" rtlCol="0" anchor="t">
            <a:normAutofit/>
          </a:bodyPr>
          <a:lstStyle/>
          <a:p>
            <a:pPr algn="ctr"/>
            <a:r>
              <a:rPr lang="en-US" sz="2000" dirty="0">
                <a:solidFill>
                  <a:schemeClr val="bg1"/>
                </a:solidFill>
              </a:rPr>
              <a:t>A SNAPSHOT OF EXPOSURE, BALANCES, AND PRODUCT MIX</a:t>
            </a:r>
          </a:p>
        </p:txBody>
      </p:sp>
      <p:pic>
        <p:nvPicPr>
          <p:cNvPr id="12" name="Picture 11">
            <a:extLst>
              <a:ext uri="{FF2B5EF4-FFF2-40B4-BE49-F238E27FC236}">
                <a16:creationId xmlns:a16="http://schemas.microsoft.com/office/drawing/2014/main" id="{9B003A5A-9BC6-78B4-8438-20D776930CC6}"/>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4114800" y="0"/>
            <a:ext cx="8077200" cy="6407303"/>
          </a:xfrm>
          <a:prstGeom prst="rect">
            <a:avLst/>
          </a:prstGeom>
        </p:spPr>
      </p:pic>
    </p:spTree>
    <p:extLst>
      <p:ext uri="{BB962C8B-B14F-4D97-AF65-F5344CB8AC3E}">
        <p14:creationId xmlns:p14="http://schemas.microsoft.com/office/powerpoint/2010/main" val="1789758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DB14D-AF7F-B949-DE9C-3B6565488295}"/>
              </a:ext>
            </a:extLst>
          </p:cNvPr>
          <p:cNvSpPr>
            <a:spLocks noGrp="1"/>
          </p:cNvSpPr>
          <p:nvPr>
            <p:ph type="title"/>
          </p:nvPr>
        </p:nvSpPr>
        <p:spPr/>
        <p:txBody>
          <a:bodyPr anchor="b">
            <a:noAutofit/>
          </a:bodyPr>
          <a:lstStyle/>
          <a:p>
            <a:r>
              <a:rPr lang="en-US" dirty="0"/>
              <a:t>Loan Exposure and Deposit Balances</a:t>
            </a:r>
          </a:p>
        </p:txBody>
      </p:sp>
      <p:sp>
        <p:nvSpPr>
          <p:cNvPr id="9" name="Text Placeholder 8">
            <a:extLst>
              <a:ext uri="{FF2B5EF4-FFF2-40B4-BE49-F238E27FC236}">
                <a16:creationId xmlns:a16="http://schemas.microsoft.com/office/drawing/2014/main" id="{C8DE5932-4B2A-CFDB-DE80-CE24D7279C97}"/>
              </a:ext>
            </a:extLst>
          </p:cNvPr>
          <p:cNvSpPr>
            <a:spLocks noGrp="1"/>
          </p:cNvSpPr>
          <p:nvPr>
            <p:ph type="body" idx="1"/>
          </p:nvPr>
        </p:nvSpPr>
        <p:spPr/>
        <p:txBody>
          <a:bodyPr/>
          <a:lstStyle/>
          <a:p>
            <a:pPr algn="ctr"/>
            <a:r>
              <a:rPr lang="en-US" dirty="0"/>
              <a:t>Loan exposure</a:t>
            </a:r>
          </a:p>
        </p:txBody>
      </p:sp>
      <p:sp>
        <p:nvSpPr>
          <p:cNvPr id="10" name="Content Placeholder 9">
            <a:extLst>
              <a:ext uri="{FF2B5EF4-FFF2-40B4-BE49-F238E27FC236}">
                <a16:creationId xmlns:a16="http://schemas.microsoft.com/office/drawing/2014/main" id="{BB4CDD27-5600-3C44-CBD3-046AD7B8F690}"/>
              </a:ext>
            </a:extLst>
          </p:cNvPr>
          <p:cNvSpPr>
            <a:spLocks noGrp="1"/>
          </p:cNvSpPr>
          <p:nvPr>
            <p:ph sz="half" idx="2"/>
          </p:nvPr>
        </p:nvSpPr>
        <p:spPr/>
        <p:txBody>
          <a:bodyPr/>
          <a:lstStyle/>
          <a:p>
            <a:r>
              <a:rPr lang="en-US" dirty="0"/>
              <a:t>Total Loans - 1,237</a:t>
            </a:r>
          </a:p>
          <a:p>
            <a:r>
              <a:rPr lang="en-US" dirty="0"/>
              <a:t>Total Exposure ~ $676.4 million</a:t>
            </a:r>
          </a:p>
          <a:p>
            <a:r>
              <a:rPr lang="en-US" dirty="0"/>
              <a:t>Average Loan Size ~ $639 thousand</a:t>
            </a:r>
          </a:p>
          <a:p>
            <a:pPr lvl="1"/>
            <a:r>
              <a:rPr lang="en-US" dirty="0"/>
              <a:t>Agriculture Loans ~ $442 thousand</a:t>
            </a:r>
          </a:p>
          <a:p>
            <a:pPr lvl="1"/>
            <a:r>
              <a:rPr lang="en-US" dirty="0"/>
              <a:t>Commercial &amp; Industrial Loans ~$250 thousand</a:t>
            </a:r>
          </a:p>
          <a:p>
            <a:pPr lvl="1"/>
            <a:r>
              <a:rPr lang="en-US" dirty="0"/>
              <a:t>Loans to Individuals ~ $790 thousand</a:t>
            </a:r>
          </a:p>
          <a:p>
            <a:pPr lvl="1"/>
            <a:r>
              <a:rPr lang="en-US" dirty="0"/>
              <a:t>Real Estate Loans ~ $547 thousand</a:t>
            </a:r>
          </a:p>
        </p:txBody>
      </p:sp>
      <p:sp>
        <p:nvSpPr>
          <p:cNvPr id="11" name="Text Placeholder 10">
            <a:extLst>
              <a:ext uri="{FF2B5EF4-FFF2-40B4-BE49-F238E27FC236}">
                <a16:creationId xmlns:a16="http://schemas.microsoft.com/office/drawing/2014/main" id="{F3549525-D813-6E9E-806B-D670DA662794}"/>
              </a:ext>
            </a:extLst>
          </p:cNvPr>
          <p:cNvSpPr>
            <a:spLocks noGrp="1"/>
          </p:cNvSpPr>
          <p:nvPr>
            <p:ph type="body" sz="quarter" idx="3"/>
          </p:nvPr>
        </p:nvSpPr>
        <p:spPr/>
        <p:txBody>
          <a:bodyPr/>
          <a:lstStyle/>
          <a:p>
            <a:pPr algn="ctr"/>
            <a:r>
              <a:rPr lang="en-US" dirty="0"/>
              <a:t>Deposit balances</a:t>
            </a:r>
          </a:p>
        </p:txBody>
      </p:sp>
      <p:sp>
        <p:nvSpPr>
          <p:cNvPr id="12" name="Content Placeholder 11">
            <a:extLst>
              <a:ext uri="{FF2B5EF4-FFF2-40B4-BE49-F238E27FC236}">
                <a16:creationId xmlns:a16="http://schemas.microsoft.com/office/drawing/2014/main" id="{D8D93108-4EBD-B1AA-156D-C09FF4E93C85}"/>
              </a:ext>
            </a:extLst>
          </p:cNvPr>
          <p:cNvSpPr>
            <a:spLocks noGrp="1"/>
          </p:cNvSpPr>
          <p:nvPr>
            <p:ph sz="quarter" idx="4"/>
          </p:nvPr>
        </p:nvSpPr>
        <p:spPr/>
        <p:txBody>
          <a:bodyPr/>
          <a:lstStyle/>
          <a:p>
            <a:r>
              <a:rPr lang="en-US" dirty="0"/>
              <a:t>Total Deposit Accounts - 11,763</a:t>
            </a:r>
          </a:p>
          <a:p>
            <a:r>
              <a:rPr lang="en-US" dirty="0"/>
              <a:t>Total Deposit Balances ~ $485.7 million</a:t>
            </a:r>
          </a:p>
          <a:p>
            <a:r>
              <a:rPr lang="en-US" dirty="0"/>
              <a:t>Average Deposit Balance ~ $41 thousand</a:t>
            </a:r>
          </a:p>
          <a:p>
            <a:r>
              <a:rPr lang="en-US" dirty="0"/>
              <a:t>Average Minimum Balance ~ 36 thousand</a:t>
            </a:r>
          </a:p>
        </p:txBody>
      </p:sp>
      <p:graphicFrame>
        <p:nvGraphicFramePr>
          <p:cNvPr id="19" name="Chart 18">
            <a:extLst>
              <a:ext uri="{FF2B5EF4-FFF2-40B4-BE49-F238E27FC236}">
                <a16:creationId xmlns:a16="http://schemas.microsoft.com/office/drawing/2014/main" id="{56668E6F-F8FE-AF42-A052-B323F12DB5B2}"/>
              </a:ext>
            </a:extLst>
          </p:cNvPr>
          <p:cNvGraphicFramePr>
            <a:graphicFrameLocks/>
          </p:cNvGraphicFramePr>
          <p:nvPr>
            <p:extLst>
              <p:ext uri="{D42A27DB-BD31-4B8C-83A1-F6EECF244321}">
                <p14:modId xmlns:p14="http://schemas.microsoft.com/office/powerpoint/2010/main" val="1695236561"/>
              </p:ext>
            </p:extLst>
          </p:nvPr>
        </p:nvGraphicFramePr>
        <p:xfrm>
          <a:off x="5535612" y="3860800"/>
          <a:ext cx="6656388" cy="2870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15626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CD0480F-0CFB-25D2-B6C5-FB8DE04B90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477000"/>
          </a:xfrm>
          <a:prstGeom prst="rect">
            <a:avLst/>
          </a:prstGeom>
        </p:spPr>
      </p:pic>
      <p:sp>
        <p:nvSpPr>
          <p:cNvPr id="2" name="Right Bracket 1">
            <a:extLst>
              <a:ext uri="{FF2B5EF4-FFF2-40B4-BE49-F238E27FC236}">
                <a16:creationId xmlns:a16="http://schemas.microsoft.com/office/drawing/2014/main" id="{C13AF895-B94C-94CC-6A58-140D80FBDBEE}"/>
              </a:ext>
            </a:extLst>
          </p:cNvPr>
          <p:cNvSpPr/>
          <p:nvPr/>
        </p:nvSpPr>
        <p:spPr>
          <a:xfrm rot="16200000">
            <a:off x="2307265" y="3533553"/>
            <a:ext cx="361503" cy="2239928"/>
          </a:xfrm>
          <a:prstGeom prst="righ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3" name="Right Bracket 2">
            <a:extLst>
              <a:ext uri="{FF2B5EF4-FFF2-40B4-BE49-F238E27FC236}">
                <a16:creationId xmlns:a16="http://schemas.microsoft.com/office/drawing/2014/main" id="{8700D2AF-D740-E3FC-2434-CA8C2B388A9D}"/>
              </a:ext>
            </a:extLst>
          </p:cNvPr>
          <p:cNvSpPr/>
          <p:nvPr/>
        </p:nvSpPr>
        <p:spPr>
          <a:xfrm rot="16200000">
            <a:off x="9533509" y="3385051"/>
            <a:ext cx="550055" cy="2725481"/>
          </a:xfrm>
          <a:prstGeom prst="righ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AD00C9A2-11A2-BDD3-92DC-D30B08D25592}"/>
              </a:ext>
            </a:extLst>
          </p:cNvPr>
          <p:cNvSpPr txBox="1"/>
          <p:nvPr/>
        </p:nvSpPr>
        <p:spPr>
          <a:xfrm>
            <a:off x="1020723" y="4557270"/>
            <a:ext cx="2934586" cy="276999"/>
          </a:xfrm>
          <a:prstGeom prst="rect">
            <a:avLst/>
          </a:prstGeom>
          <a:noFill/>
        </p:spPr>
        <p:txBody>
          <a:bodyPr wrap="square" rtlCol="0">
            <a:spAutoFit/>
          </a:bodyPr>
          <a:lstStyle/>
          <a:p>
            <a:pPr algn="ctr"/>
            <a:r>
              <a:rPr lang="en-US" sz="1200" b="1" dirty="0"/>
              <a:t>High Quality / Low Risk Range</a:t>
            </a:r>
          </a:p>
        </p:txBody>
      </p:sp>
      <p:sp>
        <p:nvSpPr>
          <p:cNvPr id="6" name="TextBox 5">
            <a:extLst>
              <a:ext uri="{FF2B5EF4-FFF2-40B4-BE49-F238E27FC236}">
                <a16:creationId xmlns:a16="http://schemas.microsoft.com/office/drawing/2014/main" id="{8785153A-45A2-17E5-C289-2D5E8DCD858F}"/>
              </a:ext>
            </a:extLst>
          </p:cNvPr>
          <p:cNvSpPr txBox="1"/>
          <p:nvPr/>
        </p:nvSpPr>
        <p:spPr>
          <a:xfrm>
            <a:off x="9108554" y="4557270"/>
            <a:ext cx="1715390" cy="276999"/>
          </a:xfrm>
          <a:prstGeom prst="rect">
            <a:avLst/>
          </a:prstGeom>
          <a:noFill/>
        </p:spPr>
        <p:txBody>
          <a:bodyPr wrap="square" rtlCol="0">
            <a:spAutoFit/>
          </a:bodyPr>
          <a:lstStyle/>
          <a:p>
            <a:r>
              <a:rPr lang="en-US" sz="1200" b="1" dirty="0"/>
              <a:t>Poor Quality Range</a:t>
            </a:r>
          </a:p>
        </p:txBody>
      </p:sp>
      <p:sp>
        <p:nvSpPr>
          <p:cNvPr id="7" name="Callout: Double Bent Line with Border and Accent Bar 6">
            <a:extLst>
              <a:ext uri="{FF2B5EF4-FFF2-40B4-BE49-F238E27FC236}">
                <a16:creationId xmlns:a16="http://schemas.microsoft.com/office/drawing/2014/main" id="{78F36B1E-519F-7EBA-22B3-6DB6790F5AAB}"/>
              </a:ext>
            </a:extLst>
          </p:cNvPr>
          <p:cNvSpPr/>
          <p:nvPr/>
        </p:nvSpPr>
        <p:spPr>
          <a:xfrm>
            <a:off x="1865376" y="1612900"/>
            <a:ext cx="2239929" cy="1889808"/>
          </a:xfrm>
          <a:prstGeom prst="accentBorderCallout3">
            <a:avLst>
              <a:gd name="adj1" fmla="val 18750"/>
              <a:gd name="adj2" fmla="val -8333"/>
              <a:gd name="adj3" fmla="val 18750"/>
              <a:gd name="adj4" fmla="val -16667"/>
              <a:gd name="adj5" fmla="val 94763"/>
              <a:gd name="adj6" fmla="val -17301"/>
              <a:gd name="adj7" fmla="val 152093"/>
              <a:gd name="adj8" fmla="val 23127"/>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52B59A8-494E-5CE1-EDA3-3C561B1BCB92}"/>
              </a:ext>
            </a:extLst>
          </p:cNvPr>
          <p:cNvSpPr txBox="1"/>
          <p:nvPr/>
        </p:nvSpPr>
        <p:spPr>
          <a:xfrm>
            <a:off x="1934144" y="1915061"/>
            <a:ext cx="2210442" cy="1323439"/>
          </a:xfrm>
          <a:prstGeom prst="rect">
            <a:avLst/>
          </a:prstGeom>
          <a:noFill/>
          <a:ln>
            <a:noFill/>
          </a:ln>
        </p:spPr>
        <p:txBody>
          <a:bodyPr wrap="square" rtlCol="0">
            <a:spAutoFit/>
          </a:bodyPr>
          <a:lstStyle/>
          <a:p>
            <a:r>
              <a:rPr lang="en-US" sz="1600" dirty="0"/>
              <a:t>17 loans have no assigned risk rating, which warrants follow-up to ensure accurate portfolio classification</a:t>
            </a:r>
          </a:p>
        </p:txBody>
      </p:sp>
      <p:sp>
        <p:nvSpPr>
          <p:cNvPr id="11" name="Callout: Double Bent Line with Border and Accent Bar 10">
            <a:extLst>
              <a:ext uri="{FF2B5EF4-FFF2-40B4-BE49-F238E27FC236}">
                <a16:creationId xmlns:a16="http://schemas.microsoft.com/office/drawing/2014/main" id="{48A45D72-4484-4F40-15E0-07561125D8E4}"/>
              </a:ext>
            </a:extLst>
          </p:cNvPr>
          <p:cNvSpPr/>
          <p:nvPr/>
        </p:nvSpPr>
        <p:spPr>
          <a:xfrm>
            <a:off x="8688571" y="1539191"/>
            <a:ext cx="2239929" cy="1889808"/>
          </a:xfrm>
          <a:prstGeom prst="accentBorderCallout3">
            <a:avLst>
              <a:gd name="adj1" fmla="val 18750"/>
              <a:gd name="adj2" fmla="val -8333"/>
              <a:gd name="adj3" fmla="val 18750"/>
              <a:gd name="adj4" fmla="val -16667"/>
              <a:gd name="adj5" fmla="val 94763"/>
              <a:gd name="adj6" fmla="val -17301"/>
              <a:gd name="adj7" fmla="val 154781"/>
              <a:gd name="adj8" fmla="val 33900"/>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8D8ECC2-CF69-C39A-FB63-8F2A50E96152}"/>
              </a:ext>
            </a:extLst>
          </p:cNvPr>
          <p:cNvSpPr txBox="1"/>
          <p:nvPr/>
        </p:nvSpPr>
        <p:spPr>
          <a:xfrm>
            <a:off x="8931348" y="1883931"/>
            <a:ext cx="2239929" cy="1200329"/>
          </a:xfrm>
          <a:prstGeom prst="rect">
            <a:avLst/>
          </a:prstGeom>
          <a:noFill/>
        </p:spPr>
        <p:txBody>
          <a:bodyPr wrap="square" rtlCol="0">
            <a:spAutoFit/>
          </a:bodyPr>
          <a:lstStyle/>
          <a:p>
            <a:r>
              <a:rPr lang="en-US" dirty="0"/>
              <a:t>Low quality loans account for $12,026,930 of overall exposure</a:t>
            </a:r>
          </a:p>
        </p:txBody>
      </p:sp>
    </p:spTree>
    <p:extLst>
      <p:ext uri="{BB962C8B-B14F-4D97-AF65-F5344CB8AC3E}">
        <p14:creationId xmlns:p14="http://schemas.microsoft.com/office/powerpoint/2010/main" val="3818261920"/>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6EA72316-A3FE-2256-B101-C4FF78FD9C7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88F15FF-C116-B11F-85B4-3147D27DA5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477000"/>
          </a:xfrm>
          <a:prstGeom prst="rect">
            <a:avLst/>
          </a:prstGeom>
        </p:spPr>
      </p:pic>
      <p:sp>
        <p:nvSpPr>
          <p:cNvPr id="10" name="TextBox 9">
            <a:extLst>
              <a:ext uri="{FF2B5EF4-FFF2-40B4-BE49-F238E27FC236}">
                <a16:creationId xmlns:a16="http://schemas.microsoft.com/office/drawing/2014/main" id="{87ED9001-7053-C9FA-037C-BA554DD870C7}"/>
              </a:ext>
            </a:extLst>
          </p:cNvPr>
          <p:cNvSpPr txBox="1"/>
          <p:nvPr/>
        </p:nvSpPr>
        <p:spPr>
          <a:xfrm>
            <a:off x="8019536" y="294501"/>
            <a:ext cx="4040660" cy="369332"/>
          </a:xfrm>
          <a:prstGeom prst="rect">
            <a:avLst/>
          </a:prstGeom>
          <a:noFill/>
        </p:spPr>
        <p:txBody>
          <a:bodyPr wrap="square" rtlCol="0">
            <a:spAutoFit/>
          </a:bodyPr>
          <a:lstStyle/>
          <a:p>
            <a:pPr algn="r"/>
            <a:r>
              <a:rPr lang="en-US" b="1" dirty="0"/>
              <a:t>High Quality / Low Risk Range</a:t>
            </a:r>
          </a:p>
        </p:txBody>
      </p:sp>
    </p:spTree>
    <p:extLst>
      <p:ext uri="{BB962C8B-B14F-4D97-AF65-F5344CB8AC3E}">
        <p14:creationId xmlns:p14="http://schemas.microsoft.com/office/powerpoint/2010/main" val="3988648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CF947529-5D54-62AE-56C5-84064FEDA90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04410E8-6D14-4008-2183-621298EF2A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477000"/>
          </a:xfrm>
          <a:prstGeom prst="rect">
            <a:avLst/>
          </a:prstGeom>
        </p:spPr>
      </p:pic>
      <p:sp>
        <p:nvSpPr>
          <p:cNvPr id="5" name="TextBox 4">
            <a:extLst>
              <a:ext uri="{FF2B5EF4-FFF2-40B4-BE49-F238E27FC236}">
                <a16:creationId xmlns:a16="http://schemas.microsoft.com/office/drawing/2014/main" id="{789FA97F-8BC5-B2C9-2C5F-492F53765D60}"/>
              </a:ext>
            </a:extLst>
          </p:cNvPr>
          <p:cNvSpPr txBox="1"/>
          <p:nvPr/>
        </p:nvSpPr>
        <p:spPr>
          <a:xfrm>
            <a:off x="8019536" y="294501"/>
            <a:ext cx="4040660" cy="369332"/>
          </a:xfrm>
          <a:prstGeom prst="rect">
            <a:avLst/>
          </a:prstGeom>
          <a:noFill/>
        </p:spPr>
        <p:txBody>
          <a:bodyPr wrap="square" rtlCol="0">
            <a:spAutoFit/>
          </a:bodyPr>
          <a:lstStyle/>
          <a:p>
            <a:pPr algn="r"/>
            <a:r>
              <a:rPr lang="en-US" b="1" dirty="0"/>
              <a:t>Poor Quality Range</a:t>
            </a:r>
          </a:p>
        </p:txBody>
      </p:sp>
    </p:spTree>
    <p:extLst>
      <p:ext uri="{BB962C8B-B14F-4D97-AF65-F5344CB8AC3E}">
        <p14:creationId xmlns:p14="http://schemas.microsoft.com/office/powerpoint/2010/main" val="2692873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FA5B0188-578D-EE4C-0770-281DECFE08E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176434C-4A8C-4851-6199-9BFAB3734B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477000"/>
          </a:xfrm>
          <a:prstGeom prst="rect">
            <a:avLst/>
          </a:prstGeom>
        </p:spPr>
      </p:pic>
      <p:sp>
        <p:nvSpPr>
          <p:cNvPr id="9" name="TextBox 8">
            <a:extLst>
              <a:ext uri="{FF2B5EF4-FFF2-40B4-BE49-F238E27FC236}">
                <a16:creationId xmlns:a16="http://schemas.microsoft.com/office/drawing/2014/main" id="{B489C1EC-3735-13BA-B36E-CA77F245FFCB}"/>
              </a:ext>
            </a:extLst>
          </p:cNvPr>
          <p:cNvSpPr txBox="1"/>
          <p:nvPr/>
        </p:nvSpPr>
        <p:spPr>
          <a:xfrm>
            <a:off x="8019536" y="294501"/>
            <a:ext cx="4040660" cy="369332"/>
          </a:xfrm>
          <a:prstGeom prst="rect">
            <a:avLst/>
          </a:prstGeom>
          <a:noFill/>
        </p:spPr>
        <p:txBody>
          <a:bodyPr wrap="square" rtlCol="0">
            <a:spAutoFit/>
          </a:bodyPr>
          <a:lstStyle/>
          <a:p>
            <a:pPr algn="r"/>
            <a:r>
              <a:rPr lang="en-US" b="1" dirty="0"/>
              <a:t>Acceptable Quality Range</a:t>
            </a:r>
          </a:p>
        </p:txBody>
      </p:sp>
    </p:spTree>
    <p:extLst>
      <p:ext uri="{BB962C8B-B14F-4D97-AF65-F5344CB8AC3E}">
        <p14:creationId xmlns:p14="http://schemas.microsoft.com/office/powerpoint/2010/main" val="2423497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DEED4-1EA2-63A8-F052-801070E8AF45}"/>
              </a:ext>
            </a:extLst>
          </p:cNvPr>
          <p:cNvSpPr>
            <a:spLocks noGrp="1"/>
          </p:cNvSpPr>
          <p:nvPr>
            <p:ph type="title"/>
          </p:nvPr>
        </p:nvSpPr>
        <p:spPr>
          <a:xfrm>
            <a:off x="8096885" y="640080"/>
            <a:ext cx="3659246" cy="2926080"/>
          </a:xfrm>
        </p:spPr>
        <p:txBody>
          <a:bodyPr vert="horz" lIns="91440" tIns="45720" rIns="91440" bIns="45720" rtlCol="0" anchor="b">
            <a:normAutofit/>
          </a:bodyPr>
          <a:lstStyle/>
          <a:p>
            <a:r>
              <a:rPr lang="en-US" sz="4400" dirty="0">
                <a:solidFill>
                  <a:schemeClr val="tx1">
                    <a:lumMod val="75000"/>
                    <a:lumOff val="25000"/>
                  </a:schemeClr>
                </a:solidFill>
              </a:rPr>
              <a:t>Loan Exposure by Purpose</a:t>
            </a:r>
          </a:p>
        </p:txBody>
      </p:sp>
      <p:pic>
        <p:nvPicPr>
          <p:cNvPr id="10" name="Content Placeholder 9">
            <a:extLst>
              <a:ext uri="{FF2B5EF4-FFF2-40B4-BE49-F238E27FC236}">
                <a16:creationId xmlns:a16="http://schemas.microsoft.com/office/drawing/2014/main" id="{6C43ADCA-0C42-DA80-0999-6498AC397CF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82912" y="640080"/>
            <a:ext cx="5577840" cy="5577840"/>
          </a:xfrm>
          <a:prstGeom prst="rect">
            <a:avLst/>
          </a:prstGeom>
        </p:spPr>
      </p:pic>
    </p:spTree>
    <p:extLst>
      <p:ext uri="{BB962C8B-B14F-4D97-AF65-F5344CB8AC3E}">
        <p14:creationId xmlns:p14="http://schemas.microsoft.com/office/powerpoint/2010/main" val="3871588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25FA-BE52-BEFC-9155-D777DDB4E716}"/>
              </a:ext>
            </a:extLst>
          </p:cNvPr>
          <p:cNvSpPr>
            <a:spLocks noGrp="1"/>
          </p:cNvSpPr>
          <p:nvPr>
            <p:ph type="title"/>
          </p:nvPr>
        </p:nvSpPr>
        <p:spPr/>
        <p:txBody>
          <a:bodyPr/>
          <a:lstStyle/>
          <a:p>
            <a:r>
              <a:rPr lang="en-US" dirty="0"/>
              <a:t>Collateral Coverage</a:t>
            </a:r>
          </a:p>
        </p:txBody>
      </p:sp>
      <p:sp>
        <p:nvSpPr>
          <p:cNvPr id="3" name="Text Placeholder 2">
            <a:extLst>
              <a:ext uri="{FF2B5EF4-FFF2-40B4-BE49-F238E27FC236}">
                <a16:creationId xmlns:a16="http://schemas.microsoft.com/office/drawing/2014/main" id="{8FEB1A39-2521-E718-770D-B550A8EA094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40707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13AFB6F7-4A1E-9613-411B-B818608702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025E3-12B9-7E0F-D4C2-4C10BDDDF9A2}"/>
              </a:ext>
            </a:extLst>
          </p:cNvPr>
          <p:cNvSpPr>
            <a:spLocks noGrp="1"/>
          </p:cNvSpPr>
          <p:nvPr>
            <p:ph type="title"/>
          </p:nvPr>
        </p:nvSpPr>
        <p:spPr>
          <a:xfrm>
            <a:off x="8096885" y="640080"/>
            <a:ext cx="3659246" cy="2926080"/>
          </a:xfrm>
        </p:spPr>
        <p:txBody>
          <a:bodyPr vert="horz" lIns="91440" tIns="45720" rIns="91440" bIns="45720" rtlCol="0" anchor="b">
            <a:normAutofit/>
          </a:bodyPr>
          <a:lstStyle/>
          <a:p>
            <a:r>
              <a:rPr lang="en-US" sz="4400" dirty="0">
                <a:solidFill>
                  <a:schemeClr val="tx1">
                    <a:lumMod val="75000"/>
                    <a:lumOff val="25000"/>
                  </a:schemeClr>
                </a:solidFill>
              </a:rPr>
              <a:t>Loan Exposure by Collateral</a:t>
            </a:r>
          </a:p>
        </p:txBody>
      </p:sp>
      <p:pic>
        <p:nvPicPr>
          <p:cNvPr id="6" name="Content Placeholder 5">
            <a:extLst>
              <a:ext uri="{FF2B5EF4-FFF2-40B4-BE49-F238E27FC236}">
                <a16:creationId xmlns:a16="http://schemas.microsoft.com/office/drawing/2014/main" id="{743C01BE-ACD5-E027-EF1A-F6F9FCDCECC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892" r="-1" b="7356"/>
          <a:stretch>
            <a:fillRect/>
          </a:stretch>
        </p:blipFill>
        <p:spPr>
          <a:xfrm>
            <a:off x="16" y="10"/>
            <a:ext cx="7556889" cy="6857990"/>
          </a:xfrm>
          <a:prstGeom prst="rect">
            <a:avLst/>
          </a:prstGeom>
        </p:spPr>
      </p:pic>
    </p:spTree>
    <p:extLst>
      <p:ext uri="{BB962C8B-B14F-4D97-AF65-F5344CB8AC3E}">
        <p14:creationId xmlns:p14="http://schemas.microsoft.com/office/powerpoint/2010/main" val="31338560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DAAD4-26E0-E4DE-245D-7D313529AC13}"/>
              </a:ext>
            </a:extLst>
          </p:cNvPr>
          <p:cNvSpPr>
            <a:spLocks noGrp="1"/>
          </p:cNvSpPr>
          <p:nvPr>
            <p:ph type="title"/>
          </p:nvPr>
        </p:nvSpPr>
        <p:spPr/>
        <p:txBody>
          <a:bodyPr>
            <a:normAutofit/>
          </a:bodyPr>
          <a:lstStyle/>
          <a:p>
            <a:r>
              <a:rPr lang="en-US" sz="6000" dirty="0"/>
              <a:t>Total Deposit Fees</a:t>
            </a:r>
          </a:p>
        </p:txBody>
      </p:sp>
      <p:sp>
        <p:nvSpPr>
          <p:cNvPr id="3" name="Text Placeholder 2">
            <a:extLst>
              <a:ext uri="{FF2B5EF4-FFF2-40B4-BE49-F238E27FC236}">
                <a16:creationId xmlns:a16="http://schemas.microsoft.com/office/drawing/2014/main" id="{0948674C-30F6-832F-2651-C44EB870D5A1}"/>
              </a:ext>
            </a:extLst>
          </p:cNvPr>
          <p:cNvSpPr>
            <a:spLocks noGrp="1"/>
          </p:cNvSpPr>
          <p:nvPr>
            <p:ph type="body" idx="1"/>
          </p:nvPr>
        </p:nvSpPr>
        <p:spPr/>
        <p:txBody>
          <a:bodyPr/>
          <a:lstStyle/>
          <a:p>
            <a:r>
              <a:rPr lang="en-US" dirty="0"/>
              <a:t>Types of Deposit Fees</a:t>
            </a:r>
          </a:p>
        </p:txBody>
      </p:sp>
      <p:sp>
        <p:nvSpPr>
          <p:cNvPr id="4" name="Content Placeholder 3">
            <a:extLst>
              <a:ext uri="{FF2B5EF4-FFF2-40B4-BE49-F238E27FC236}">
                <a16:creationId xmlns:a16="http://schemas.microsoft.com/office/drawing/2014/main" id="{C68C554F-57F6-EEBC-83EE-B69B4431872E}"/>
              </a:ext>
            </a:extLst>
          </p:cNvPr>
          <p:cNvSpPr>
            <a:spLocks noGrp="1"/>
          </p:cNvSpPr>
          <p:nvPr>
            <p:ph sz="half" idx="2"/>
          </p:nvPr>
        </p:nvSpPr>
        <p:spPr/>
        <p:txBody>
          <a:bodyPr>
            <a:normAutofit lnSpcReduction="10000"/>
          </a:bodyPr>
          <a:lstStyle/>
          <a:p>
            <a:r>
              <a:rPr lang="en-US" dirty="0"/>
              <a:t>Insufficient funds</a:t>
            </a:r>
          </a:p>
          <a:p>
            <a:r>
              <a:rPr lang="en-US" dirty="0"/>
              <a:t>Returned items</a:t>
            </a:r>
          </a:p>
          <a:p>
            <a:r>
              <a:rPr lang="en-US" dirty="0"/>
              <a:t>Wire &amp; Bill Pay</a:t>
            </a:r>
          </a:p>
          <a:p>
            <a:r>
              <a:rPr lang="en-US" dirty="0"/>
              <a:t>Remote deposit</a:t>
            </a:r>
          </a:p>
          <a:p>
            <a:r>
              <a:rPr lang="en-US" dirty="0"/>
              <a:t>Fraud protection</a:t>
            </a:r>
          </a:p>
          <a:p>
            <a:r>
              <a:rPr lang="en-US" dirty="0"/>
              <a:t>Stop pay</a:t>
            </a:r>
          </a:p>
          <a:p>
            <a:r>
              <a:rPr lang="en-US" dirty="0"/>
              <a:t>Cash management services</a:t>
            </a:r>
          </a:p>
        </p:txBody>
      </p:sp>
      <p:sp>
        <p:nvSpPr>
          <p:cNvPr id="5" name="Text Placeholder 4">
            <a:extLst>
              <a:ext uri="{FF2B5EF4-FFF2-40B4-BE49-F238E27FC236}">
                <a16:creationId xmlns:a16="http://schemas.microsoft.com/office/drawing/2014/main" id="{C7984C64-D4D2-02A2-EFDD-8A04F5EF7A82}"/>
              </a:ext>
            </a:extLst>
          </p:cNvPr>
          <p:cNvSpPr>
            <a:spLocks noGrp="1"/>
          </p:cNvSpPr>
          <p:nvPr>
            <p:ph type="body" sz="quarter" idx="3"/>
          </p:nvPr>
        </p:nvSpPr>
        <p:spPr/>
        <p:txBody>
          <a:bodyPr/>
          <a:lstStyle/>
          <a:p>
            <a:r>
              <a:rPr lang="en-US" dirty="0"/>
              <a:t>Fees refunded</a:t>
            </a:r>
          </a:p>
        </p:txBody>
      </p:sp>
      <p:sp>
        <p:nvSpPr>
          <p:cNvPr id="6" name="Content Placeholder 5">
            <a:extLst>
              <a:ext uri="{FF2B5EF4-FFF2-40B4-BE49-F238E27FC236}">
                <a16:creationId xmlns:a16="http://schemas.microsoft.com/office/drawing/2014/main" id="{7D13FBD4-6850-4B81-1762-133F0A0878A1}"/>
              </a:ext>
            </a:extLst>
          </p:cNvPr>
          <p:cNvSpPr>
            <a:spLocks noGrp="1"/>
          </p:cNvSpPr>
          <p:nvPr>
            <p:ph sz="quarter" idx="4"/>
          </p:nvPr>
        </p:nvSpPr>
        <p:spPr/>
        <p:txBody>
          <a:bodyPr>
            <a:normAutofit lnSpcReduction="10000"/>
          </a:bodyPr>
          <a:lstStyle/>
          <a:p>
            <a:r>
              <a:rPr lang="en-US" b="1" dirty="0"/>
              <a:t>2025</a:t>
            </a:r>
          </a:p>
          <a:p>
            <a:pPr lvl="1"/>
            <a:r>
              <a:rPr lang="en-US" dirty="0"/>
              <a:t>Total fees refunded - $4,098</a:t>
            </a:r>
          </a:p>
          <a:p>
            <a:pPr marL="201168" lvl="1" indent="0">
              <a:buNone/>
            </a:pPr>
            <a:endParaRPr lang="en-US" dirty="0"/>
          </a:p>
          <a:p>
            <a:pPr marL="201168" lvl="1" indent="0">
              <a:buNone/>
            </a:pPr>
            <a:r>
              <a:rPr lang="en-US" b="1" dirty="0"/>
              <a:t>2026 through report date</a:t>
            </a:r>
          </a:p>
          <a:p>
            <a:pPr lvl="1"/>
            <a:r>
              <a:rPr lang="en-US" dirty="0"/>
              <a:t>Total NSF fees refunded - $3,479</a:t>
            </a:r>
          </a:p>
          <a:p>
            <a:pPr lvl="1"/>
            <a:r>
              <a:rPr lang="en-US" dirty="0"/>
              <a:t>Total Other fees refunded - $4,653</a:t>
            </a:r>
          </a:p>
          <a:p>
            <a:pPr lvl="1"/>
            <a:r>
              <a:rPr lang="en-US" dirty="0"/>
              <a:t>Total Service Charge fees refunded - $1,341</a:t>
            </a:r>
          </a:p>
          <a:p>
            <a:pPr lvl="1"/>
            <a:r>
              <a:rPr lang="en-US" dirty="0"/>
              <a:t>Total days portfolio overdraft – 957</a:t>
            </a:r>
          </a:p>
          <a:p>
            <a:pPr lvl="1"/>
            <a:endParaRPr lang="en-US" dirty="0"/>
          </a:p>
          <a:p>
            <a:pPr marL="201168" lvl="1" indent="0" algn="ctr">
              <a:buNone/>
            </a:pPr>
            <a:r>
              <a:rPr lang="en-US" b="1" dirty="0"/>
              <a:t>Total Fees Refunded as of Report Date</a:t>
            </a:r>
          </a:p>
          <a:p>
            <a:pPr marL="201168" lvl="1" indent="0" algn="ctr">
              <a:buNone/>
            </a:pPr>
            <a:r>
              <a:rPr lang="en-US" b="1" dirty="0"/>
              <a:t>$9,474</a:t>
            </a:r>
          </a:p>
        </p:txBody>
      </p:sp>
      <p:pic>
        <p:nvPicPr>
          <p:cNvPr id="8" name="Picture 7">
            <a:extLst>
              <a:ext uri="{FF2B5EF4-FFF2-40B4-BE49-F238E27FC236}">
                <a16:creationId xmlns:a16="http://schemas.microsoft.com/office/drawing/2014/main" id="{108E91B3-8FFC-C8BD-F138-BF3D402EDF12}"/>
              </a:ext>
            </a:extLst>
          </p:cNvPr>
          <p:cNvPicPr>
            <a:picLocks noChangeAspect="1"/>
          </p:cNvPicPr>
          <p:nvPr/>
        </p:nvPicPr>
        <p:blipFill>
          <a:blip r:embed="rId4">
            <a:alphaModFix amt="20000"/>
          </a:blip>
          <a:stretch>
            <a:fillRect/>
          </a:stretch>
        </p:blipFill>
        <p:spPr>
          <a:xfrm>
            <a:off x="0" y="0"/>
            <a:ext cx="9209686" cy="6334987"/>
          </a:xfrm>
          <a:prstGeom prst="rect">
            <a:avLst/>
          </a:prstGeom>
        </p:spPr>
      </p:pic>
      <p:pic>
        <p:nvPicPr>
          <p:cNvPr id="12" name="Picture 11">
            <a:extLst>
              <a:ext uri="{FF2B5EF4-FFF2-40B4-BE49-F238E27FC236}">
                <a16:creationId xmlns:a16="http://schemas.microsoft.com/office/drawing/2014/main" id="{51F3F82B-BA61-62F0-B242-8B6DFE925346}"/>
              </a:ext>
            </a:extLst>
          </p:cNvPr>
          <p:cNvPicPr>
            <a:picLocks noChangeAspect="1"/>
          </p:cNvPicPr>
          <p:nvPr/>
        </p:nvPicPr>
        <p:blipFill>
          <a:blip r:embed="rId5"/>
          <a:stretch>
            <a:fillRect/>
          </a:stretch>
        </p:blipFill>
        <p:spPr>
          <a:xfrm>
            <a:off x="9209686" y="0"/>
            <a:ext cx="9211854" cy="6334293"/>
          </a:xfrm>
          <a:prstGeom prst="rect">
            <a:avLst/>
          </a:prstGeom>
        </p:spPr>
      </p:pic>
    </p:spTree>
    <p:extLst>
      <p:ext uri="{BB962C8B-B14F-4D97-AF65-F5344CB8AC3E}">
        <p14:creationId xmlns:p14="http://schemas.microsoft.com/office/powerpoint/2010/main" val="3514498753"/>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AC23D-8258-A0F2-2159-8B2A8BFBAF7B}"/>
              </a:ext>
            </a:extLst>
          </p:cNvPr>
          <p:cNvSpPr>
            <a:spLocks noGrp="1"/>
          </p:cNvSpPr>
          <p:nvPr>
            <p:ph type="title"/>
          </p:nvPr>
        </p:nvSpPr>
        <p:spPr/>
        <p:txBody>
          <a:bodyPr/>
          <a:lstStyle/>
          <a:p>
            <a:r>
              <a:rPr lang="en-US" dirty="0"/>
              <a:t>Total Loan Fees</a:t>
            </a:r>
          </a:p>
        </p:txBody>
      </p:sp>
      <p:sp>
        <p:nvSpPr>
          <p:cNvPr id="3" name="Text Placeholder 2">
            <a:extLst>
              <a:ext uri="{FF2B5EF4-FFF2-40B4-BE49-F238E27FC236}">
                <a16:creationId xmlns:a16="http://schemas.microsoft.com/office/drawing/2014/main" id="{CAFB74EC-2F40-6E4F-7E65-EFC213ED2198}"/>
              </a:ext>
            </a:extLst>
          </p:cNvPr>
          <p:cNvSpPr>
            <a:spLocks noGrp="1"/>
          </p:cNvSpPr>
          <p:nvPr>
            <p:ph type="body" idx="1"/>
          </p:nvPr>
        </p:nvSpPr>
        <p:spPr/>
        <p:txBody>
          <a:bodyPr/>
          <a:lstStyle/>
          <a:p>
            <a:r>
              <a:rPr lang="en-US" dirty="0"/>
              <a:t>Types of Loan Fees</a:t>
            </a:r>
          </a:p>
        </p:txBody>
      </p:sp>
      <p:sp>
        <p:nvSpPr>
          <p:cNvPr id="4" name="Content Placeholder 3">
            <a:extLst>
              <a:ext uri="{FF2B5EF4-FFF2-40B4-BE49-F238E27FC236}">
                <a16:creationId xmlns:a16="http://schemas.microsoft.com/office/drawing/2014/main" id="{30D553B8-853C-F4DC-9578-A93C29F784FE}"/>
              </a:ext>
            </a:extLst>
          </p:cNvPr>
          <p:cNvSpPr>
            <a:spLocks noGrp="1"/>
          </p:cNvSpPr>
          <p:nvPr>
            <p:ph sz="half" idx="2"/>
          </p:nvPr>
        </p:nvSpPr>
        <p:spPr/>
        <p:txBody>
          <a:bodyPr/>
          <a:lstStyle/>
          <a:p>
            <a:r>
              <a:rPr lang="en-US" dirty="0"/>
              <a:t>Loan origination fees</a:t>
            </a:r>
          </a:p>
          <a:p>
            <a:r>
              <a:rPr lang="en-US" dirty="0"/>
              <a:t>Document preparation fees</a:t>
            </a:r>
          </a:p>
          <a:p>
            <a:r>
              <a:rPr lang="en-US" dirty="0"/>
              <a:t>Late fees</a:t>
            </a:r>
          </a:p>
          <a:p>
            <a:r>
              <a:rPr lang="en-US" dirty="0"/>
              <a:t>Prepayment penalty fees</a:t>
            </a:r>
          </a:p>
        </p:txBody>
      </p:sp>
      <p:sp>
        <p:nvSpPr>
          <p:cNvPr id="5" name="Text Placeholder 4">
            <a:extLst>
              <a:ext uri="{FF2B5EF4-FFF2-40B4-BE49-F238E27FC236}">
                <a16:creationId xmlns:a16="http://schemas.microsoft.com/office/drawing/2014/main" id="{91DBB06E-3866-70A6-D6B8-9B85D4F026E4}"/>
              </a:ext>
            </a:extLst>
          </p:cNvPr>
          <p:cNvSpPr>
            <a:spLocks noGrp="1"/>
          </p:cNvSpPr>
          <p:nvPr>
            <p:ph type="body" sz="quarter" idx="3"/>
          </p:nvPr>
        </p:nvSpPr>
        <p:spPr/>
        <p:txBody>
          <a:bodyPr/>
          <a:lstStyle/>
          <a:p>
            <a:r>
              <a:rPr lang="en-US" dirty="0"/>
              <a:t>Fees refunded</a:t>
            </a:r>
          </a:p>
        </p:txBody>
      </p:sp>
      <p:sp>
        <p:nvSpPr>
          <p:cNvPr id="6" name="Content Placeholder 5">
            <a:extLst>
              <a:ext uri="{FF2B5EF4-FFF2-40B4-BE49-F238E27FC236}">
                <a16:creationId xmlns:a16="http://schemas.microsoft.com/office/drawing/2014/main" id="{D35F9395-2A10-B027-9AD9-5589AF56E53B}"/>
              </a:ext>
            </a:extLst>
          </p:cNvPr>
          <p:cNvSpPr>
            <a:spLocks noGrp="1"/>
          </p:cNvSpPr>
          <p:nvPr>
            <p:ph sz="quarter" idx="4"/>
          </p:nvPr>
        </p:nvSpPr>
        <p:spPr/>
        <p:txBody>
          <a:bodyPr/>
          <a:lstStyle/>
          <a:p>
            <a:r>
              <a:rPr lang="en-US" dirty="0"/>
              <a:t>Total late charges paid this year - $6,932</a:t>
            </a:r>
          </a:p>
          <a:p>
            <a:r>
              <a:rPr lang="en-US" dirty="0"/>
              <a:t>Total late charges waived this year - $4,458</a:t>
            </a:r>
          </a:p>
        </p:txBody>
      </p:sp>
      <p:pic>
        <p:nvPicPr>
          <p:cNvPr id="8" name="Picture 7">
            <a:extLst>
              <a:ext uri="{FF2B5EF4-FFF2-40B4-BE49-F238E27FC236}">
                <a16:creationId xmlns:a16="http://schemas.microsoft.com/office/drawing/2014/main" id="{F9551A20-6BBC-427B-44DF-F649E85AF06D}"/>
              </a:ext>
            </a:extLst>
          </p:cNvPr>
          <p:cNvPicPr>
            <a:picLocks noChangeAspect="1"/>
          </p:cNvPicPr>
          <p:nvPr/>
        </p:nvPicPr>
        <p:blipFill>
          <a:blip r:embed="rId4">
            <a:alphaModFix amt="20000"/>
          </a:blip>
          <a:stretch>
            <a:fillRect/>
          </a:stretch>
        </p:blipFill>
        <p:spPr>
          <a:xfrm>
            <a:off x="0" y="0"/>
            <a:ext cx="6035040" cy="3854648"/>
          </a:xfrm>
          <a:prstGeom prst="rect">
            <a:avLst/>
          </a:prstGeom>
        </p:spPr>
      </p:pic>
      <p:pic>
        <p:nvPicPr>
          <p:cNvPr id="9" name="Picture 8">
            <a:extLst>
              <a:ext uri="{FF2B5EF4-FFF2-40B4-BE49-F238E27FC236}">
                <a16:creationId xmlns:a16="http://schemas.microsoft.com/office/drawing/2014/main" id="{29E7E51B-DA0D-6CA4-8C15-1771212E0324}"/>
              </a:ext>
            </a:extLst>
          </p:cNvPr>
          <p:cNvPicPr>
            <a:picLocks noChangeAspect="1"/>
          </p:cNvPicPr>
          <p:nvPr/>
        </p:nvPicPr>
        <p:blipFill>
          <a:blip r:embed="rId4">
            <a:alphaModFix amt="20000"/>
          </a:blip>
          <a:srcRect t="34332"/>
          <a:stretch>
            <a:fillRect/>
          </a:stretch>
        </p:blipFill>
        <p:spPr>
          <a:xfrm>
            <a:off x="6082" y="3854648"/>
            <a:ext cx="6028958" cy="2503622"/>
          </a:xfrm>
          <a:prstGeom prst="rect">
            <a:avLst/>
          </a:prstGeom>
        </p:spPr>
      </p:pic>
      <p:pic>
        <p:nvPicPr>
          <p:cNvPr id="10" name="Picture 9">
            <a:extLst>
              <a:ext uri="{FF2B5EF4-FFF2-40B4-BE49-F238E27FC236}">
                <a16:creationId xmlns:a16="http://schemas.microsoft.com/office/drawing/2014/main" id="{357BDADE-8544-BEAB-D8F3-0637201D8A9E}"/>
              </a:ext>
            </a:extLst>
          </p:cNvPr>
          <p:cNvPicPr>
            <a:picLocks noChangeAspect="1"/>
          </p:cNvPicPr>
          <p:nvPr/>
        </p:nvPicPr>
        <p:blipFill>
          <a:blip r:embed="rId4">
            <a:alphaModFix amt="20000"/>
          </a:blip>
          <a:stretch>
            <a:fillRect/>
          </a:stretch>
        </p:blipFill>
        <p:spPr>
          <a:xfrm>
            <a:off x="6035040" y="0"/>
            <a:ext cx="6156962" cy="3854648"/>
          </a:xfrm>
          <a:prstGeom prst="rect">
            <a:avLst/>
          </a:prstGeom>
        </p:spPr>
      </p:pic>
      <p:pic>
        <p:nvPicPr>
          <p:cNvPr id="11" name="Picture 10">
            <a:extLst>
              <a:ext uri="{FF2B5EF4-FFF2-40B4-BE49-F238E27FC236}">
                <a16:creationId xmlns:a16="http://schemas.microsoft.com/office/drawing/2014/main" id="{8150C0A7-73D2-B84E-92F2-8A6024230B8B}"/>
              </a:ext>
            </a:extLst>
          </p:cNvPr>
          <p:cNvPicPr>
            <a:picLocks noChangeAspect="1"/>
          </p:cNvPicPr>
          <p:nvPr/>
        </p:nvPicPr>
        <p:blipFill>
          <a:blip r:embed="rId4">
            <a:alphaModFix amt="20000"/>
          </a:blip>
          <a:srcRect t="34332"/>
          <a:stretch>
            <a:fillRect/>
          </a:stretch>
        </p:blipFill>
        <p:spPr>
          <a:xfrm>
            <a:off x="6035038" y="3854648"/>
            <a:ext cx="6156962" cy="2503622"/>
          </a:xfrm>
          <a:prstGeom prst="rect">
            <a:avLst/>
          </a:prstGeom>
        </p:spPr>
      </p:pic>
      <p:graphicFrame>
        <p:nvGraphicFramePr>
          <p:cNvPr id="15" name="Chart 14">
            <a:extLst>
              <a:ext uri="{FF2B5EF4-FFF2-40B4-BE49-F238E27FC236}">
                <a16:creationId xmlns:a16="http://schemas.microsoft.com/office/drawing/2014/main" id="{2F5C423D-1807-9DE5-C386-5E1FE430B9F9}"/>
              </a:ext>
            </a:extLst>
          </p:cNvPr>
          <p:cNvGraphicFramePr>
            <a:graphicFrameLocks/>
          </p:cNvGraphicFramePr>
          <p:nvPr>
            <p:extLst>
              <p:ext uri="{D42A27DB-BD31-4B8C-83A1-F6EECF244321}">
                <p14:modId xmlns:p14="http://schemas.microsoft.com/office/powerpoint/2010/main" val="1622338009"/>
              </p:ext>
            </p:extLst>
          </p:nvPr>
        </p:nvGraphicFramePr>
        <p:xfrm>
          <a:off x="5160010" y="3490271"/>
          <a:ext cx="705358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119900356"/>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33EC4-E0CF-A44D-F992-7B3B26283F5C}"/>
              </a:ext>
            </a:extLst>
          </p:cNvPr>
          <p:cNvSpPr>
            <a:spLocks noGrp="1"/>
          </p:cNvSpPr>
          <p:nvPr>
            <p:ph type="title"/>
          </p:nvPr>
        </p:nvSpPr>
        <p:spPr/>
        <p:txBody>
          <a:bodyPr/>
          <a:lstStyle/>
          <a:p>
            <a:r>
              <a:rPr lang="en-US" dirty="0"/>
              <a:t>Interest Income &amp; Liability</a:t>
            </a:r>
          </a:p>
        </p:txBody>
      </p:sp>
      <p:sp>
        <p:nvSpPr>
          <p:cNvPr id="3" name="Text Placeholder 2">
            <a:extLst>
              <a:ext uri="{FF2B5EF4-FFF2-40B4-BE49-F238E27FC236}">
                <a16:creationId xmlns:a16="http://schemas.microsoft.com/office/drawing/2014/main" id="{4C3160D5-8A8D-782A-90C3-628055FFF192}"/>
              </a:ext>
            </a:extLst>
          </p:cNvPr>
          <p:cNvSpPr>
            <a:spLocks noGrp="1"/>
          </p:cNvSpPr>
          <p:nvPr>
            <p:ph type="body" idx="1"/>
          </p:nvPr>
        </p:nvSpPr>
        <p:spPr/>
        <p:txBody>
          <a:bodyPr/>
          <a:lstStyle/>
          <a:p>
            <a:r>
              <a:rPr lang="en-US" dirty="0"/>
              <a:t>Interest income</a:t>
            </a:r>
          </a:p>
        </p:txBody>
      </p:sp>
      <p:sp>
        <p:nvSpPr>
          <p:cNvPr id="4" name="Content Placeholder 3">
            <a:extLst>
              <a:ext uri="{FF2B5EF4-FFF2-40B4-BE49-F238E27FC236}">
                <a16:creationId xmlns:a16="http://schemas.microsoft.com/office/drawing/2014/main" id="{F3FDCF5B-E3DC-AAE3-09AD-C4216B796A87}"/>
              </a:ext>
            </a:extLst>
          </p:cNvPr>
          <p:cNvSpPr>
            <a:spLocks noGrp="1"/>
          </p:cNvSpPr>
          <p:nvPr>
            <p:ph sz="half" idx="2"/>
          </p:nvPr>
        </p:nvSpPr>
        <p:spPr/>
        <p:txBody>
          <a:bodyPr/>
          <a:lstStyle/>
          <a:p>
            <a:r>
              <a:rPr lang="en-US" dirty="0"/>
              <a:t>Total interest accrued this year - $11,608,594</a:t>
            </a:r>
          </a:p>
        </p:txBody>
      </p:sp>
      <p:sp>
        <p:nvSpPr>
          <p:cNvPr id="5" name="Text Placeholder 4">
            <a:extLst>
              <a:ext uri="{FF2B5EF4-FFF2-40B4-BE49-F238E27FC236}">
                <a16:creationId xmlns:a16="http://schemas.microsoft.com/office/drawing/2014/main" id="{B82E2065-674F-57FD-51AB-B09A50E23D82}"/>
              </a:ext>
            </a:extLst>
          </p:cNvPr>
          <p:cNvSpPr>
            <a:spLocks noGrp="1"/>
          </p:cNvSpPr>
          <p:nvPr>
            <p:ph type="body" sz="quarter" idx="3"/>
          </p:nvPr>
        </p:nvSpPr>
        <p:spPr/>
        <p:txBody>
          <a:bodyPr/>
          <a:lstStyle/>
          <a:p>
            <a:r>
              <a:rPr lang="en-US" dirty="0"/>
              <a:t>Interest liabilities</a:t>
            </a:r>
          </a:p>
        </p:txBody>
      </p:sp>
      <p:sp>
        <p:nvSpPr>
          <p:cNvPr id="6" name="Content Placeholder 5">
            <a:extLst>
              <a:ext uri="{FF2B5EF4-FFF2-40B4-BE49-F238E27FC236}">
                <a16:creationId xmlns:a16="http://schemas.microsoft.com/office/drawing/2014/main" id="{995D0166-0D3E-E1FB-FB50-72AD2543C0FC}"/>
              </a:ext>
            </a:extLst>
          </p:cNvPr>
          <p:cNvSpPr>
            <a:spLocks noGrp="1"/>
          </p:cNvSpPr>
          <p:nvPr>
            <p:ph sz="quarter" idx="4"/>
          </p:nvPr>
        </p:nvSpPr>
        <p:spPr/>
        <p:txBody>
          <a:bodyPr/>
          <a:lstStyle/>
          <a:p>
            <a:r>
              <a:rPr lang="en-US" dirty="0"/>
              <a:t>Total interest paid last year - $3,776,803</a:t>
            </a:r>
          </a:p>
          <a:p>
            <a:r>
              <a:rPr lang="en-US" dirty="0"/>
              <a:t>Total interest paid this year - $888,383</a:t>
            </a:r>
          </a:p>
        </p:txBody>
      </p:sp>
      <p:sp>
        <p:nvSpPr>
          <p:cNvPr id="7" name="TextBox 6">
            <a:extLst>
              <a:ext uri="{FF2B5EF4-FFF2-40B4-BE49-F238E27FC236}">
                <a16:creationId xmlns:a16="http://schemas.microsoft.com/office/drawing/2014/main" id="{39E5015A-B511-7E90-B5B7-AC69105B12CF}"/>
              </a:ext>
            </a:extLst>
          </p:cNvPr>
          <p:cNvSpPr txBox="1"/>
          <p:nvPr/>
        </p:nvSpPr>
        <p:spPr>
          <a:xfrm>
            <a:off x="1097281" y="4077730"/>
            <a:ext cx="10058400" cy="461665"/>
          </a:xfrm>
          <a:prstGeom prst="rect">
            <a:avLst/>
          </a:prstGeom>
          <a:noFill/>
        </p:spPr>
        <p:txBody>
          <a:bodyPr wrap="square" rtlCol="0">
            <a:spAutoFit/>
          </a:bodyPr>
          <a:lstStyle/>
          <a:p>
            <a:pPr algn="ctr"/>
            <a:r>
              <a:rPr lang="en-US" sz="2400" b="1" dirty="0"/>
              <a:t>** Net interest income year to date - $10,720,211</a:t>
            </a:r>
          </a:p>
        </p:txBody>
      </p:sp>
      <p:sp>
        <p:nvSpPr>
          <p:cNvPr id="8" name="TextBox 7">
            <a:extLst>
              <a:ext uri="{FF2B5EF4-FFF2-40B4-BE49-F238E27FC236}">
                <a16:creationId xmlns:a16="http://schemas.microsoft.com/office/drawing/2014/main" id="{887C16F3-A5D2-F143-221E-DCE1EB3206B8}"/>
              </a:ext>
            </a:extLst>
          </p:cNvPr>
          <p:cNvSpPr txBox="1"/>
          <p:nvPr/>
        </p:nvSpPr>
        <p:spPr>
          <a:xfrm>
            <a:off x="0" y="6034791"/>
            <a:ext cx="10627112" cy="261610"/>
          </a:xfrm>
          <a:prstGeom prst="rect">
            <a:avLst/>
          </a:prstGeom>
          <a:noFill/>
        </p:spPr>
        <p:txBody>
          <a:bodyPr wrap="square" rtlCol="0">
            <a:spAutoFit/>
          </a:bodyPr>
          <a:lstStyle/>
          <a:p>
            <a:r>
              <a:rPr lang="en-US" sz="1050" dirty="0"/>
              <a:t>* Net interest income calculated from interest accrued YTD and not interest collected YTD.</a:t>
            </a:r>
          </a:p>
        </p:txBody>
      </p:sp>
    </p:spTree>
    <p:extLst>
      <p:ext uri="{BB962C8B-B14F-4D97-AF65-F5344CB8AC3E}">
        <p14:creationId xmlns:p14="http://schemas.microsoft.com/office/powerpoint/2010/main" val="3219029556"/>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F327C-7DCE-11BC-EC8A-C3ED14477900}"/>
              </a:ext>
            </a:extLst>
          </p:cNvPr>
          <p:cNvSpPr>
            <a:spLocks noGrp="1"/>
          </p:cNvSpPr>
          <p:nvPr>
            <p:ph type="title"/>
          </p:nvPr>
        </p:nvSpPr>
        <p:spPr/>
        <p:txBody>
          <a:bodyPr/>
          <a:lstStyle/>
          <a:p>
            <a:pPr algn="ctr"/>
            <a:r>
              <a:rPr lang="en-US" dirty="0"/>
              <a:t>Interest Income &amp; Yield</a:t>
            </a:r>
          </a:p>
        </p:txBody>
      </p:sp>
      <p:sp>
        <p:nvSpPr>
          <p:cNvPr id="3" name="Text Placeholder 2">
            <a:extLst>
              <a:ext uri="{FF2B5EF4-FFF2-40B4-BE49-F238E27FC236}">
                <a16:creationId xmlns:a16="http://schemas.microsoft.com/office/drawing/2014/main" id="{D80C817B-5248-E413-8889-6B91E2B4100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58453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469FA-0C8E-C8B0-B1A5-9CDE9E9F5339}"/>
              </a:ext>
            </a:extLst>
          </p:cNvPr>
          <p:cNvSpPr>
            <a:spLocks noGrp="1"/>
          </p:cNvSpPr>
          <p:nvPr>
            <p:ph type="title"/>
          </p:nvPr>
        </p:nvSpPr>
        <p:spPr/>
        <p:txBody>
          <a:bodyPr>
            <a:normAutofit/>
          </a:bodyPr>
          <a:lstStyle/>
          <a:p>
            <a:r>
              <a:rPr lang="en-US" sz="6000" dirty="0"/>
              <a:t>Portfolio Score</a:t>
            </a:r>
          </a:p>
        </p:txBody>
      </p:sp>
      <p:sp>
        <p:nvSpPr>
          <p:cNvPr id="3" name="Text Placeholder 2">
            <a:extLst>
              <a:ext uri="{FF2B5EF4-FFF2-40B4-BE49-F238E27FC236}">
                <a16:creationId xmlns:a16="http://schemas.microsoft.com/office/drawing/2014/main" id="{83B207F6-9556-804A-A7E4-415C62C8BB48}"/>
              </a:ext>
            </a:extLst>
          </p:cNvPr>
          <p:cNvSpPr>
            <a:spLocks noGrp="1"/>
          </p:cNvSpPr>
          <p:nvPr>
            <p:ph type="body" idx="1"/>
          </p:nvPr>
        </p:nvSpPr>
        <p:spPr>
          <a:ln>
            <a:noFill/>
          </a:ln>
        </p:spPr>
        <p:txBody>
          <a:bodyPr/>
          <a:lstStyle/>
          <a:p>
            <a:r>
              <a:rPr lang="en-US" dirty="0"/>
              <a:t>Portfolio score</a:t>
            </a:r>
          </a:p>
        </p:txBody>
      </p:sp>
      <p:sp>
        <p:nvSpPr>
          <p:cNvPr id="4" name="Content Placeholder 3">
            <a:extLst>
              <a:ext uri="{FF2B5EF4-FFF2-40B4-BE49-F238E27FC236}">
                <a16:creationId xmlns:a16="http://schemas.microsoft.com/office/drawing/2014/main" id="{926373EF-0876-B0BC-05E5-68C93CC5ABA6}"/>
              </a:ext>
            </a:extLst>
          </p:cNvPr>
          <p:cNvSpPr>
            <a:spLocks noGrp="1"/>
          </p:cNvSpPr>
          <p:nvPr>
            <p:ph sz="half" idx="2"/>
          </p:nvPr>
        </p:nvSpPr>
        <p:spPr/>
        <p:txBody>
          <a:bodyPr>
            <a:normAutofit fontScale="92500" lnSpcReduction="10000"/>
          </a:bodyPr>
          <a:lstStyle/>
          <a:p>
            <a:pPr algn="ctr"/>
            <a:r>
              <a:rPr lang="en-US" b="1" dirty="0"/>
              <a:t>Positive Metric</a:t>
            </a:r>
          </a:p>
          <a:p>
            <a:r>
              <a:rPr lang="en-US" i="1" dirty="0"/>
              <a:t>Measures whether an officer maintains a balanced portfolio across core product types</a:t>
            </a:r>
          </a:p>
          <a:p>
            <a:endParaRPr lang="en-US" i="1" dirty="0"/>
          </a:p>
          <a:p>
            <a:r>
              <a:rPr lang="en-US" dirty="0"/>
              <a:t>100 – Both loans and deposits present</a:t>
            </a:r>
          </a:p>
          <a:p>
            <a:r>
              <a:rPr lang="en-US" dirty="0"/>
              <a:t>50 – Either loans or deposits present</a:t>
            </a:r>
            <a:endParaRPr lang="en-US" i="1" dirty="0"/>
          </a:p>
          <a:p>
            <a:r>
              <a:rPr lang="en-US" dirty="0"/>
              <a:t>0 – Neither loans nor deposits present</a:t>
            </a:r>
          </a:p>
        </p:txBody>
      </p:sp>
      <p:sp>
        <p:nvSpPr>
          <p:cNvPr id="5" name="Text Placeholder 4">
            <a:extLst>
              <a:ext uri="{FF2B5EF4-FFF2-40B4-BE49-F238E27FC236}">
                <a16:creationId xmlns:a16="http://schemas.microsoft.com/office/drawing/2014/main" id="{404772EE-1E86-8D5C-69FA-60B9A35F2033}"/>
              </a:ext>
            </a:extLst>
          </p:cNvPr>
          <p:cNvSpPr>
            <a:spLocks noGrp="1"/>
          </p:cNvSpPr>
          <p:nvPr>
            <p:ph type="body" sz="quarter" idx="3"/>
          </p:nvPr>
        </p:nvSpPr>
        <p:spPr/>
        <p:txBody>
          <a:bodyPr/>
          <a:lstStyle/>
          <a:p>
            <a:r>
              <a:rPr lang="en-US" dirty="0"/>
              <a:t>Risk score</a:t>
            </a:r>
          </a:p>
        </p:txBody>
      </p:sp>
      <p:sp>
        <p:nvSpPr>
          <p:cNvPr id="6" name="Content Placeholder 5">
            <a:extLst>
              <a:ext uri="{FF2B5EF4-FFF2-40B4-BE49-F238E27FC236}">
                <a16:creationId xmlns:a16="http://schemas.microsoft.com/office/drawing/2014/main" id="{8BCD44FD-B7E7-5E69-4BBC-0EAF9FEBD784}"/>
              </a:ext>
            </a:extLst>
          </p:cNvPr>
          <p:cNvSpPr>
            <a:spLocks noGrp="1"/>
          </p:cNvSpPr>
          <p:nvPr>
            <p:ph sz="quarter" idx="4"/>
          </p:nvPr>
        </p:nvSpPr>
        <p:spPr/>
        <p:txBody>
          <a:bodyPr>
            <a:normAutofit fontScale="92500" lnSpcReduction="10000"/>
          </a:bodyPr>
          <a:lstStyle/>
          <a:p>
            <a:pPr algn="ctr"/>
            <a:r>
              <a:rPr lang="en-US" b="1" dirty="0"/>
              <a:t>Positive Metric</a:t>
            </a:r>
          </a:p>
          <a:p>
            <a:r>
              <a:rPr lang="en-US" i="1" dirty="0"/>
              <a:t>Measures the credit quality of a loan portfolio when loans are present</a:t>
            </a:r>
          </a:p>
          <a:p>
            <a:endParaRPr lang="en-US" i="1" dirty="0"/>
          </a:p>
          <a:p>
            <a:r>
              <a:rPr lang="en-US" dirty="0"/>
              <a:t>100 – No delinquency, nonaccrual, or charge off exposure</a:t>
            </a:r>
          </a:p>
          <a:p>
            <a:r>
              <a:rPr lang="en-US" dirty="0"/>
              <a:t>50 – Mid-range delinquency, nonaccrual, or charge off exposure</a:t>
            </a:r>
            <a:endParaRPr lang="en-US" i="1" dirty="0"/>
          </a:p>
          <a:p>
            <a:r>
              <a:rPr lang="en-US" dirty="0"/>
              <a:t>0 – High delinquency, nonaccrual, or charge off exposure</a:t>
            </a:r>
          </a:p>
        </p:txBody>
      </p:sp>
      <p:pic>
        <p:nvPicPr>
          <p:cNvPr id="12" name="Picture 11">
            <a:extLst>
              <a:ext uri="{FF2B5EF4-FFF2-40B4-BE49-F238E27FC236}">
                <a16:creationId xmlns:a16="http://schemas.microsoft.com/office/drawing/2014/main" id="{FB2B8025-24E2-4CB0-2EF2-C50F5B59E2B3}"/>
              </a:ext>
            </a:extLst>
          </p:cNvPr>
          <p:cNvPicPr>
            <a:picLocks noChangeAspect="1"/>
          </p:cNvPicPr>
          <p:nvPr/>
        </p:nvPicPr>
        <p:blipFill>
          <a:blip r:embed="rId3">
            <a:alphaModFix amt="20000"/>
          </a:blip>
          <a:stretch>
            <a:fillRect/>
          </a:stretch>
        </p:blipFill>
        <p:spPr>
          <a:xfrm>
            <a:off x="1097280" y="1"/>
            <a:ext cx="10058400" cy="1737360"/>
          </a:xfrm>
          <a:prstGeom prst="rect">
            <a:avLst/>
          </a:prstGeom>
        </p:spPr>
      </p:pic>
    </p:spTree>
    <p:extLst>
      <p:ext uri="{BB962C8B-B14F-4D97-AF65-F5344CB8AC3E}">
        <p14:creationId xmlns:p14="http://schemas.microsoft.com/office/powerpoint/2010/main" val="23155890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E3432-9E9B-3C34-337B-64CDBE36D959}"/>
              </a:ext>
            </a:extLst>
          </p:cNvPr>
          <p:cNvSpPr>
            <a:spLocks noGrp="1"/>
          </p:cNvSpPr>
          <p:nvPr>
            <p:ph type="title"/>
          </p:nvPr>
        </p:nvSpPr>
        <p:spPr>
          <a:xfrm>
            <a:off x="1097280" y="279515"/>
            <a:ext cx="10058400" cy="1450757"/>
          </a:xfrm>
        </p:spPr>
        <p:txBody>
          <a:bodyPr>
            <a:normAutofit/>
          </a:bodyPr>
          <a:lstStyle/>
          <a:p>
            <a:r>
              <a:rPr lang="en-US" sz="6000" dirty="0"/>
              <a:t>Portfolio Score </a:t>
            </a:r>
            <a:r>
              <a:rPr lang="en-US" sz="2400" dirty="0"/>
              <a:t>cont.</a:t>
            </a:r>
            <a:endParaRPr lang="en-US" sz="6000" dirty="0"/>
          </a:p>
        </p:txBody>
      </p:sp>
      <p:sp>
        <p:nvSpPr>
          <p:cNvPr id="3" name="Text Placeholder 2">
            <a:extLst>
              <a:ext uri="{FF2B5EF4-FFF2-40B4-BE49-F238E27FC236}">
                <a16:creationId xmlns:a16="http://schemas.microsoft.com/office/drawing/2014/main" id="{5A7DBC00-6700-2BFA-952F-67F69F35C2C6}"/>
              </a:ext>
            </a:extLst>
          </p:cNvPr>
          <p:cNvSpPr>
            <a:spLocks noGrp="1"/>
          </p:cNvSpPr>
          <p:nvPr>
            <p:ph type="body" idx="1"/>
          </p:nvPr>
        </p:nvSpPr>
        <p:spPr>
          <a:xfrm>
            <a:off x="1097280" y="1838964"/>
            <a:ext cx="4937760" cy="736282"/>
          </a:xfrm>
        </p:spPr>
        <p:txBody>
          <a:bodyPr/>
          <a:lstStyle/>
          <a:p>
            <a:r>
              <a:rPr lang="en-US" dirty="0"/>
              <a:t>Deposit score</a:t>
            </a:r>
          </a:p>
        </p:txBody>
      </p:sp>
      <p:sp>
        <p:nvSpPr>
          <p:cNvPr id="4" name="Content Placeholder 3">
            <a:extLst>
              <a:ext uri="{FF2B5EF4-FFF2-40B4-BE49-F238E27FC236}">
                <a16:creationId xmlns:a16="http://schemas.microsoft.com/office/drawing/2014/main" id="{1EC94759-49E3-D933-7DF9-B184F7A224C0}"/>
              </a:ext>
            </a:extLst>
          </p:cNvPr>
          <p:cNvSpPr>
            <a:spLocks noGrp="1"/>
          </p:cNvSpPr>
          <p:nvPr>
            <p:ph sz="half" idx="2"/>
          </p:nvPr>
        </p:nvSpPr>
        <p:spPr>
          <a:xfrm>
            <a:off x="1097280" y="2575246"/>
            <a:ext cx="4937760" cy="3378200"/>
          </a:xfrm>
        </p:spPr>
        <p:txBody>
          <a:bodyPr>
            <a:normAutofit fontScale="92500" lnSpcReduction="10000"/>
          </a:bodyPr>
          <a:lstStyle/>
          <a:p>
            <a:pPr algn="ctr"/>
            <a:r>
              <a:rPr lang="en-US" b="1"/>
              <a:t>+ </a:t>
            </a:r>
            <a:r>
              <a:rPr lang="en-US" b="1" dirty="0"/>
              <a:t>Positive Metric</a:t>
            </a:r>
            <a:r>
              <a:rPr lang="en-US" b="1"/>
              <a:t> +</a:t>
            </a:r>
            <a:endParaRPr lang="en-US" b="1" dirty="0"/>
          </a:p>
          <a:p>
            <a:r>
              <a:rPr lang="en-US" i="1" dirty="0"/>
              <a:t>Measures the strength and stability of an officer’s deposit portfolio</a:t>
            </a:r>
          </a:p>
          <a:p>
            <a:endParaRPr lang="en-US" i="1" dirty="0"/>
          </a:p>
          <a:p>
            <a:r>
              <a:rPr lang="en-US"/>
              <a:t>100 </a:t>
            </a:r>
            <a:r>
              <a:rPr lang="en-US" dirty="0"/>
              <a:t>– </a:t>
            </a:r>
            <a:r>
              <a:rPr lang="en-US"/>
              <a:t>Strong </a:t>
            </a:r>
            <a:r>
              <a:rPr lang="en-US" dirty="0"/>
              <a:t>deposit performance with </a:t>
            </a:r>
            <a:r>
              <a:rPr lang="en-US"/>
              <a:t>stable </a:t>
            </a:r>
            <a:r>
              <a:rPr lang="en-US" dirty="0"/>
              <a:t>balance levels</a:t>
            </a:r>
          </a:p>
          <a:p>
            <a:r>
              <a:rPr lang="en-US"/>
              <a:t>50 </a:t>
            </a:r>
            <a:r>
              <a:rPr lang="en-US" dirty="0"/>
              <a:t>– Mid range deposit performance with average balance levels</a:t>
            </a:r>
          </a:p>
          <a:p>
            <a:r>
              <a:rPr lang="en-US"/>
              <a:t>0 </a:t>
            </a:r>
            <a:r>
              <a:rPr lang="en-US" dirty="0"/>
              <a:t>– </a:t>
            </a:r>
            <a:r>
              <a:rPr lang="en-US"/>
              <a:t>Low </a:t>
            </a:r>
            <a:r>
              <a:rPr lang="en-US" dirty="0"/>
              <a:t>deposit performance with </a:t>
            </a:r>
            <a:r>
              <a:rPr lang="en-US"/>
              <a:t>weak</a:t>
            </a:r>
            <a:r>
              <a:rPr lang="en-US" dirty="0"/>
              <a:t> balance levels</a:t>
            </a:r>
          </a:p>
        </p:txBody>
      </p:sp>
      <p:sp>
        <p:nvSpPr>
          <p:cNvPr id="5" name="Text Placeholder 4">
            <a:extLst>
              <a:ext uri="{FF2B5EF4-FFF2-40B4-BE49-F238E27FC236}">
                <a16:creationId xmlns:a16="http://schemas.microsoft.com/office/drawing/2014/main" id="{C149C9AD-E65D-67CA-3685-4678EBAE5220}"/>
              </a:ext>
            </a:extLst>
          </p:cNvPr>
          <p:cNvSpPr>
            <a:spLocks noGrp="1"/>
          </p:cNvSpPr>
          <p:nvPr>
            <p:ph type="body" sz="quarter" idx="3"/>
          </p:nvPr>
        </p:nvSpPr>
        <p:spPr>
          <a:xfrm>
            <a:off x="6217920" y="1838964"/>
            <a:ext cx="4937760" cy="736282"/>
          </a:xfrm>
        </p:spPr>
        <p:txBody>
          <a:bodyPr/>
          <a:lstStyle/>
          <a:p>
            <a:r>
              <a:rPr lang="en-US" dirty="0"/>
              <a:t>Ops score</a:t>
            </a:r>
          </a:p>
        </p:txBody>
      </p:sp>
      <p:sp>
        <p:nvSpPr>
          <p:cNvPr id="6" name="Content Placeholder 5">
            <a:extLst>
              <a:ext uri="{FF2B5EF4-FFF2-40B4-BE49-F238E27FC236}">
                <a16:creationId xmlns:a16="http://schemas.microsoft.com/office/drawing/2014/main" id="{1B5E10BA-1BAB-72AC-F5D6-FE12D9B40796}"/>
              </a:ext>
            </a:extLst>
          </p:cNvPr>
          <p:cNvSpPr>
            <a:spLocks noGrp="1"/>
          </p:cNvSpPr>
          <p:nvPr>
            <p:ph sz="quarter" idx="4"/>
          </p:nvPr>
        </p:nvSpPr>
        <p:spPr>
          <a:xfrm>
            <a:off x="6217920" y="2575246"/>
            <a:ext cx="4937760" cy="3378200"/>
          </a:xfrm>
        </p:spPr>
        <p:txBody>
          <a:bodyPr>
            <a:normAutofit fontScale="92500" lnSpcReduction="10000"/>
          </a:bodyPr>
          <a:lstStyle/>
          <a:p>
            <a:r>
              <a:rPr lang="en-US" b="1" dirty="0"/>
              <a:t>Negative Metric</a:t>
            </a:r>
          </a:p>
          <a:p>
            <a:r>
              <a:rPr lang="en-US" i="1" dirty="0"/>
              <a:t>Measures operational discipline in fee – refund behavior</a:t>
            </a:r>
          </a:p>
          <a:p>
            <a:endParaRPr lang="en-US" i="1" dirty="0"/>
          </a:p>
          <a:p>
            <a:r>
              <a:rPr lang="en-US"/>
              <a:t>100 </a:t>
            </a:r>
            <a:r>
              <a:rPr lang="en-US" dirty="0"/>
              <a:t>– </a:t>
            </a:r>
            <a:r>
              <a:rPr lang="en-US"/>
              <a:t>Excellent </a:t>
            </a:r>
            <a:r>
              <a:rPr lang="en-US" dirty="0"/>
              <a:t>fee discipline with </a:t>
            </a:r>
            <a:r>
              <a:rPr lang="en-US"/>
              <a:t>low or minimal </a:t>
            </a:r>
            <a:r>
              <a:rPr lang="en-US" dirty="0"/>
              <a:t>fee refunds</a:t>
            </a:r>
          </a:p>
          <a:p>
            <a:r>
              <a:rPr lang="en-US"/>
              <a:t>50 </a:t>
            </a:r>
            <a:r>
              <a:rPr lang="en-US" dirty="0"/>
              <a:t>– Mixed fee discipline with inconsistent fee refunds</a:t>
            </a:r>
          </a:p>
          <a:p>
            <a:r>
              <a:rPr lang="en-US"/>
              <a:t>0 </a:t>
            </a:r>
            <a:r>
              <a:rPr lang="en-US" dirty="0"/>
              <a:t>– </a:t>
            </a:r>
            <a:r>
              <a:rPr lang="en-US"/>
              <a:t>Poor </a:t>
            </a:r>
            <a:r>
              <a:rPr lang="en-US" dirty="0"/>
              <a:t>fee discipline with </a:t>
            </a:r>
            <a:r>
              <a:rPr lang="en-US"/>
              <a:t>high volume of</a:t>
            </a:r>
            <a:r>
              <a:rPr lang="en-US" dirty="0"/>
              <a:t> fee refunds</a:t>
            </a:r>
          </a:p>
        </p:txBody>
      </p:sp>
      <p:pic>
        <p:nvPicPr>
          <p:cNvPr id="7" name="Picture 6">
            <a:extLst>
              <a:ext uri="{FF2B5EF4-FFF2-40B4-BE49-F238E27FC236}">
                <a16:creationId xmlns:a16="http://schemas.microsoft.com/office/drawing/2014/main" id="{1CFBB702-86A8-28F7-943A-E4C53122130C}"/>
              </a:ext>
            </a:extLst>
          </p:cNvPr>
          <p:cNvPicPr>
            <a:picLocks noChangeAspect="1"/>
          </p:cNvPicPr>
          <p:nvPr/>
        </p:nvPicPr>
        <p:blipFill>
          <a:blip r:embed="rId3">
            <a:alphaModFix amt="20000"/>
          </a:blip>
          <a:stretch>
            <a:fillRect/>
          </a:stretch>
        </p:blipFill>
        <p:spPr>
          <a:xfrm>
            <a:off x="1097280" y="1"/>
            <a:ext cx="10058400" cy="1737360"/>
          </a:xfrm>
          <a:prstGeom prst="rect">
            <a:avLst/>
          </a:prstGeom>
        </p:spPr>
      </p:pic>
    </p:spTree>
    <p:extLst>
      <p:ext uri="{BB962C8B-B14F-4D97-AF65-F5344CB8AC3E}">
        <p14:creationId xmlns:p14="http://schemas.microsoft.com/office/powerpoint/2010/main" val="18903930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ABEAC-AA53-3EAB-C76F-C6DFC08E71C4}"/>
              </a:ext>
            </a:extLst>
          </p:cNvPr>
          <p:cNvSpPr>
            <a:spLocks noGrp="1"/>
          </p:cNvSpPr>
          <p:nvPr>
            <p:ph type="title"/>
          </p:nvPr>
        </p:nvSpPr>
        <p:spPr/>
        <p:txBody>
          <a:bodyPr anchor="ctr"/>
          <a:lstStyle/>
          <a:p>
            <a:pPr algn="ctr"/>
            <a:r>
              <a:rPr lang="en-US"/>
              <a:t>Portfolio Scorecard Metrics</a:t>
            </a:r>
          </a:p>
        </p:txBody>
      </p:sp>
      <p:pic>
        <p:nvPicPr>
          <p:cNvPr id="6" name="Content Placeholder 5">
            <a:extLst>
              <a:ext uri="{FF2B5EF4-FFF2-40B4-BE49-F238E27FC236}">
                <a16:creationId xmlns:a16="http://schemas.microsoft.com/office/drawing/2014/main" id="{529A0AEE-8A30-DAEF-9C0A-46F456E1B62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61958" y="966604"/>
            <a:ext cx="6712984" cy="2549894"/>
          </a:xfrm>
          <a:prstGeom prst="rect">
            <a:avLst/>
          </a:prstGeom>
        </p:spPr>
      </p:pic>
      <p:sp>
        <p:nvSpPr>
          <p:cNvPr id="4" name="Text Placeholder 3">
            <a:extLst>
              <a:ext uri="{FF2B5EF4-FFF2-40B4-BE49-F238E27FC236}">
                <a16:creationId xmlns:a16="http://schemas.microsoft.com/office/drawing/2014/main" id="{74F4B0CF-A2EF-BDA1-7096-7D162FCB046C}"/>
              </a:ext>
            </a:extLst>
          </p:cNvPr>
          <p:cNvSpPr>
            <a:spLocks noGrp="1"/>
          </p:cNvSpPr>
          <p:nvPr>
            <p:ph type="body" sz="half" idx="2"/>
          </p:nvPr>
        </p:nvSpPr>
        <p:spPr>
          <a:xfrm>
            <a:off x="4561958" y="3914908"/>
            <a:ext cx="6712984" cy="2337036"/>
          </a:xfrm>
        </p:spPr>
        <p:txBody>
          <a:bodyPr/>
          <a:lstStyle/>
          <a:p>
            <a:pPr algn="ctr"/>
            <a:r>
              <a:rPr lang="en-US" dirty="0">
                <a:solidFill>
                  <a:schemeClr val="tx1"/>
                </a:solidFill>
              </a:rPr>
              <a:t>Risk Score – 35%</a:t>
            </a:r>
          </a:p>
          <a:p>
            <a:pPr algn="ctr"/>
            <a:r>
              <a:rPr lang="en-US" dirty="0">
                <a:solidFill>
                  <a:schemeClr val="tx1"/>
                </a:solidFill>
              </a:rPr>
              <a:t>Deposit Score – 15%</a:t>
            </a:r>
          </a:p>
          <a:p>
            <a:pPr algn="ctr"/>
            <a:r>
              <a:rPr lang="en-US" dirty="0">
                <a:solidFill>
                  <a:schemeClr val="tx1"/>
                </a:solidFill>
              </a:rPr>
              <a:t>Operations Score – 30%</a:t>
            </a:r>
          </a:p>
          <a:p>
            <a:pPr algn="ctr"/>
            <a:r>
              <a:rPr lang="en-US" dirty="0">
                <a:solidFill>
                  <a:schemeClr val="tx1"/>
                </a:solidFill>
              </a:rPr>
              <a:t>Portfolio Score – 20%</a:t>
            </a:r>
          </a:p>
          <a:p>
            <a:pPr algn="ctr"/>
            <a:r>
              <a:rPr lang="en-US" dirty="0">
                <a:solidFill>
                  <a:schemeClr val="tx1"/>
                </a:solidFill>
              </a:rPr>
              <a:t>Deposit Score – 15%</a:t>
            </a:r>
          </a:p>
        </p:txBody>
      </p:sp>
    </p:spTree>
    <p:extLst>
      <p:ext uri="{BB962C8B-B14F-4D97-AF65-F5344CB8AC3E}">
        <p14:creationId xmlns:p14="http://schemas.microsoft.com/office/powerpoint/2010/main" val="8355432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C04AAE-A04C-0BFF-BB07-BF7CF6AA1349}"/>
              </a:ext>
            </a:extLst>
          </p:cNvPr>
          <p:cNvSpPr>
            <a:spLocks noGrp="1"/>
          </p:cNvSpPr>
          <p:nvPr>
            <p:ph type="title"/>
          </p:nvPr>
        </p:nvSpPr>
        <p:spPr/>
        <p:txBody>
          <a:bodyPr/>
          <a:lstStyle/>
          <a:p>
            <a:r>
              <a:rPr lang="en-US" dirty="0"/>
              <a:t>Officer Performance Scorecard</a:t>
            </a:r>
          </a:p>
        </p:txBody>
      </p:sp>
      <p:sp>
        <p:nvSpPr>
          <p:cNvPr id="12" name="Text Placeholder 11">
            <a:extLst>
              <a:ext uri="{FF2B5EF4-FFF2-40B4-BE49-F238E27FC236}">
                <a16:creationId xmlns:a16="http://schemas.microsoft.com/office/drawing/2014/main" id="{748929F1-4C81-9E10-DE67-410B41EC7AF3}"/>
              </a:ext>
            </a:extLst>
          </p:cNvPr>
          <p:cNvSpPr>
            <a:spLocks noGrp="1"/>
          </p:cNvSpPr>
          <p:nvPr>
            <p:ph type="body" sz="half" idx="2"/>
          </p:nvPr>
        </p:nvSpPr>
        <p:spPr/>
        <p:txBody>
          <a:bodyPr/>
          <a:lstStyle/>
          <a:p>
            <a:endParaRPr lang="en-US" dirty="0"/>
          </a:p>
        </p:txBody>
      </p:sp>
      <p:graphicFrame>
        <p:nvGraphicFramePr>
          <p:cNvPr id="19" name="Chart 18">
            <a:extLst>
              <a:ext uri="{FF2B5EF4-FFF2-40B4-BE49-F238E27FC236}">
                <a16:creationId xmlns:a16="http://schemas.microsoft.com/office/drawing/2014/main" id="{3C458099-B20E-89BC-DC61-C59C2548C826}"/>
              </a:ext>
            </a:extLst>
          </p:cNvPr>
          <p:cNvGraphicFramePr>
            <a:graphicFrameLocks/>
          </p:cNvGraphicFramePr>
          <p:nvPr>
            <p:extLst>
              <p:ext uri="{D42A27DB-BD31-4B8C-83A1-F6EECF244321}">
                <p14:modId xmlns:p14="http://schemas.microsoft.com/office/powerpoint/2010/main" val="969365559"/>
              </p:ext>
            </p:extLst>
          </p:nvPr>
        </p:nvGraphicFramePr>
        <p:xfrm>
          <a:off x="1097280" y="0"/>
          <a:ext cx="10113264" cy="48323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496024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224F9-3669-4FB9-53B7-0D70C20971B9}"/>
              </a:ext>
            </a:extLst>
          </p:cNvPr>
          <p:cNvSpPr>
            <a:spLocks noGrp="1"/>
          </p:cNvSpPr>
          <p:nvPr>
            <p:ph type="title"/>
          </p:nvPr>
        </p:nvSpPr>
        <p:spPr>
          <a:xfrm>
            <a:off x="990932" y="286603"/>
            <a:ext cx="6750987" cy="1450757"/>
          </a:xfrm>
        </p:spPr>
        <p:txBody>
          <a:bodyPr>
            <a:normAutofit/>
          </a:bodyPr>
          <a:lstStyle/>
          <a:p>
            <a:r>
              <a:rPr lang="en-US">
                <a:solidFill>
                  <a:schemeClr val="accent2"/>
                </a:solidFill>
              </a:rPr>
              <a:t>Recommendations</a:t>
            </a:r>
          </a:p>
        </p:txBody>
      </p:sp>
      <p:sp>
        <p:nvSpPr>
          <p:cNvPr id="3" name="Content Placeholder 2">
            <a:extLst>
              <a:ext uri="{FF2B5EF4-FFF2-40B4-BE49-F238E27FC236}">
                <a16:creationId xmlns:a16="http://schemas.microsoft.com/office/drawing/2014/main" id="{D79E127F-AAAA-74FE-94D4-0450971C1592}"/>
              </a:ext>
            </a:extLst>
          </p:cNvPr>
          <p:cNvSpPr>
            <a:spLocks noGrp="1"/>
          </p:cNvSpPr>
          <p:nvPr>
            <p:ph idx="1"/>
          </p:nvPr>
        </p:nvSpPr>
        <p:spPr>
          <a:xfrm>
            <a:off x="1044204" y="2023962"/>
            <a:ext cx="6697715" cy="3845131"/>
          </a:xfrm>
        </p:spPr>
        <p:txBody>
          <a:bodyPr>
            <a:normAutofit/>
          </a:bodyPr>
          <a:lstStyle/>
          <a:p>
            <a:pPr marL="201168" lvl="1" indent="0">
              <a:buNone/>
            </a:pPr>
            <a:r>
              <a:rPr lang="en-US" dirty="0"/>
              <a:t>Strengthen Naming Conventions – Ensure consistent, standardized naming across all systems</a:t>
            </a:r>
          </a:p>
          <a:p>
            <a:pPr marL="201168" lvl="1" indent="0">
              <a:buNone/>
            </a:pPr>
            <a:r>
              <a:rPr lang="en-US" dirty="0"/>
              <a:t>Validate Physical &amp; Mailing Addresses – Align address fields across platforms</a:t>
            </a:r>
          </a:p>
          <a:p>
            <a:pPr marL="201168" lvl="1" indent="0">
              <a:buNone/>
            </a:pPr>
            <a:r>
              <a:rPr lang="en-US" dirty="0"/>
              <a:t>Standardize Fee Waiver Recording – Implement uniform tracking of waived fees across all systems to strengthen operational discipline, reduce discrepancies, and improve visibility into customer-impacting trends</a:t>
            </a:r>
          </a:p>
          <a:p>
            <a:pPr marL="201168" lvl="1" indent="0">
              <a:buNone/>
            </a:pPr>
            <a:r>
              <a:rPr lang="en-US" dirty="0"/>
              <a:t>Ongoing Data Accuracy Audits – Implement a recurring review cycle to validate critical data fields across systems, ensuring information remains current, consistent, and reliable for reporting, risk assessment, and operational decision-making</a:t>
            </a:r>
          </a:p>
          <a:p>
            <a:endParaRPr lang="en-US" dirty="0"/>
          </a:p>
        </p:txBody>
      </p:sp>
    </p:spTree>
    <p:extLst>
      <p:ext uri="{BB962C8B-B14F-4D97-AF65-F5344CB8AC3E}">
        <p14:creationId xmlns:p14="http://schemas.microsoft.com/office/powerpoint/2010/main" val="11337768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555DD5-37D6-123C-61FD-C8033BEEE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CC106E-F26F-09C2-6501-82B37264E29D}"/>
              </a:ext>
            </a:extLst>
          </p:cNvPr>
          <p:cNvSpPr>
            <a:spLocks noGrp="1"/>
          </p:cNvSpPr>
          <p:nvPr>
            <p:ph type="title"/>
          </p:nvPr>
        </p:nvSpPr>
        <p:spPr>
          <a:xfrm>
            <a:off x="990932" y="286603"/>
            <a:ext cx="6750987" cy="1450757"/>
          </a:xfrm>
        </p:spPr>
        <p:txBody>
          <a:bodyPr>
            <a:normAutofit/>
          </a:bodyPr>
          <a:lstStyle/>
          <a:p>
            <a:r>
              <a:rPr lang="en-US" dirty="0">
                <a:solidFill>
                  <a:schemeClr val="accent2"/>
                </a:solidFill>
              </a:rPr>
              <a:t>Next Steps</a:t>
            </a:r>
          </a:p>
        </p:txBody>
      </p:sp>
      <p:sp>
        <p:nvSpPr>
          <p:cNvPr id="3" name="Content Placeholder 2">
            <a:extLst>
              <a:ext uri="{FF2B5EF4-FFF2-40B4-BE49-F238E27FC236}">
                <a16:creationId xmlns:a16="http://schemas.microsoft.com/office/drawing/2014/main" id="{1BE2AB61-65B1-2422-5153-4D719D21823A}"/>
              </a:ext>
            </a:extLst>
          </p:cNvPr>
          <p:cNvSpPr>
            <a:spLocks noGrp="1"/>
          </p:cNvSpPr>
          <p:nvPr>
            <p:ph idx="1"/>
          </p:nvPr>
        </p:nvSpPr>
        <p:spPr>
          <a:xfrm>
            <a:off x="1044204" y="2023962"/>
            <a:ext cx="6697715" cy="3845131"/>
          </a:xfrm>
        </p:spPr>
        <p:txBody>
          <a:bodyPr>
            <a:normAutofit/>
          </a:bodyPr>
          <a:lstStyle/>
          <a:p>
            <a:r>
              <a:rPr lang="en-US" dirty="0"/>
              <a:t>Access additional fields for deeper dive</a:t>
            </a:r>
          </a:p>
          <a:p>
            <a:pPr lvl="1"/>
            <a:r>
              <a:rPr lang="en-US" dirty="0"/>
              <a:t>Transaction History</a:t>
            </a:r>
          </a:p>
          <a:p>
            <a:pPr lvl="1"/>
            <a:r>
              <a:rPr lang="en-US" dirty="0"/>
              <a:t>Collateral information</a:t>
            </a:r>
          </a:p>
          <a:p>
            <a:pPr marL="201168" lvl="1" indent="0">
              <a:buNone/>
            </a:pPr>
            <a:r>
              <a:rPr lang="en-US" sz="2000" dirty="0"/>
              <a:t>Add additional data points to enable time-lapse trend modeling</a:t>
            </a:r>
          </a:p>
          <a:p>
            <a:pPr lvl="1"/>
            <a:r>
              <a:rPr lang="en-US" dirty="0"/>
              <a:t>Interest income v liabilities</a:t>
            </a:r>
          </a:p>
          <a:p>
            <a:pPr lvl="1"/>
            <a:r>
              <a:rPr lang="en-US" dirty="0"/>
              <a:t>Partial collected and waived fees</a:t>
            </a:r>
          </a:p>
          <a:p>
            <a:pPr lvl="1"/>
            <a:endParaRPr lang="en-US" dirty="0"/>
          </a:p>
          <a:p>
            <a:pPr lvl="1"/>
            <a:endParaRPr lang="en-US" dirty="0"/>
          </a:p>
          <a:p>
            <a:pPr marL="201168" lvl="1" indent="0">
              <a:buNone/>
            </a:pPr>
            <a:endParaRPr lang="en-US" sz="2000" dirty="0"/>
          </a:p>
          <a:p>
            <a:pPr lvl="1"/>
            <a:endParaRPr lang="en-US" dirty="0"/>
          </a:p>
          <a:p>
            <a:pPr lvl="1"/>
            <a:endParaRPr lang="en-US" dirty="0"/>
          </a:p>
          <a:p>
            <a:endParaRPr lang="en-US" dirty="0"/>
          </a:p>
        </p:txBody>
      </p:sp>
    </p:spTree>
    <p:extLst>
      <p:ext uri="{BB962C8B-B14F-4D97-AF65-F5344CB8AC3E}">
        <p14:creationId xmlns:p14="http://schemas.microsoft.com/office/powerpoint/2010/main" val="1896087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3BF624-035C-3403-92EF-8F8EF6E4696A}"/>
              </a:ext>
            </a:extLst>
          </p:cNvPr>
          <p:cNvSpPr>
            <a:spLocks noGrp="1"/>
          </p:cNvSpPr>
          <p:nvPr>
            <p:ph type="title"/>
          </p:nvPr>
        </p:nvSpPr>
        <p:spPr/>
        <p:txBody>
          <a:bodyPr/>
          <a:lstStyle/>
          <a:p>
            <a:r>
              <a:rPr lang="en-US" dirty="0"/>
              <a:t>Final Acknowledgement</a:t>
            </a:r>
          </a:p>
        </p:txBody>
      </p:sp>
      <p:sp>
        <p:nvSpPr>
          <p:cNvPr id="5" name="Content Placeholder 4">
            <a:extLst>
              <a:ext uri="{FF2B5EF4-FFF2-40B4-BE49-F238E27FC236}">
                <a16:creationId xmlns:a16="http://schemas.microsoft.com/office/drawing/2014/main" id="{0DA4D9A6-D943-C905-DB54-DB609CD77C3D}"/>
              </a:ext>
            </a:extLst>
          </p:cNvPr>
          <p:cNvSpPr>
            <a:spLocks noGrp="1"/>
          </p:cNvSpPr>
          <p:nvPr>
            <p:ph idx="1"/>
          </p:nvPr>
        </p:nvSpPr>
        <p:spPr/>
        <p:txBody>
          <a:bodyPr>
            <a:normAutofit lnSpcReduction="10000"/>
          </a:bodyPr>
          <a:lstStyle/>
          <a:p>
            <a:r>
              <a:rPr lang="en-US" dirty="0"/>
              <a:t>This end – to – end data insights project was developed by Stephanie Dues in partnership with the Data Analytics Bootcamp at </a:t>
            </a:r>
            <a:r>
              <a:rPr lang="en-US" dirty="0" err="1"/>
              <a:t>FullStack</a:t>
            </a:r>
            <a:r>
              <a:rPr lang="en-US" dirty="0"/>
              <a:t> Academy</a:t>
            </a:r>
          </a:p>
          <a:p>
            <a:endParaRPr lang="en-US" dirty="0"/>
          </a:p>
          <a:p>
            <a:r>
              <a:rPr lang="en-US" dirty="0"/>
              <a:t>The Architecture of a Healthy Portfolio</a:t>
            </a:r>
          </a:p>
          <a:p>
            <a:endParaRPr lang="en-US" dirty="0"/>
          </a:p>
          <a:p>
            <a:r>
              <a:rPr lang="en-US" dirty="0"/>
              <a:t>Stephanie Dues - 2026</a:t>
            </a:r>
          </a:p>
          <a:p>
            <a:endParaRPr lang="en-US" dirty="0">
              <a:solidFill>
                <a:schemeClr val="tx1"/>
              </a:solidFill>
            </a:endParaRPr>
          </a:p>
          <a:p>
            <a:r>
              <a:rPr lang="en-US" dirty="0">
                <a:solidFill>
                  <a:schemeClr val="tx1"/>
                </a:solidFill>
                <a:hlinkClick r:id="rId3">
                  <a:extLst>
                    <a:ext uri="{A12FA001-AC4F-418D-AE19-62706E023703}">
                      <ahyp:hlinkClr xmlns:ahyp="http://schemas.microsoft.com/office/drawing/2018/hyperlinkcolor" val="tx"/>
                    </a:ext>
                  </a:extLst>
                </a:hlinkClick>
              </a:rPr>
              <a:t>https://www.linkedin.com/in/stephaniejdues/</a:t>
            </a:r>
            <a:endParaRPr lang="en-US" dirty="0">
              <a:solidFill>
                <a:schemeClr val="tx1"/>
              </a:solidFill>
            </a:endParaRPr>
          </a:p>
          <a:p>
            <a:endParaRPr lang="en-US" dirty="0"/>
          </a:p>
          <a:p>
            <a:r>
              <a:rPr lang="en-US" dirty="0"/>
              <a:t>Thank you</a:t>
            </a:r>
          </a:p>
        </p:txBody>
      </p:sp>
    </p:spTree>
    <p:extLst>
      <p:ext uri="{BB962C8B-B14F-4D97-AF65-F5344CB8AC3E}">
        <p14:creationId xmlns:p14="http://schemas.microsoft.com/office/powerpoint/2010/main" val="3434946995"/>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19867</TotalTime>
  <Words>3691</Words>
  <Application>Microsoft Office PowerPoint</Application>
  <PresentationFormat>Widescreen</PresentationFormat>
  <Paragraphs>279</Paragraphs>
  <Slides>27</Slides>
  <Notes>26</Notes>
  <HiddenSlides>7</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Calibri</vt:lpstr>
      <vt:lpstr>Calibri Light</vt:lpstr>
      <vt:lpstr>Retrospect</vt:lpstr>
      <vt:lpstr>The Architecture of a Healthy Portfolio</vt:lpstr>
      <vt:lpstr>Intent &amp; Direction</vt:lpstr>
      <vt:lpstr>Healthy Portfolio Overview</vt:lpstr>
      <vt:lpstr>Healthy Borrower Lender Relationship</vt:lpstr>
      <vt:lpstr>Data Intake &amp; Privacy Integrity</vt:lpstr>
      <vt:lpstr>Core System Extracts</vt:lpstr>
      <vt:lpstr>Constraints of Single – Point Data</vt:lpstr>
      <vt:lpstr>Portfolio Composition</vt:lpstr>
      <vt:lpstr>Loan Exposure and Deposit Balances</vt:lpstr>
      <vt:lpstr>PowerPoint Presentation</vt:lpstr>
      <vt:lpstr>PowerPoint Presentation</vt:lpstr>
      <vt:lpstr>PowerPoint Presentation</vt:lpstr>
      <vt:lpstr>PowerPoint Presentation</vt:lpstr>
      <vt:lpstr>Loan Exposure by Purpose</vt:lpstr>
      <vt:lpstr>Collateral Coverage</vt:lpstr>
      <vt:lpstr>Loan Exposure by Collateral</vt:lpstr>
      <vt:lpstr>Total Deposit Fees</vt:lpstr>
      <vt:lpstr>Total Loan Fees</vt:lpstr>
      <vt:lpstr>Interest Income &amp; Liability</vt:lpstr>
      <vt:lpstr>Interest Income &amp; Yield</vt:lpstr>
      <vt:lpstr>Portfolio Score</vt:lpstr>
      <vt:lpstr>Portfolio Score cont.</vt:lpstr>
      <vt:lpstr>Portfolio Scorecard Metrics</vt:lpstr>
      <vt:lpstr>Officer Performance Scorecard</vt:lpstr>
      <vt:lpstr>Recommendations</vt:lpstr>
      <vt:lpstr>Next Steps</vt:lpstr>
      <vt:lpstr>Final Acknowledgement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Stephanie Dues</dc:creator>
  <cp:lastModifiedBy>Stephanie Dues</cp:lastModifiedBy>
  <cp:revision>2</cp:revision>
  <dcterms:created xsi:type="dcterms:W3CDTF">2026-05-06T02:21:13Z</dcterms:created>
  <dcterms:modified xsi:type="dcterms:W3CDTF">2026-05-29T00:19:02Z</dcterms:modified>
</cp:coreProperties>
</file>