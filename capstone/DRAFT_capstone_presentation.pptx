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32"/>
  </p:notesMasterIdLst>
  <p:sldIdLst>
    <p:sldId id="256" r:id="rId2"/>
    <p:sldId id="291" r:id="rId3"/>
    <p:sldId id="284" r:id="rId4"/>
    <p:sldId id="285" r:id="rId5"/>
    <p:sldId id="287" r:id="rId6"/>
    <p:sldId id="271" r:id="rId7"/>
    <p:sldId id="272" r:id="rId8"/>
    <p:sldId id="279" r:id="rId9"/>
    <p:sldId id="289" r:id="rId10"/>
    <p:sldId id="280" r:id="rId11"/>
    <p:sldId id="290" r:id="rId12"/>
    <p:sldId id="281" r:id="rId13"/>
    <p:sldId id="296" r:id="rId14"/>
    <p:sldId id="295" r:id="rId15"/>
    <p:sldId id="257" r:id="rId16"/>
    <p:sldId id="283" r:id="rId17"/>
    <p:sldId id="293" r:id="rId18"/>
    <p:sldId id="294" r:id="rId19"/>
    <p:sldId id="258" r:id="rId20"/>
    <p:sldId id="259" r:id="rId21"/>
    <p:sldId id="292" r:id="rId22"/>
    <p:sldId id="260" r:id="rId23"/>
    <p:sldId id="261" r:id="rId24"/>
    <p:sldId id="262" r:id="rId25"/>
    <p:sldId id="263" r:id="rId26"/>
    <p:sldId id="264" r:id="rId27"/>
    <p:sldId id="265" r:id="rId28"/>
    <p:sldId id="267" r:id="rId29"/>
    <p:sldId id="268" r:id="rId30"/>
    <p:sldId id="28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FC8574E-4327-436D-8D9B-4F365C9F35BA}">
          <p14:sldIdLst>
            <p14:sldId id="256"/>
          </p14:sldIdLst>
        </p14:section>
        <p14:section name="Introduction" id="{DF165229-914B-4CCC-AE0B-FE5E293D1524}">
          <p14:sldIdLst>
            <p14:sldId id="291"/>
            <p14:sldId id="284"/>
            <p14:sldId id="285"/>
            <p14:sldId id="287"/>
          </p14:sldIdLst>
        </p14:section>
        <p14:section name="Data Overview" id="{9625E479-B5EF-42BC-8596-BA51B86640BE}">
          <p14:sldIdLst>
            <p14:sldId id="271"/>
            <p14:sldId id="272"/>
            <p14:sldId id="279"/>
            <p14:sldId id="289"/>
            <p14:sldId id="280"/>
            <p14:sldId id="290"/>
            <p14:sldId id="281"/>
          </p14:sldIdLst>
        </p14:section>
        <p14:section name="Geographic Footprint" id="{60D85DFB-7151-4FA9-A66E-431BA2B5E602}">
          <p14:sldIdLst>
            <p14:sldId id="296"/>
            <p14:sldId id="295"/>
          </p14:sldIdLst>
        </p14:section>
        <p14:section name="Portfolio Composition" id="{FD670E08-8AE1-4E7B-A4B6-39F59C1B9F93}">
          <p14:sldIdLst>
            <p14:sldId id="257"/>
            <p14:sldId id="283"/>
            <p14:sldId id="293"/>
            <p14:sldId id="294"/>
          </p14:sldIdLst>
        </p14:section>
        <p14:section name="Balance &amp; Liquidity Quality" id="{25903B2B-AAC7-4EE2-937C-ABC0A1BAB49C}">
          <p14:sldIdLst>
            <p14:sldId id="258"/>
          </p14:sldIdLst>
        </p14:section>
        <p14:section name="Credit Risk Quality" id="{1FAE3ABA-430B-4306-B864-F403B35416A2}">
          <p14:sldIdLst>
            <p14:sldId id="259"/>
            <p14:sldId id="292"/>
          </p14:sldIdLst>
        </p14:section>
        <p14:section name="Collateral Coverage" id="{58001F87-2585-43C1-80E3-4A99E964F708}">
          <p14:sldIdLst>
            <p14:sldId id="260"/>
          </p14:sldIdLst>
        </p14:section>
        <p14:section name="Fee Income &amp; Operational Discipline" id="{4D150DE7-E919-4536-AD72-CD0CB3074D6E}">
          <p14:sldIdLst>
            <p14:sldId id="261"/>
          </p14:sldIdLst>
        </p14:section>
        <p14:section name="Interest Income &amp; Yield" id="{189AD586-9E68-4549-84EE-24C977C77D67}">
          <p14:sldIdLst>
            <p14:sldId id="262"/>
          </p14:sldIdLst>
        </p14:section>
        <p14:section name="Relationship Profitability" id="{FBEA1179-1349-43D7-B4CC-4F5191AAACED}">
          <p14:sldIdLst>
            <p14:sldId id="263"/>
          </p14:sldIdLst>
        </p14:section>
        <p14:section name="Concentration &amp; Exposure" id="{1B3349EF-4F19-4727-9CCF-7FB6DA0073E1}">
          <p14:sldIdLst>
            <p14:sldId id="264"/>
          </p14:sldIdLst>
        </p14:section>
        <p14:section name="Officer &amp; Branch Score Cards" id="{80F771FA-6A6A-4C12-AA4C-2D9E4F0A14C3}">
          <p14:sldIdLst>
            <p14:sldId id="265"/>
          </p14:sldIdLst>
        </p14:section>
        <p14:section name="Follow Up" id="{2D671FC3-ABAA-44A4-A4C9-7C0386BE8C93}">
          <p14:sldIdLst>
            <p14:sldId id="267"/>
            <p14:sldId id="268"/>
          </p14:sldIdLst>
        </p14:section>
        <p14:section name="Final Acknowledgement" id="{209FEE57-B243-497A-A9ED-2D62D19091B1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87234" autoAdjust="0"/>
  </p:normalViewPr>
  <p:slideViewPr>
    <p:cSldViewPr snapToGrid="0">
      <p:cViewPr varScale="1">
        <p:scale>
          <a:sx n="85" d="100"/>
          <a:sy n="85" d="100"/>
        </p:scale>
        <p:origin x="8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DA876-B6C5-4CAD-BF39-3264EF24F63D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B3749-3DD0-4FEA-A700-EA3B183B0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7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My name is Stephanie Dues and today I am presenting The Architecture of a Healthy Portfolio – Turning Raw Bank Data into Executive Ready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B3749-3DD0-4FEA-A700-EA3B183B0A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41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B3749-3DD0-4FEA-A700-EA3B183B0A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1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B3749-3DD0-4FEA-A700-EA3B183B0AC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0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99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5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7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6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7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8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1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8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0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6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tephaniejdu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Architecture of a Healthy Portfolio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Turning Raw Bank data into executive ready insight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7118-B9F7-C526-6629-86803388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F7141-C03E-5900-6F79-764FBCF2F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4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AE3D2-4A4B-4A30-2B63-6016475A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Healthy Portfolio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A5C5A0-0EFC-8FB0-30A2-A009046BB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Balanced Credit Exposure – Loan concentrations aligned with risk appetite and regulatory expectations</a:t>
            </a:r>
          </a:p>
          <a:p>
            <a:r>
              <a:rPr lang="en-US" dirty="0"/>
              <a:t>Strong Core Deposit Base – Stable, low – volatility funding supporting loan growth</a:t>
            </a:r>
          </a:p>
          <a:p>
            <a:r>
              <a:rPr lang="en-US" dirty="0"/>
              <a:t>Diversified Portfolio Mix – No outsized exposure to a single borrower, industry, or collateral type</a:t>
            </a:r>
          </a:p>
          <a:p>
            <a:r>
              <a:rPr lang="en-US" dirty="0"/>
              <a:t>Consistent Credit Quality – Stable risk grades, low delinquency, minimal expectations</a:t>
            </a:r>
          </a:p>
          <a:p>
            <a:r>
              <a:rPr lang="en-US" dirty="0"/>
              <a:t>Sustainable Relationship Profitability – returns that justify capital, servicing, and risk</a:t>
            </a:r>
          </a:p>
          <a:p>
            <a:r>
              <a:rPr lang="en-US" dirty="0"/>
              <a:t>Predictable Cash Flow Performance – repayment patterns that support long – term stability</a:t>
            </a:r>
          </a:p>
        </p:txBody>
      </p:sp>
    </p:spTree>
    <p:extLst>
      <p:ext uri="{BB962C8B-B14F-4D97-AF65-F5344CB8AC3E}">
        <p14:creationId xmlns:p14="http://schemas.microsoft.com/office/powerpoint/2010/main" val="268353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8FB4F-1395-0200-2725-26DA4AC0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Healthy Borrower Lender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E58F1-4585-23B8-B5C3-5ADA2EC5C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Deposit – Loan Balance Alignment – Deposits that meaningfully offset credit exposure</a:t>
            </a:r>
          </a:p>
          <a:p>
            <a:r>
              <a:rPr lang="en-US" dirty="0"/>
              <a:t>Engagement &amp; Activity – Active accounts, treasury services, and consistent deposit flows</a:t>
            </a:r>
          </a:p>
          <a:p>
            <a:r>
              <a:rPr lang="en-US" dirty="0"/>
              <a:t>Clean Payment Behavior – On time payments, low volatility, no recurring exceptions</a:t>
            </a:r>
          </a:p>
          <a:p>
            <a:r>
              <a:rPr lang="en-US" dirty="0"/>
              <a:t>Stable Risk Rating – No recent downgrades or emerging credit concerns</a:t>
            </a:r>
          </a:p>
          <a:p>
            <a:r>
              <a:rPr lang="en-US" dirty="0"/>
              <a:t>Relationship Profitability – Spreads, fees, and services that meet profitability targets</a:t>
            </a:r>
          </a:p>
          <a:p>
            <a:r>
              <a:rPr lang="en-US" dirty="0"/>
              <a:t>Transparent Communication – Borrower responsiveness and proactive financial updates</a:t>
            </a:r>
          </a:p>
        </p:txBody>
      </p:sp>
    </p:spTree>
    <p:extLst>
      <p:ext uri="{BB962C8B-B14F-4D97-AF65-F5344CB8AC3E}">
        <p14:creationId xmlns:p14="http://schemas.microsoft.com/office/powerpoint/2010/main" val="90445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4027-1137-917D-A6C7-7E19E16C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Constraints of Single – Point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0A155-775C-5E4E-9673-8EA3C6143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Single Snapshot of Data – Analysis reflects one point in time; no ability to observe trends or seasonality</a:t>
            </a:r>
          </a:p>
          <a:p>
            <a:r>
              <a:rPr lang="en-US" dirty="0"/>
              <a:t>No Recurring System Access – Unable to validate changes, updates, or corrections made after data extraction</a:t>
            </a:r>
          </a:p>
          <a:p>
            <a:r>
              <a:rPr lang="en-US" dirty="0"/>
              <a:t>Limited Behavioral Insight – Cannot measure borrower activity patterns, deposit volatility, or payment consistency over time</a:t>
            </a:r>
          </a:p>
          <a:p>
            <a:r>
              <a:rPr lang="en-US" dirty="0"/>
              <a:t>Static Credit Indicators – Risk grades, collateral values, and exceptions cannot be trended or monitored for movement</a:t>
            </a:r>
          </a:p>
          <a:p>
            <a:r>
              <a:rPr lang="en-US" dirty="0"/>
              <a:t>Incomplete Profitability Picture – Fee income, treasury usage, and yield contribution cannot be evaluated longitudinally</a:t>
            </a:r>
          </a:p>
          <a:p>
            <a:r>
              <a:rPr lang="en-US" dirty="0"/>
              <a:t>Concentration Exposure Boundaries – Snapshot limits the ability to assess emerging concentrations or shifts in portfolio mix</a:t>
            </a:r>
          </a:p>
          <a:p>
            <a:r>
              <a:rPr lang="en-US" dirty="0"/>
              <a:t>Manual Validation Required – certain fields could not be anonymized or verified through formulas and required manual review</a:t>
            </a:r>
          </a:p>
        </p:txBody>
      </p:sp>
    </p:spTree>
    <p:extLst>
      <p:ext uri="{BB962C8B-B14F-4D97-AF65-F5344CB8AC3E}">
        <p14:creationId xmlns:p14="http://schemas.microsoft.com/office/powerpoint/2010/main" val="2398334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4DEB-9614-C26C-AB57-6AE0921E5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009C5-70F0-D39F-5493-B84A5393A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3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6AFD-28AA-3CA3-2985-E0304B6E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C1F8-C3BA-D227-CF6C-4D511CE4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Intake &amp; Privacy Integrity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EA15-1636-5581-4555-BA33E3F0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Pulled Live System Data – Extracted directly from the core platform to ensure accuracy and completeness</a:t>
            </a:r>
          </a:p>
          <a:p>
            <a:r>
              <a:rPr lang="en-US" dirty="0"/>
              <a:t>Validated all Fields – Checked for correctness, consistency, and alignment with expected business rules</a:t>
            </a:r>
          </a:p>
          <a:p>
            <a:r>
              <a:rPr lang="en-US" dirty="0"/>
              <a:t>Corrected Data Types – Standardized formats across reports to support clean analysis</a:t>
            </a:r>
          </a:p>
          <a:p>
            <a:r>
              <a:rPr lang="en-US" dirty="0"/>
              <a:t>Removed Trailing Spaces – Eliminated whitespace issues that impact, validation, joins, filters, and grouping logics</a:t>
            </a:r>
          </a:p>
          <a:p>
            <a:r>
              <a:rPr lang="en-US" dirty="0"/>
              <a:t>Anonymized Sensitive Information – Applied formula based de identification for Borrowers, Officers, Branches, and Account Numbers</a:t>
            </a:r>
          </a:p>
          <a:p>
            <a:r>
              <a:rPr lang="en-US" dirty="0"/>
              <a:t>Manually Reviewed Remaining Fields – Verified and anonymized any data that could not be safely transformed through automated methods</a:t>
            </a:r>
          </a:p>
        </p:txBody>
      </p:sp>
    </p:spTree>
    <p:extLst>
      <p:ext uri="{BB962C8B-B14F-4D97-AF65-F5344CB8AC3E}">
        <p14:creationId xmlns:p14="http://schemas.microsoft.com/office/powerpoint/2010/main" val="77722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0ECA-CA46-7CD6-44EA-AA9D5E63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System Report Extracts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F0E05-FE0C-B68F-C6CF-A5B5E7D6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Size</a:t>
            </a:r>
          </a:p>
          <a:p>
            <a:pPr lvl="1"/>
            <a:r>
              <a:rPr lang="en-US" dirty="0"/>
              <a:t>Rows – 20,426</a:t>
            </a:r>
          </a:p>
          <a:p>
            <a:pPr lvl="1"/>
            <a:r>
              <a:rPr lang="en-US" dirty="0"/>
              <a:t>Columns - 8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0CB41-94BB-F129-9615-6CDA1E269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Customer Information Report</a:t>
            </a:r>
          </a:p>
        </p:txBody>
      </p:sp>
    </p:spTree>
    <p:extLst>
      <p:ext uri="{BB962C8B-B14F-4D97-AF65-F5344CB8AC3E}">
        <p14:creationId xmlns:p14="http://schemas.microsoft.com/office/powerpoint/2010/main" val="373575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557F-8DC0-2468-EA1F-BE21B7A5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CD05-710A-CDB2-6082-93F944A7A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System Report Extracts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BFF84-84D2-DFF3-5A0A-E0B8C48E3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Size</a:t>
            </a:r>
          </a:p>
          <a:p>
            <a:pPr lvl="1"/>
            <a:r>
              <a:rPr lang="en-US" dirty="0"/>
              <a:t>Rows – 1,408</a:t>
            </a:r>
          </a:p>
          <a:p>
            <a:pPr lvl="1"/>
            <a:r>
              <a:rPr lang="en-US" dirty="0"/>
              <a:t>Columns - 11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B511B-2C4E-19A1-BAA9-78FC338C7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Collateral Report</a:t>
            </a:r>
          </a:p>
        </p:txBody>
      </p:sp>
    </p:spTree>
    <p:extLst>
      <p:ext uri="{BB962C8B-B14F-4D97-AF65-F5344CB8AC3E}">
        <p14:creationId xmlns:p14="http://schemas.microsoft.com/office/powerpoint/2010/main" val="345160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6672-ED77-5C2D-1BFA-AB6FBE86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F4B7-BC52-8E90-510F-C86FF43E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System Report Extracts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66732-0959-3ECA-748C-82E78DFE1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Size</a:t>
            </a:r>
          </a:p>
          <a:p>
            <a:pPr lvl="1"/>
            <a:r>
              <a:rPr lang="en-US" dirty="0"/>
              <a:t>Rows – 2,381</a:t>
            </a:r>
          </a:p>
          <a:p>
            <a:pPr lvl="2"/>
            <a:r>
              <a:rPr lang="en-US" dirty="0"/>
              <a:t>1,144 Closed Loans</a:t>
            </a:r>
          </a:p>
          <a:p>
            <a:pPr lvl="2"/>
            <a:r>
              <a:rPr lang="en-US" dirty="0"/>
              <a:t>1,237 Open Loans</a:t>
            </a:r>
          </a:p>
          <a:p>
            <a:pPr lvl="1"/>
            <a:r>
              <a:rPr lang="en-US" dirty="0"/>
              <a:t>Columns – 135</a:t>
            </a:r>
          </a:p>
          <a:p>
            <a:r>
              <a:rPr lang="en-US" dirty="0"/>
              <a:t>Data Quality</a:t>
            </a:r>
          </a:p>
          <a:p>
            <a:pPr lvl="1"/>
            <a:r>
              <a:rPr lang="en-US" dirty="0"/>
              <a:t>Blanks</a:t>
            </a:r>
          </a:p>
          <a:p>
            <a:pPr lvl="1"/>
            <a:r>
              <a:rPr lang="en-US" dirty="0"/>
              <a:t>Duplicates</a:t>
            </a:r>
          </a:p>
          <a:p>
            <a:pPr lvl="1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5549F-F033-3E6B-8013-77270DF1A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Loan Portfolio Report</a:t>
            </a:r>
          </a:p>
        </p:txBody>
      </p:sp>
    </p:spTree>
    <p:extLst>
      <p:ext uri="{BB962C8B-B14F-4D97-AF65-F5344CB8AC3E}">
        <p14:creationId xmlns:p14="http://schemas.microsoft.com/office/powerpoint/2010/main" val="1010869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67EE0-3F9C-64FB-A80E-76407784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6428-AAD5-76C2-44BA-C88C9E1D7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System Report Extracts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4092F-949B-59D4-D2BF-20CC55FF3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Size</a:t>
            </a:r>
          </a:p>
          <a:p>
            <a:pPr lvl="1"/>
            <a:r>
              <a:rPr lang="en-US" dirty="0"/>
              <a:t>Rows – 11,762</a:t>
            </a:r>
          </a:p>
          <a:p>
            <a:pPr lvl="1"/>
            <a:r>
              <a:rPr lang="en-US" dirty="0"/>
              <a:t>Columns – 62</a:t>
            </a:r>
          </a:p>
          <a:p>
            <a:r>
              <a:rPr lang="en-US" dirty="0"/>
              <a:t>Data Quality</a:t>
            </a:r>
          </a:p>
          <a:p>
            <a:pPr lvl="1"/>
            <a:r>
              <a:rPr lang="en-US" dirty="0"/>
              <a:t>Blanks</a:t>
            </a:r>
          </a:p>
          <a:p>
            <a:pPr lvl="1"/>
            <a:r>
              <a:rPr lang="en-US" dirty="0"/>
              <a:t>Duplicates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32637-D0D3-E62B-3AC4-6A022B715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/>
              <a:t>Deposit Portfolio Report</a:t>
            </a:r>
          </a:p>
        </p:txBody>
      </p:sp>
    </p:spTree>
    <p:extLst>
      <p:ext uri="{BB962C8B-B14F-4D97-AF65-F5344CB8AC3E}">
        <p14:creationId xmlns:p14="http://schemas.microsoft.com/office/powerpoint/2010/main" val="933023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0EE7-E958-C910-08FC-DC0619F6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Entity Relationship Diagram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DAEEE9-AC25-E21B-F6E4-29A5ABD0B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0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C38F-7615-603E-258F-9EF612891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Geographic Footprint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D22C7-27A4-ED12-A270-15B3C2BAB3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Operational reach and market coverage</a:t>
            </a:r>
          </a:p>
        </p:txBody>
      </p:sp>
    </p:spTree>
    <p:extLst>
      <p:ext uri="{BB962C8B-B14F-4D97-AF65-F5344CB8AC3E}">
        <p14:creationId xmlns:p14="http://schemas.microsoft.com/office/powerpoint/2010/main" val="4110931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801A-47D2-91F7-6C37-DAD08F3A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Customer Footprint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ACD0A83-4087-E0A9-E976-88B9363B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C16B-C80D-55A6-AF87-7179875C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Portfolio Composition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6C993-F2A4-45D2-551C-94CD22FE9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A Snapshot of exposure, BALANCES, AND PRODUCT MIX</a:t>
            </a:r>
          </a:p>
        </p:txBody>
      </p:sp>
    </p:spTree>
    <p:extLst>
      <p:ext uri="{BB962C8B-B14F-4D97-AF65-F5344CB8AC3E}">
        <p14:creationId xmlns:p14="http://schemas.microsoft.com/office/powerpoint/2010/main" val="178975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B14D-AF7F-B949-DE9C-3B656548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Loan Exposure and Deposit Balances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E5932-4B2A-CFDB-DE80-CE24D7279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Loan exposure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B4CDD27-5600-3C44-CBD3-046AD7B8F6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1,237 total loans</a:t>
            </a:r>
          </a:p>
          <a:p>
            <a:r>
              <a:rPr lang="en-US" dirty="0"/>
              <a:t>$676,377,394.11 total exposure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49525-D813-6E9E-806B-D670DA6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Deposit balances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8D93108-4EBD-B1AA-156D-C09FF4E93C8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11,763 total deposit accounts</a:t>
            </a:r>
          </a:p>
          <a:p>
            <a:r>
              <a:rPr lang="en-US" dirty="0"/>
              <a:t>$1,162,065,344.67 total deposit balances</a:t>
            </a:r>
          </a:p>
        </p:txBody>
      </p:sp>
    </p:spTree>
    <p:extLst>
      <p:ext uri="{BB962C8B-B14F-4D97-AF65-F5344CB8AC3E}">
        <p14:creationId xmlns:p14="http://schemas.microsoft.com/office/powerpoint/2010/main" val="515626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DD29-7160-730F-2731-BD805B6E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2270-1D1F-1B5A-324D-D8FE7CEB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Loan Exposure by Purpose 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F44C0-6EFF-A630-84AA-6AC761FE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56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4E35-88F6-EA73-0A80-1F9F10F2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58319-CE76-6FA4-20EA-77F3B4BC8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154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D824-3B2D-B9B0-D971-B2E0B8D6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Balance and Liquidity Quality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58A77-904F-235A-0FA8-35EACDDB9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0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D008-C9F1-05D7-7FC0-F077850F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Credit Risk Quality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A770D-5DBB-B3DE-FA6D-8136B8F0E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372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D0A4-1FF7-A1EF-672B-611AA70F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07D86-F2D6-2926-C04C-5DA6B4F3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62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25FA-BE52-BEFC-9155-D777DDB4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Collateral Coverage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B1A39-2521-E718-770D-B550A8EA0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07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70DE-9C7E-ABC3-D7C9-735C41F8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 Income &amp; Operational Discipline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B8770-0E24-8152-C0E3-895A9BA0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76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327C-7DCE-11BC-EC8A-C3ED1447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Income &amp; Yield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C817B-5248-E413-8889-6B91E2B41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53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CC63-8865-516C-ABBA-3751040C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Profitability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DACB1-9F80-B4D0-41C7-91D174174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10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F024-41C9-0726-4833-519A075A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Concentration &amp; Exposure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7FCBF-8FE7-F82B-DE3F-30CFD2E52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80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1103-2DC0-DFAA-4248-CAE0E404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Officer &amp; Branch Score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30CF-9883-5CC4-E0BC-02FD2C98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Portfolio Composition Quality – 20%</a:t>
            </a:r>
          </a:p>
          <a:p>
            <a:r>
              <a:rPr lang="en-US" dirty="0"/>
              <a:t>Credit Risk Quality – 35%</a:t>
            </a:r>
          </a:p>
          <a:p>
            <a:r>
              <a:rPr lang="en-US" dirty="0"/>
              <a:t>Collateral Coverage Quality -020%</a:t>
            </a:r>
          </a:p>
          <a:p>
            <a:r>
              <a:rPr lang="en-US" dirty="0"/>
              <a:t>Deposit Behavior &amp; Liquidity Quality – 15%</a:t>
            </a:r>
          </a:p>
          <a:p>
            <a:r>
              <a:rPr lang="en-US" dirty="0"/>
              <a:t>Operations Discipline – 10%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610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78BF-EE1A-8EC8-0832-616F0FF2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6C55-3292-A67B-EA1E-CA0FB1D0B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53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24F9-3669-4FB9-53B7-0D70C209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127F-AAAA-74FE-94D4-0450971C1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Quality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776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BF624-035C-3403-92EF-8F8EF6E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Acknowledgement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A4D9A6-D943-C905-DB54-DB609CD77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end – to – end data insights project was developed by Stephanie Dues in partnership with the Data Analytics Bootcamp at </a:t>
            </a:r>
            <a:r>
              <a:rPr lang="en-US" dirty="0" err="1"/>
              <a:t>FullStack</a:t>
            </a:r>
            <a:r>
              <a:rPr lang="en-US" dirty="0"/>
              <a:t> Academy</a:t>
            </a:r>
          </a:p>
          <a:p>
            <a:endParaRPr lang="en-US" dirty="0"/>
          </a:p>
          <a:p>
            <a:r>
              <a:rPr lang="en-US" dirty="0"/>
              <a:t>The Architecture of a Healthy Portfolio</a:t>
            </a:r>
          </a:p>
          <a:p>
            <a:endParaRPr lang="en-US" dirty="0"/>
          </a:p>
          <a:p>
            <a:r>
              <a:rPr lang="en-US" dirty="0"/>
              <a:t>Stephanie Dues - 2026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https://www.linkedin.com/in/stephaniejdues/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49469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7153</TotalTime>
  <Words>689</Words>
  <Application>Microsoft Office PowerPoint</Application>
  <PresentationFormat>Widescreen</PresentationFormat>
  <Paragraphs>103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Calibri</vt:lpstr>
      <vt:lpstr>Corbel</vt:lpstr>
      <vt:lpstr>Retrospect</vt:lpstr>
      <vt:lpstr>The Architecture of a Healthy Portfolio</vt:lpstr>
      <vt:lpstr>PowerPoint Presentation</vt:lpstr>
      <vt:lpstr>Healthy Portfolio Overview</vt:lpstr>
      <vt:lpstr>Healthy Borrower Lender Relationship</vt:lpstr>
      <vt:lpstr>Constraints of Single – Point Data</vt:lpstr>
      <vt:lpstr>Data Overview</vt:lpstr>
      <vt:lpstr>Data Intake &amp; Privacy Integrity</vt:lpstr>
      <vt:lpstr>Core System Report Extracts</vt:lpstr>
      <vt:lpstr>Core System Report Extracts</vt:lpstr>
      <vt:lpstr>Core System Report Extracts</vt:lpstr>
      <vt:lpstr>Core System Report Extracts</vt:lpstr>
      <vt:lpstr>Entity Relationship Diagram</vt:lpstr>
      <vt:lpstr>Geographic Footprint</vt:lpstr>
      <vt:lpstr>Customer Footprint</vt:lpstr>
      <vt:lpstr>Portfolio Composition</vt:lpstr>
      <vt:lpstr>Loan Exposure and Deposit Balances</vt:lpstr>
      <vt:lpstr>Loan Exposure by Purpose Code</vt:lpstr>
      <vt:lpstr>PowerPoint Presentation</vt:lpstr>
      <vt:lpstr>Balance and Liquidity Quality</vt:lpstr>
      <vt:lpstr>Credit Risk Quality</vt:lpstr>
      <vt:lpstr>PowerPoint Presentation</vt:lpstr>
      <vt:lpstr>Collateral Coverage</vt:lpstr>
      <vt:lpstr>Fee Income &amp; Operational Discipline</vt:lpstr>
      <vt:lpstr>Interest Income &amp; Yield</vt:lpstr>
      <vt:lpstr>Relationship Profitability</vt:lpstr>
      <vt:lpstr>Concentration &amp; Exposure</vt:lpstr>
      <vt:lpstr>Officer &amp; Branch Score Card</vt:lpstr>
      <vt:lpstr>Follow Up</vt:lpstr>
      <vt:lpstr>PowerPoint Presentation</vt:lpstr>
      <vt:lpstr>Final 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Dues</dc:creator>
  <cp:lastModifiedBy>Stephanie Dues</cp:lastModifiedBy>
  <cp:revision>2</cp:revision>
  <dcterms:created xsi:type="dcterms:W3CDTF">2026-05-06T02:21:13Z</dcterms:created>
  <dcterms:modified xsi:type="dcterms:W3CDTF">2026-05-20T00:25:20Z</dcterms:modified>
</cp:coreProperties>
</file>